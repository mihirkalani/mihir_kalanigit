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7737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3A5C"/>
          </a:solidFill>
          <a:ln w="12700">
            <a:solidFill>
              <a:srgbClr val="1A3A5C"/>
            </a:solidFill>
            <a:prstDash val="solid"/>
          </a:ln>
        </p:spPr>
      </p:sp>
      <p:sp>
        <p:nvSpPr>
          <p:cNvPr id="3" name="Shape 1"/>
          <p:cNvSpPr/>
          <p:nvPr/>
        </p:nvSpPr>
        <p:spPr>
          <a:xfrm>
            <a:off x="-1" y="73152"/>
            <a:ext cx="9143999" cy="5070348"/>
          </a:xfrm>
          <a:prstGeom prst="rect">
            <a:avLst/>
          </a:prstGeom>
          <a:solidFill>
            <a:srgbClr val="1A3A5C"/>
          </a:solidFill>
          <a:ln w="12700">
            <a:solidFill>
              <a:srgbClr val="1A3A5C"/>
            </a:solidFill>
            <a:prstDash val="solid"/>
          </a:ln>
        </p:spPr>
        <p:txBody>
          <a:bodyPr/>
          <a:lstStyle/>
          <a:p>
            <a:endParaRPr lang="en-IN" dirty="0"/>
          </a:p>
        </p:txBody>
      </p:sp>
      <p:sp>
        <p:nvSpPr>
          <p:cNvPr id="4" name="Shape 2"/>
          <p:cNvSpPr/>
          <p:nvPr/>
        </p:nvSpPr>
        <p:spPr>
          <a:xfrm>
            <a:off x="7452360" y="3136392"/>
            <a:ext cx="2651760" cy="2651760"/>
          </a:xfrm>
          <a:prstGeom prst="ellipse">
            <a:avLst/>
          </a:prstGeom>
          <a:solidFill>
            <a:srgbClr val="FFFFFF">
              <a:alpha val="7000"/>
            </a:srgbClr>
          </a:solidFill>
          <a:ln w="12700">
            <a:solidFill>
              <a:srgbClr val="FFFFFF">
                <a:alpha val="15000"/>
              </a:srgbClr>
            </a:solidFill>
            <a:prstDash val="solid"/>
          </a:ln>
        </p:spPr>
      </p:sp>
      <p:sp>
        <p:nvSpPr>
          <p:cNvPr id="5" name="Text 3"/>
          <p:cNvSpPr/>
          <p:nvPr/>
        </p:nvSpPr>
        <p:spPr>
          <a:xfrm>
            <a:off x="365760" y="749808"/>
            <a:ext cx="3291840" cy="1005840"/>
          </a:xfrm>
          <a:prstGeom prst="rect">
            <a:avLst/>
          </a:prstGeom>
          <a:noFill/>
          <a:ln/>
        </p:spPr>
        <p:txBody>
          <a:bodyPr wrap="square" lIns="0" tIns="0" rIns="0" bIns="0" rtlCol="0" anchor="ctr"/>
          <a:lstStyle/>
          <a:p>
            <a:pPr marL="0" indent="0">
              <a:buNone/>
            </a:pPr>
            <a:r>
              <a:rPr lang="en-US" sz="7200" b="1" dirty="0">
                <a:solidFill>
                  <a:srgbClr val="FFFFFF"/>
                </a:solidFill>
                <a:latin typeface="Trebuchet MS" pitchFamily="34" charset="0"/>
                <a:ea typeface="Trebuchet MS" pitchFamily="34" charset="-122"/>
                <a:cs typeface="Trebuchet MS" pitchFamily="34" charset="-120"/>
              </a:rPr>
              <a:t>SQL</a:t>
            </a:r>
            <a:endParaRPr lang="en-US" sz="7200" dirty="0"/>
          </a:p>
        </p:txBody>
      </p:sp>
      <p:sp>
        <p:nvSpPr>
          <p:cNvPr id="6" name="Text 4"/>
          <p:cNvSpPr/>
          <p:nvPr/>
        </p:nvSpPr>
        <p:spPr>
          <a:xfrm>
            <a:off x="365760" y="1737360"/>
            <a:ext cx="3291840" cy="384048"/>
          </a:xfrm>
          <a:prstGeom prst="rect">
            <a:avLst/>
          </a:prstGeom>
          <a:noFill/>
          <a:ln/>
        </p:spPr>
        <p:txBody>
          <a:bodyPr wrap="square" lIns="0" tIns="0" rIns="0" bIns="0" rtlCol="0" anchor="ctr"/>
          <a:lstStyle/>
          <a:p>
            <a:pPr marL="0" indent="0">
              <a:buNone/>
            </a:pPr>
            <a:r>
              <a:rPr lang="en-US" sz="1900" kern="0" spc="700" dirty="0">
                <a:solidFill>
                  <a:srgbClr val="D6E8F5"/>
                </a:solidFill>
                <a:latin typeface="Trebuchet MS" pitchFamily="34" charset="0"/>
                <a:ea typeface="Trebuchet MS" pitchFamily="34" charset="-122"/>
                <a:cs typeface="Trebuchet MS" pitchFamily="34" charset="-120"/>
              </a:rPr>
              <a:t>CLAUSES</a:t>
            </a:r>
            <a:endParaRPr lang="en-US" sz="1900" dirty="0"/>
          </a:p>
        </p:txBody>
      </p:sp>
      <p:sp>
        <p:nvSpPr>
          <p:cNvPr id="7" name="Shape 5"/>
          <p:cNvSpPr/>
          <p:nvPr/>
        </p:nvSpPr>
        <p:spPr>
          <a:xfrm>
            <a:off x="365760" y="2212848"/>
            <a:ext cx="822960" cy="36576"/>
          </a:xfrm>
          <a:prstGeom prst="rect">
            <a:avLst/>
          </a:prstGeom>
          <a:solidFill>
            <a:srgbClr val="D6E8F5"/>
          </a:solidFill>
          <a:ln w="12700">
            <a:solidFill>
              <a:srgbClr val="D6E8F5"/>
            </a:solidFill>
            <a:prstDash val="solid"/>
          </a:ln>
        </p:spPr>
      </p:sp>
      <p:sp>
        <p:nvSpPr>
          <p:cNvPr id="8" name="Text 6"/>
          <p:cNvSpPr/>
          <p:nvPr/>
        </p:nvSpPr>
        <p:spPr>
          <a:xfrm>
            <a:off x="365760" y="2340864"/>
            <a:ext cx="3200400" cy="274320"/>
          </a:xfrm>
          <a:prstGeom prst="rect">
            <a:avLst/>
          </a:prstGeom>
          <a:noFill/>
          <a:ln/>
        </p:spPr>
        <p:txBody>
          <a:bodyPr wrap="square" lIns="0" tIns="0" rIns="0" bIns="0" rtlCol="0" anchor="ctr"/>
          <a:lstStyle/>
          <a:p>
            <a:pPr marL="0" indent="0">
              <a:buNone/>
            </a:pPr>
            <a:endParaRPr lang="en-US" sz="1200" dirty="0"/>
          </a:p>
        </p:txBody>
      </p:sp>
      <p:sp>
        <p:nvSpPr>
          <p:cNvPr id="9" name="Text 7"/>
          <p:cNvSpPr/>
          <p:nvPr/>
        </p:nvSpPr>
        <p:spPr>
          <a:xfrm>
            <a:off x="267284" y="2564013"/>
            <a:ext cx="8510956" cy="502920"/>
          </a:xfrm>
          <a:prstGeom prst="rect">
            <a:avLst/>
          </a:prstGeom>
          <a:noFill/>
          <a:ln/>
        </p:spPr>
        <p:txBody>
          <a:bodyPr wrap="square" lIns="0" tIns="0" rIns="0" bIns="0" rtlCol="0" anchor="ctr"/>
          <a:lstStyle/>
          <a:p>
            <a:pPr marL="171450" indent="-171450" algn="just">
              <a:buFont typeface="Arial" panose="020B0604020202020204" pitchFamily="34" charset="0"/>
              <a:buChar char="•"/>
            </a:pPr>
            <a:r>
              <a:rPr lang="en-US" sz="1200" dirty="0">
                <a:solidFill>
                  <a:schemeClr val="bg1"/>
                </a:solidFill>
                <a:latin typeface="Trebuchet MS" panose="020B0603020202020204" pitchFamily="34" charset="0"/>
              </a:rPr>
              <a:t>SQL clauses are core components of SQL queries that define how data is retrieved, filtered, grouped, and organized from a database. </a:t>
            </a:r>
          </a:p>
          <a:p>
            <a:pPr marL="171450" indent="-171450" algn="just">
              <a:buFont typeface="Arial" panose="020B0604020202020204" pitchFamily="34" charset="0"/>
              <a:buChar char="•"/>
            </a:pPr>
            <a:endParaRPr lang="en-US" sz="1200" dirty="0">
              <a:solidFill>
                <a:schemeClr val="bg1"/>
              </a:solidFill>
              <a:latin typeface="Trebuchet MS" panose="020B0603020202020204" pitchFamily="34" charset="0"/>
            </a:endParaRPr>
          </a:p>
          <a:p>
            <a:pPr marL="171450" indent="-171450" algn="just">
              <a:buFont typeface="Arial" panose="020B0604020202020204" pitchFamily="34" charset="0"/>
              <a:buChar char="•"/>
            </a:pPr>
            <a:r>
              <a:rPr lang="en-US" sz="1200" dirty="0">
                <a:solidFill>
                  <a:schemeClr val="bg1"/>
                </a:solidFill>
                <a:latin typeface="Trebuchet MS" panose="020B0603020202020204" pitchFamily="34" charset="0"/>
              </a:rPr>
              <a:t>They provide control and flexibility, allowing users to precisely specify the criteria and conditions for data manipulation and retrieval</a:t>
            </a:r>
          </a:p>
        </p:txBody>
      </p:sp>
      <p:sp>
        <p:nvSpPr>
          <p:cNvPr id="10" name="Text 8"/>
          <p:cNvSpPr/>
          <p:nvPr/>
        </p:nvSpPr>
        <p:spPr>
          <a:xfrm>
            <a:off x="365760" y="4462272"/>
            <a:ext cx="3291840" cy="237744"/>
          </a:xfrm>
          <a:prstGeom prst="rect">
            <a:avLst/>
          </a:prstGeom>
          <a:noFill/>
          <a:ln/>
        </p:spPr>
        <p:txBody>
          <a:bodyPr wrap="square" lIns="0" tIns="0" rIns="0" bIns="0" rtlCol="0" anchor="ctr"/>
          <a:lstStyle/>
          <a:p>
            <a:pPr marL="0" indent="0">
              <a:buNone/>
            </a:pPr>
            <a:r>
              <a:rPr lang="en-US" sz="1050" dirty="0">
                <a:solidFill>
                  <a:srgbClr val="BDC3C7"/>
                </a:solidFill>
                <a:latin typeface="Trebuchet MS" pitchFamily="34" charset="0"/>
                <a:ea typeface="Trebuchet MS" pitchFamily="34" charset="-122"/>
                <a:cs typeface="Trebuchet MS" pitchFamily="34" charset="-120"/>
              </a:rPr>
              <a:t>Mihir Kalani, Meet Patel, Meet Chauhan</a:t>
            </a:r>
            <a:endParaRPr lang="en-US" sz="1050" dirty="0"/>
          </a:p>
        </p:txBody>
      </p:sp>
      <p:sp>
        <p:nvSpPr>
          <p:cNvPr id="29" name="Shape 2">
            <a:extLst>
              <a:ext uri="{FF2B5EF4-FFF2-40B4-BE49-F238E27FC236}">
                <a16:creationId xmlns:a16="http://schemas.microsoft.com/office/drawing/2014/main" id="{1977339B-B655-7DDA-BC00-8FB7909E18A4}"/>
              </a:ext>
            </a:extLst>
          </p:cNvPr>
          <p:cNvSpPr/>
          <p:nvPr/>
        </p:nvSpPr>
        <p:spPr>
          <a:xfrm>
            <a:off x="4698610" y="-1550963"/>
            <a:ext cx="2651760" cy="2651760"/>
          </a:xfrm>
          <a:prstGeom prst="ellipse">
            <a:avLst/>
          </a:prstGeom>
          <a:solidFill>
            <a:srgbClr val="FFFFFF">
              <a:alpha val="7000"/>
            </a:srgbClr>
          </a:solidFill>
          <a:ln w="12700">
            <a:solidFill>
              <a:srgbClr val="FFFFFF">
                <a:alpha val="1500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3A5C"/>
          </a:solidFill>
          <a:ln w="12700">
            <a:solidFill>
              <a:srgbClr val="1A3A5C"/>
            </a:solidFill>
            <a:prstDash val="solid"/>
          </a:ln>
        </p:spPr>
      </p:sp>
      <p:sp>
        <p:nvSpPr>
          <p:cNvPr id="3" name="Shape 1"/>
          <p:cNvSpPr/>
          <p:nvPr/>
        </p:nvSpPr>
        <p:spPr>
          <a:xfrm>
            <a:off x="0" y="73152"/>
            <a:ext cx="9144000" cy="749808"/>
          </a:xfrm>
          <a:prstGeom prst="rect">
            <a:avLst/>
          </a:prstGeom>
          <a:solidFill>
            <a:srgbClr val="1A3A5C"/>
          </a:solidFill>
          <a:ln w="12700">
            <a:solidFill>
              <a:srgbClr val="1A3A5C"/>
            </a:solidFill>
            <a:prstDash val="solid"/>
          </a:ln>
        </p:spPr>
      </p:sp>
      <p:sp>
        <p:nvSpPr>
          <p:cNvPr id="4" name="Text 2"/>
          <p:cNvSpPr/>
          <p:nvPr/>
        </p:nvSpPr>
        <p:spPr>
          <a:xfrm>
            <a:off x="457200" y="118872"/>
            <a:ext cx="7132320" cy="420624"/>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Overview</a:t>
            </a:r>
            <a:endParaRPr lang="en-US" sz="2800" dirty="0"/>
          </a:p>
        </p:txBody>
      </p:sp>
      <p:sp>
        <p:nvSpPr>
          <p:cNvPr id="5" name="Text 3"/>
          <p:cNvSpPr/>
          <p:nvPr/>
        </p:nvSpPr>
        <p:spPr>
          <a:xfrm>
            <a:off x="457200" y="557784"/>
            <a:ext cx="7132320" cy="201168"/>
          </a:xfrm>
          <a:prstGeom prst="rect">
            <a:avLst/>
          </a:prstGeom>
          <a:noFill/>
          <a:ln/>
        </p:spPr>
        <p:txBody>
          <a:bodyPr wrap="square" lIns="0" tIns="0" rIns="0" bIns="0" rtlCol="0" anchor="ctr"/>
          <a:lstStyle/>
          <a:p>
            <a:pPr marL="0" indent="0">
              <a:buNone/>
            </a:pPr>
            <a:r>
              <a:rPr lang="en-US" sz="1100" i="1" dirty="0">
                <a:solidFill>
                  <a:srgbClr val="D6E8F5"/>
                </a:solidFill>
                <a:latin typeface="Georgia" pitchFamily="34" charset="0"/>
                <a:ea typeface="Georgia" pitchFamily="34" charset="-122"/>
                <a:cs typeface="Georgia" pitchFamily="34" charset="-120"/>
              </a:rPr>
              <a:t>All SQL Clauses — Definition, Syntax, Examples &amp; Use Cases</a:t>
            </a:r>
            <a:endParaRPr lang="en-US" sz="1100" dirty="0"/>
          </a:p>
        </p:txBody>
      </p:sp>
      <p:sp>
        <p:nvSpPr>
          <p:cNvPr id="6" name="Shape 4"/>
          <p:cNvSpPr/>
          <p:nvPr/>
        </p:nvSpPr>
        <p:spPr>
          <a:xfrm>
            <a:off x="274320" y="987552"/>
            <a:ext cx="2743200" cy="1737360"/>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7" name="Shape 5"/>
          <p:cNvSpPr/>
          <p:nvPr/>
        </p:nvSpPr>
        <p:spPr>
          <a:xfrm>
            <a:off x="274320" y="987552"/>
            <a:ext cx="2743200" cy="54864"/>
          </a:xfrm>
          <a:prstGeom prst="rect">
            <a:avLst/>
          </a:prstGeom>
          <a:solidFill>
            <a:srgbClr val="2E86C1"/>
          </a:solidFill>
          <a:ln w="12700">
            <a:solidFill>
              <a:srgbClr val="2E86C1"/>
            </a:solidFill>
            <a:prstDash val="solid"/>
          </a:ln>
        </p:spPr>
      </p:sp>
      <p:sp>
        <p:nvSpPr>
          <p:cNvPr id="8" name="Text 6"/>
          <p:cNvSpPr/>
          <p:nvPr/>
        </p:nvSpPr>
        <p:spPr>
          <a:xfrm>
            <a:off x="438912" y="1115568"/>
            <a:ext cx="457200" cy="237744"/>
          </a:xfrm>
          <a:prstGeom prst="rect">
            <a:avLst/>
          </a:prstGeom>
          <a:noFill/>
          <a:ln/>
        </p:spPr>
        <p:txBody>
          <a:bodyPr wrap="square" lIns="0" tIns="0" rIns="0" bIns="0" rtlCol="0" anchor="ctr"/>
          <a:lstStyle/>
          <a:p>
            <a:pPr marL="0" indent="0">
              <a:buNone/>
            </a:pPr>
            <a:r>
              <a:rPr lang="en-US" sz="1000" b="1" dirty="0">
                <a:solidFill>
                  <a:srgbClr val="BDC3C7"/>
                </a:solidFill>
                <a:latin typeface="Trebuchet MS" pitchFamily="34" charset="0"/>
                <a:ea typeface="Trebuchet MS" pitchFamily="34" charset="-122"/>
                <a:cs typeface="Trebuchet MS" pitchFamily="34" charset="-120"/>
              </a:rPr>
              <a:t>01</a:t>
            </a:r>
            <a:endParaRPr lang="en-US" sz="1000" dirty="0"/>
          </a:p>
        </p:txBody>
      </p:sp>
      <p:sp>
        <p:nvSpPr>
          <p:cNvPr id="9" name="Text 7"/>
          <p:cNvSpPr/>
          <p:nvPr/>
        </p:nvSpPr>
        <p:spPr>
          <a:xfrm>
            <a:off x="438912" y="1389888"/>
            <a:ext cx="2423160" cy="420624"/>
          </a:xfrm>
          <a:prstGeom prst="rect">
            <a:avLst/>
          </a:prstGeom>
          <a:noFill/>
          <a:ln/>
        </p:spPr>
        <p:txBody>
          <a:bodyPr wrap="square" lIns="0" tIns="0" rIns="0" bIns="0" rtlCol="0" anchor="ctr"/>
          <a:lstStyle/>
          <a:p>
            <a:pPr marL="0" indent="0">
              <a:buNone/>
            </a:pPr>
            <a:r>
              <a:rPr lang="en-US" sz="2000" b="1" dirty="0">
                <a:solidFill>
                  <a:srgbClr val="1A3A5C"/>
                </a:solidFill>
                <a:latin typeface="Trebuchet MS" pitchFamily="34" charset="0"/>
                <a:ea typeface="Trebuchet MS" pitchFamily="34" charset="-122"/>
                <a:cs typeface="Trebuchet MS" pitchFamily="34" charset="-120"/>
              </a:rPr>
              <a:t>WHERE</a:t>
            </a:r>
            <a:endParaRPr lang="en-US" sz="2000" dirty="0"/>
          </a:p>
        </p:txBody>
      </p:sp>
      <p:sp>
        <p:nvSpPr>
          <p:cNvPr id="10" name="Text 8"/>
          <p:cNvSpPr/>
          <p:nvPr/>
        </p:nvSpPr>
        <p:spPr>
          <a:xfrm>
            <a:off x="438912" y="1901952"/>
            <a:ext cx="2423160" cy="621792"/>
          </a:xfrm>
          <a:prstGeom prst="rect">
            <a:avLst/>
          </a:prstGeom>
          <a:noFill/>
          <a:ln/>
        </p:spPr>
        <p:txBody>
          <a:bodyPr wrap="square" lIns="0" tIns="0" rIns="0" bIns="0" rtlCol="0" anchor="ctr"/>
          <a:lstStyle/>
          <a:p>
            <a:pPr marL="0" indent="0">
              <a:buNone/>
            </a:pPr>
            <a:r>
              <a:rPr lang="en-US" sz="1200" dirty="0">
                <a:solidFill>
                  <a:srgbClr val="5D6D7E"/>
                </a:solidFill>
                <a:latin typeface="Trebuchet MS" pitchFamily="34" charset="0"/>
                <a:ea typeface="Trebuchet MS" pitchFamily="34" charset="-122"/>
                <a:cs typeface="Trebuchet MS" pitchFamily="34" charset="-120"/>
              </a:rPr>
              <a:t>Filter rows based on conditions</a:t>
            </a:r>
            <a:endParaRPr lang="en-US" sz="1200" dirty="0"/>
          </a:p>
        </p:txBody>
      </p:sp>
      <p:sp>
        <p:nvSpPr>
          <p:cNvPr id="11" name="Shape 9"/>
          <p:cNvSpPr/>
          <p:nvPr/>
        </p:nvSpPr>
        <p:spPr>
          <a:xfrm>
            <a:off x="3218688" y="987552"/>
            <a:ext cx="2743200" cy="1737360"/>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12" name="Shape 10"/>
          <p:cNvSpPr/>
          <p:nvPr/>
        </p:nvSpPr>
        <p:spPr>
          <a:xfrm>
            <a:off x="3218688" y="987552"/>
            <a:ext cx="2743200" cy="54864"/>
          </a:xfrm>
          <a:prstGeom prst="rect">
            <a:avLst/>
          </a:prstGeom>
          <a:solidFill>
            <a:srgbClr val="2E86C1"/>
          </a:solidFill>
          <a:ln w="12700">
            <a:solidFill>
              <a:srgbClr val="2E86C1"/>
            </a:solidFill>
            <a:prstDash val="solid"/>
          </a:ln>
        </p:spPr>
      </p:sp>
      <p:sp>
        <p:nvSpPr>
          <p:cNvPr id="13" name="Text 11"/>
          <p:cNvSpPr/>
          <p:nvPr/>
        </p:nvSpPr>
        <p:spPr>
          <a:xfrm>
            <a:off x="3383280" y="1115568"/>
            <a:ext cx="457200" cy="237744"/>
          </a:xfrm>
          <a:prstGeom prst="rect">
            <a:avLst/>
          </a:prstGeom>
          <a:noFill/>
          <a:ln/>
        </p:spPr>
        <p:txBody>
          <a:bodyPr wrap="square" lIns="0" tIns="0" rIns="0" bIns="0" rtlCol="0" anchor="ctr"/>
          <a:lstStyle/>
          <a:p>
            <a:pPr marL="0" indent="0">
              <a:buNone/>
            </a:pPr>
            <a:r>
              <a:rPr lang="en-US" sz="1000" b="1" dirty="0">
                <a:solidFill>
                  <a:srgbClr val="BDC3C7"/>
                </a:solidFill>
                <a:latin typeface="Trebuchet MS" pitchFamily="34" charset="0"/>
                <a:ea typeface="Trebuchet MS" pitchFamily="34" charset="-122"/>
                <a:cs typeface="Trebuchet MS" pitchFamily="34" charset="-120"/>
              </a:rPr>
              <a:t>02</a:t>
            </a:r>
            <a:endParaRPr lang="en-US" sz="1000" dirty="0"/>
          </a:p>
        </p:txBody>
      </p:sp>
      <p:sp>
        <p:nvSpPr>
          <p:cNvPr id="14" name="Text 12"/>
          <p:cNvSpPr/>
          <p:nvPr/>
        </p:nvSpPr>
        <p:spPr>
          <a:xfrm>
            <a:off x="3383280" y="1389888"/>
            <a:ext cx="2423160" cy="420624"/>
          </a:xfrm>
          <a:prstGeom prst="rect">
            <a:avLst/>
          </a:prstGeom>
          <a:noFill/>
          <a:ln/>
        </p:spPr>
        <p:txBody>
          <a:bodyPr wrap="square" lIns="0" tIns="0" rIns="0" bIns="0" rtlCol="0" anchor="ctr"/>
          <a:lstStyle/>
          <a:p>
            <a:pPr marL="0" indent="0">
              <a:buNone/>
            </a:pPr>
            <a:r>
              <a:rPr lang="en-US" sz="2000" b="1" dirty="0">
                <a:solidFill>
                  <a:srgbClr val="1A3A5C"/>
                </a:solidFill>
                <a:latin typeface="Trebuchet MS" pitchFamily="34" charset="0"/>
                <a:ea typeface="Trebuchet MS" pitchFamily="34" charset="-122"/>
                <a:cs typeface="Trebuchet MS" pitchFamily="34" charset="-120"/>
              </a:rPr>
              <a:t>GROUP BY</a:t>
            </a:r>
            <a:endParaRPr lang="en-US" sz="2000" dirty="0"/>
          </a:p>
        </p:txBody>
      </p:sp>
      <p:sp>
        <p:nvSpPr>
          <p:cNvPr id="15" name="Text 13"/>
          <p:cNvSpPr/>
          <p:nvPr/>
        </p:nvSpPr>
        <p:spPr>
          <a:xfrm>
            <a:off x="3383280" y="1901952"/>
            <a:ext cx="2423160" cy="621792"/>
          </a:xfrm>
          <a:prstGeom prst="rect">
            <a:avLst/>
          </a:prstGeom>
          <a:noFill/>
          <a:ln/>
        </p:spPr>
        <p:txBody>
          <a:bodyPr wrap="square" lIns="0" tIns="0" rIns="0" bIns="0" rtlCol="0" anchor="ctr"/>
          <a:lstStyle/>
          <a:p>
            <a:pPr marL="0" indent="0">
              <a:buNone/>
            </a:pPr>
            <a:r>
              <a:rPr lang="en-US" sz="1200" dirty="0">
                <a:solidFill>
                  <a:srgbClr val="5D6D7E"/>
                </a:solidFill>
                <a:latin typeface="Trebuchet MS" pitchFamily="34" charset="0"/>
                <a:ea typeface="Trebuchet MS" pitchFamily="34" charset="-122"/>
                <a:cs typeface="Trebuchet MS" pitchFamily="34" charset="-120"/>
              </a:rPr>
              <a:t>Group rows for aggregation</a:t>
            </a:r>
            <a:endParaRPr lang="en-US" sz="1200" dirty="0"/>
          </a:p>
        </p:txBody>
      </p:sp>
      <p:sp>
        <p:nvSpPr>
          <p:cNvPr id="16" name="Shape 14"/>
          <p:cNvSpPr/>
          <p:nvPr/>
        </p:nvSpPr>
        <p:spPr>
          <a:xfrm>
            <a:off x="6163056" y="987552"/>
            <a:ext cx="2743200" cy="1737360"/>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17" name="Shape 15"/>
          <p:cNvSpPr/>
          <p:nvPr/>
        </p:nvSpPr>
        <p:spPr>
          <a:xfrm>
            <a:off x="6163056" y="987552"/>
            <a:ext cx="2743200" cy="54864"/>
          </a:xfrm>
          <a:prstGeom prst="rect">
            <a:avLst/>
          </a:prstGeom>
          <a:solidFill>
            <a:srgbClr val="2E86C1"/>
          </a:solidFill>
          <a:ln w="12700">
            <a:solidFill>
              <a:srgbClr val="2E86C1"/>
            </a:solidFill>
            <a:prstDash val="solid"/>
          </a:ln>
        </p:spPr>
      </p:sp>
      <p:sp>
        <p:nvSpPr>
          <p:cNvPr id="18" name="Text 16"/>
          <p:cNvSpPr/>
          <p:nvPr/>
        </p:nvSpPr>
        <p:spPr>
          <a:xfrm>
            <a:off x="6327648" y="1115568"/>
            <a:ext cx="457200" cy="237744"/>
          </a:xfrm>
          <a:prstGeom prst="rect">
            <a:avLst/>
          </a:prstGeom>
          <a:noFill/>
          <a:ln/>
        </p:spPr>
        <p:txBody>
          <a:bodyPr wrap="square" lIns="0" tIns="0" rIns="0" bIns="0" rtlCol="0" anchor="ctr"/>
          <a:lstStyle/>
          <a:p>
            <a:pPr marL="0" indent="0">
              <a:buNone/>
            </a:pPr>
            <a:r>
              <a:rPr lang="en-US" sz="1000" b="1" dirty="0">
                <a:solidFill>
                  <a:srgbClr val="BDC3C7"/>
                </a:solidFill>
                <a:latin typeface="Trebuchet MS" pitchFamily="34" charset="0"/>
                <a:ea typeface="Trebuchet MS" pitchFamily="34" charset="-122"/>
                <a:cs typeface="Trebuchet MS" pitchFamily="34" charset="-120"/>
              </a:rPr>
              <a:t>03</a:t>
            </a:r>
            <a:endParaRPr lang="en-US" sz="1000" dirty="0"/>
          </a:p>
        </p:txBody>
      </p:sp>
      <p:sp>
        <p:nvSpPr>
          <p:cNvPr id="19" name="Text 17"/>
          <p:cNvSpPr/>
          <p:nvPr/>
        </p:nvSpPr>
        <p:spPr>
          <a:xfrm>
            <a:off x="6327648" y="1389888"/>
            <a:ext cx="2423160" cy="420624"/>
          </a:xfrm>
          <a:prstGeom prst="rect">
            <a:avLst/>
          </a:prstGeom>
          <a:noFill/>
          <a:ln/>
        </p:spPr>
        <p:txBody>
          <a:bodyPr wrap="square" lIns="0" tIns="0" rIns="0" bIns="0" rtlCol="0" anchor="ctr"/>
          <a:lstStyle/>
          <a:p>
            <a:pPr marL="0" indent="0">
              <a:buNone/>
            </a:pPr>
            <a:r>
              <a:rPr lang="en-US" sz="2000" b="1" dirty="0">
                <a:solidFill>
                  <a:srgbClr val="1A3A5C"/>
                </a:solidFill>
                <a:latin typeface="Trebuchet MS" pitchFamily="34" charset="0"/>
                <a:ea typeface="Trebuchet MS" pitchFamily="34" charset="-122"/>
                <a:cs typeface="Trebuchet MS" pitchFamily="34" charset="-120"/>
              </a:rPr>
              <a:t>HAVING</a:t>
            </a:r>
            <a:endParaRPr lang="en-US" sz="2000" dirty="0"/>
          </a:p>
        </p:txBody>
      </p:sp>
      <p:sp>
        <p:nvSpPr>
          <p:cNvPr id="20" name="Text 18"/>
          <p:cNvSpPr/>
          <p:nvPr/>
        </p:nvSpPr>
        <p:spPr>
          <a:xfrm>
            <a:off x="6327648" y="1901952"/>
            <a:ext cx="2423160" cy="621792"/>
          </a:xfrm>
          <a:prstGeom prst="rect">
            <a:avLst/>
          </a:prstGeom>
          <a:noFill/>
          <a:ln/>
        </p:spPr>
        <p:txBody>
          <a:bodyPr wrap="square" lIns="0" tIns="0" rIns="0" bIns="0" rtlCol="0" anchor="ctr"/>
          <a:lstStyle/>
          <a:p>
            <a:pPr marL="0" indent="0">
              <a:buNone/>
            </a:pPr>
            <a:r>
              <a:rPr lang="en-US" sz="1200" dirty="0">
                <a:solidFill>
                  <a:srgbClr val="5D6D7E"/>
                </a:solidFill>
                <a:latin typeface="Trebuchet MS" pitchFamily="34" charset="0"/>
                <a:ea typeface="Trebuchet MS" pitchFamily="34" charset="-122"/>
                <a:cs typeface="Trebuchet MS" pitchFamily="34" charset="-120"/>
              </a:rPr>
              <a:t>Filter grouped results</a:t>
            </a:r>
            <a:endParaRPr lang="en-US" sz="1200" dirty="0"/>
          </a:p>
        </p:txBody>
      </p:sp>
      <p:sp>
        <p:nvSpPr>
          <p:cNvPr id="21" name="Shape 19"/>
          <p:cNvSpPr/>
          <p:nvPr/>
        </p:nvSpPr>
        <p:spPr>
          <a:xfrm>
            <a:off x="274320" y="2953512"/>
            <a:ext cx="2743200" cy="1737360"/>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22" name="Shape 20"/>
          <p:cNvSpPr/>
          <p:nvPr/>
        </p:nvSpPr>
        <p:spPr>
          <a:xfrm>
            <a:off x="274320" y="2953512"/>
            <a:ext cx="2743200" cy="54864"/>
          </a:xfrm>
          <a:prstGeom prst="rect">
            <a:avLst/>
          </a:prstGeom>
          <a:solidFill>
            <a:srgbClr val="2E86C1"/>
          </a:solidFill>
          <a:ln w="12700">
            <a:solidFill>
              <a:srgbClr val="2E86C1"/>
            </a:solidFill>
            <a:prstDash val="solid"/>
          </a:ln>
        </p:spPr>
      </p:sp>
      <p:sp>
        <p:nvSpPr>
          <p:cNvPr id="23" name="Text 21"/>
          <p:cNvSpPr/>
          <p:nvPr/>
        </p:nvSpPr>
        <p:spPr>
          <a:xfrm>
            <a:off x="438912" y="3081528"/>
            <a:ext cx="457200" cy="237744"/>
          </a:xfrm>
          <a:prstGeom prst="rect">
            <a:avLst/>
          </a:prstGeom>
          <a:noFill/>
          <a:ln/>
        </p:spPr>
        <p:txBody>
          <a:bodyPr wrap="square" lIns="0" tIns="0" rIns="0" bIns="0" rtlCol="0" anchor="ctr"/>
          <a:lstStyle/>
          <a:p>
            <a:pPr marL="0" indent="0">
              <a:buNone/>
            </a:pPr>
            <a:r>
              <a:rPr lang="en-US" sz="1000" b="1" dirty="0">
                <a:solidFill>
                  <a:srgbClr val="BDC3C7"/>
                </a:solidFill>
                <a:latin typeface="Trebuchet MS" pitchFamily="34" charset="0"/>
                <a:ea typeface="Trebuchet MS" pitchFamily="34" charset="-122"/>
                <a:cs typeface="Trebuchet MS" pitchFamily="34" charset="-120"/>
              </a:rPr>
              <a:t>04</a:t>
            </a:r>
            <a:endParaRPr lang="en-US" sz="1000" dirty="0"/>
          </a:p>
        </p:txBody>
      </p:sp>
      <p:sp>
        <p:nvSpPr>
          <p:cNvPr id="24" name="Text 22"/>
          <p:cNvSpPr/>
          <p:nvPr/>
        </p:nvSpPr>
        <p:spPr>
          <a:xfrm>
            <a:off x="438912" y="3355848"/>
            <a:ext cx="2423160" cy="420624"/>
          </a:xfrm>
          <a:prstGeom prst="rect">
            <a:avLst/>
          </a:prstGeom>
          <a:noFill/>
          <a:ln/>
        </p:spPr>
        <p:txBody>
          <a:bodyPr wrap="square" lIns="0" tIns="0" rIns="0" bIns="0" rtlCol="0" anchor="ctr"/>
          <a:lstStyle/>
          <a:p>
            <a:pPr marL="0" indent="0">
              <a:buNone/>
            </a:pPr>
            <a:r>
              <a:rPr lang="en-US" sz="2000" b="1" dirty="0">
                <a:solidFill>
                  <a:srgbClr val="1A3A5C"/>
                </a:solidFill>
                <a:latin typeface="Trebuchet MS" pitchFamily="34" charset="0"/>
                <a:ea typeface="Trebuchet MS" pitchFamily="34" charset="-122"/>
                <a:cs typeface="Trebuchet MS" pitchFamily="34" charset="-120"/>
              </a:rPr>
              <a:t>ORDER BY</a:t>
            </a:r>
            <a:endParaRPr lang="en-US" sz="2000" dirty="0"/>
          </a:p>
        </p:txBody>
      </p:sp>
      <p:sp>
        <p:nvSpPr>
          <p:cNvPr id="25" name="Text 23"/>
          <p:cNvSpPr/>
          <p:nvPr/>
        </p:nvSpPr>
        <p:spPr>
          <a:xfrm>
            <a:off x="438912" y="3867912"/>
            <a:ext cx="2423160" cy="621792"/>
          </a:xfrm>
          <a:prstGeom prst="rect">
            <a:avLst/>
          </a:prstGeom>
          <a:noFill/>
          <a:ln/>
        </p:spPr>
        <p:txBody>
          <a:bodyPr wrap="square" lIns="0" tIns="0" rIns="0" bIns="0" rtlCol="0" anchor="ctr"/>
          <a:lstStyle/>
          <a:p>
            <a:pPr marL="0" indent="0">
              <a:buNone/>
            </a:pPr>
            <a:r>
              <a:rPr lang="en-US" sz="1200" dirty="0">
                <a:solidFill>
                  <a:srgbClr val="5D6D7E"/>
                </a:solidFill>
                <a:latin typeface="Trebuchet MS" pitchFamily="34" charset="0"/>
                <a:ea typeface="Trebuchet MS" pitchFamily="34" charset="-122"/>
                <a:cs typeface="Trebuchet MS" pitchFamily="34" charset="-120"/>
              </a:rPr>
              <a:t>Sort the result set</a:t>
            </a:r>
            <a:endParaRPr lang="en-US" sz="1200" dirty="0"/>
          </a:p>
        </p:txBody>
      </p:sp>
      <p:sp>
        <p:nvSpPr>
          <p:cNvPr id="26" name="Shape 24"/>
          <p:cNvSpPr/>
          <p:nvPr/>
        </p:nvSpPr>
        <p:spPr>
          <a:xfrm>
            <a:off x="3218688" y="2953512"/>
            <a:ext cx="2743200" cy="1737360"/>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27" name="Shape 25"/>
          <p:cNvSpPr/>
          <p:nvPr/>
        </p:nvSpPr>
        <p:spPr>
          <a:xfrm>
            <a:off x="3218688" y="2953512"/>
            <a:ext cx="2743200" cy="54864"/>
          </a:xfrm>
          <a:prstGeom prst="rect">
            <a:avLst/>
          </a:prstGeom>
          <a:solidFill>
            <a:srgbClr val="2E86C1"/>
          </a:solidFill>
          <a:ln w="12700">
            <a:solidFill>
              <a:srgbClr val="2E86C1"/>
            </a:solidFill>
            <a:prstDash val="solid"/>
          </a:ln>
        </p:spPr>
      </p:sp>
      <p:sp>
        <p:nvSpPr>
          <p:cNvPr id="28" name="Text 26"/>
          <p:cNvSpPr/>
          <p:nvPr/>
        </p:nvSpPr>
        <p:spPr>
          <a:xfrm>
            <a:off x="3383280" y="3081528"/>
            <a:ext cx="457200" cy="237744"/>
          </a:xfrm>
          <a:prstGeom prst="rect">
            <a:avLst/>
          </a:prstGeom>
          <a:noFill/>
          <a:ln/>
        </p:spPr>
        <p:txBody>
          <a:bodyPr wrap="square" lIns="0" tIns="0" rIns="0" bIns="0" rtlCol="0" anchor="ctr"/>
          <a:lstStyle/>
          <a:p>
            <a:pPr marL="0" indent="0">
              <a:buNone/>
            </a:pPr>
            <a:r>
              <a:rPr lang="en-US" sz="1000" b="1" dirty="0">
                <a:solidFill>
                  <a:srgbClr val="BDC3C7"/>
                </a:solidFill>
                <a:latin typeface="Trebuchet MS" pitchFamily="34" charset="0"/>
                <a:ea typeface="Trebuchet MS" pitchFamily="34" charset="-122"/>
                <a:cs typeface="Trebuchet MS" pitchFamily="34" charset="-120"/>
              </a:rPr>
              <a:t>05</a:t>
            </a:r>
            <a:endParaRPr lang="en-US" sz="1000" dirty="0"/>
          </a:p>
        </p:txBody>
      </p:sp>
      <p:sp>
        <p:nvSpPr>
          <p:cNvPr id="29" name="Text 27"/>
          <p:cNvSpPr/>
          <p:nvPr/>
        </p:nvSpPr>
        <p:spPr>
          <a:xfrm>
            <a:off x="3383280" y="3355848"/>
            <a:ext cx="2423160" cy="420624"/>
          </a:xfrm>
          <a:prstGeom prst="rect">
            <a:avLst/>
          </a:prstGeom>
          <a:noFill/>
          <a:ln/>
        </p:spPr>
        <p:txBody>
          <a:bodyPr wrap="square" lIns="0" tIns="0" rIns="0" bIns="0" rtlCol="0" anchor="ctr"/>
          <a:lstStyle/>
          <a:p>
            <a:pPr marL="0" indent="0">
              <a:buNone/>
            </a:pPr>
            <a:r>
              <a:rPr lang="en-US" sz="2000" b="1" dirty="0">
                <a:solidFill>
                  <a:srgbClr val="1A3A5C"/>
                </a:solidFill>
                <a:latin typeface="Trebuchet MS" pitchFamily="34" charset="0"/>
                <a:ea typeface="Trebuchet MS" pitchFamily="34" charset="-122"/>
                <a:cs typeface="Trebuchet MS" pitchFamily="34" charset="-120"/>
              </a:rPr>
              <a:t>TOP</a:t>
            </a:r>
            <a:endParaRPr lang="en-US" sz="2000" dirty="0"/>
          </a:p>
        </p:txBody>
      </p:sp>
      <p:sp>
        <p:nvSpPr>
          <p:cNvPr id="30" name="Text 28"/>
          <p:cNvSpPr/>
          <p:nvPr/>
        </p:nvSpPr>
        <p:spPr>
          <a:xfrm>
            <a:off x="3383280" y="3867912"/>
            <a:ext cx="2423160" cy="621792"/>
          </a:xfrm>
          <a:prstGeom prst="rect">
            <a:avLst/>
          </a:prstGeom>
          <a:noFill/>
          <a:ln/>
        </p:spPr>
        <p:txBody>
          <a:bodyPr wrap="square" lIns="0" tIns="0" rIns="0" bIns="0" rtlCol="0" anchor="ctr"/>
          <a:lstStyle/>
          <a:p>
            <a:pPr marL="0" indent="0">
              <a:buNone/>
            </a:pPr>
            <a:r>
              <a:rPr lang="en-US" sz="1200" dirty="0">
                <a:solidFill>
                  <a:srgbClr val="5D6D7E"/>
                </a:solidFill>
                <a:latin typeface="Trebuchet MS" pitchFamily="34" charset="0"/>
                <a:ea typeface="Trebuchet MS" pitchFamily="34" charset="-122"/>
                <a:cs typeface="Trebuchet MS" pitchFamily="34" charset="-120"/>
              </a:rPr>
              <a:t>Limit number of rows returned</a:t>
            </a:r>
            <a:endParaRPr lang="en-US" sz="1200" dirty="0"/>
          </a:p>
        </p:txBody>
      </p:sp>
      <p:sp>
        <p:nvSpPr>
          <p:cNvPr id="31" name="Shape 29"/>
          <p:cNvSpPr/>
          <p:nvPr/>
        </p:nvSpPr>
        <p:spPr>
          <a:xfrm>
            <a:off x="6163056" y="2953512"/>
            <a:ext cx="2743200" cy="1737360"/>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32" name="Shape 30"/>
          <p:cNvSpPr/>
          <p:nvPr/>
        </p:nvSpPr>
        <p:spPr>
          <a:xfrm>
            <a:off x="6163056" y="2953512"/>
            <a:ext cx="2743200" cy="54864"/>
          </a:xfrm>
          <a:prstGeom prst="rect">
            <a:avLst/>
          </a:prstGeom>
          <a:solidFill>
            <a:srgbClr val="2E86C1"/>
          </a:solidFill>
          <a:ln w="12700">
            <a:solidFill>
              <a:srgbClr val="2E86C1"/>
            </a:solidFill>
            <a:prstDash val="solid"/>
          </a:ln>
        </p:spPr>
      </p:sp>
      <p:sp>
        <p:nvSpPr>
          <p:cNvPr id="33" name="Text 31"/>
          <p:cNvSpPr/>
          <p:nvPr/>
        </p:nvSpPr>
        <p:spPr>
          <a:xfrm>
            <a:off x="6327648" y="3081528"/>
            <a:ext cx="457200" cy="237744"/>
          </a:xfrm>
          <a:prstGeom prst="rect">
            <a:avLst/>
          </a:prstGeom>
          <a:noFill/>
          <a:ln/>
        </p:spPr>
        <p:txBody>
          <a:bodyPr wrap="square" lIns="0" tIns="0" rIns="0" bIns="0" rtlCol="0" anchor="ctr"/>
          <a:lstStyle/>
          <a:p>
            <a:pPr marL="0" indent="0">
              <a:buNone/>
            </a:pPr>
            <a:r>
              <a:rPr lang="en-US" sz="1000" b="1" dirty="0">
                <a:solidFill>
                  <a:srgbClr val="BDC3C7"/>
                </a:solidFill>
                <a:latin typeface="Trebuchet MS" pitchFamily="34" charset="0"/>
                <a:ea typeface="Trebuchet MS" pitchFamily="34" charset="-122"/>
                <a:cs typeface="Trebuchet MS" pitchFamily="34" charset="-120"/>
              </a:rPr>
              <a:t>06</a:t>
            </a:r>
            <a:endParaRPr lang="en-US" sz="1000" dirty="0"/>
          </a:p>
        </p:txBody>
      </p:sp>
      <p:sp>
        <p:nvSpPr>
          <p:cNvPr id="34" name="Text 32"/>
          <p:cNvSpPr/>
          <p:nvPr/>
        </p:nvSpPr>
        <p:spPr>
          <a:xfrm>
            <a:off x="6327648" y="3355848"/>
            <a:ext cx="2423160" cy="420624"/>
          </a:xfrm>
          <a:prstGeom prst="rect">
            <a:avLst/>
          </a:prstGeom>
          <a:noFill/>
          <a:ln/>
        </p:spPr>
        <p:txBody>
          <a:bodyPr wrap="square" lIns="0" tIns="0" rIns="0" bIns="0" rtlCol="0" anchor="ctr"/>
          <a:lstStyle/>
          <a:p>
            <a:pPr marL="0" indent="0">
              <a:buNone/>
            </a:pPr>
            <a:r>
              <a:rPr lang="en-US" sz="2000" b="1" dirty="0">
                <a:solidFill>
                  <a:srgbClr val="1A3A5C"/>
                </a:solidFill>
                <a:latin typeface="Trebuchet MS" pitchFamily="34" charset="0"/>
                <a:ea typeface="Trebuchet MS" pitchFamily="34" charset="-122"/>
                <a:cs typeface="Trebuchet MS" pitchFamily="34" charset="-120"/>
              </a:rPr>
              <a:t>DISTINCT</a:t>
            </a:r>
            <a:endParaRPr lang="en-US" sz="2000" dirty="0"/>
          </a:p>
        </p:txBody>
      </p:sp>
      <p:sp>
        <p:nvSpPr>
          <p:cNvPr id="35" name="Text 33"/>
          <p:cNvSpPr/>
          <p:nvPr/>
        </p:nvSpPr>
        <p:spPr>
          <a:xfrm>
            <a:off x="6327648" y="3867912"/>
            <a:ext cx="2423160" cy="621792"/>
          </a:xfrm>
          <a:prstGeom prst="rect">
            <a:avLst/>
          </a:prstGeom>
          <a:noFill/>
          <a:ln/>
        </p:spPr>
        <p:txBody>
          <a:bodyPr wrap="square" lIns="0" tIns="0" rIns="0" bIns="0" rtlCol="0" anchor="ctr"/>
          <a:lstStyle/>
          <a:p>
            <a:pPr marL="0" indent="0">
              <a:buNone/>
            </a:pPr>
            <a:r>
              <a:rPr lang="en-US" sz="1200" dirty="0">
                <a:solidFill>
                  <a:srgbClr val="5D6D7E"/>
                </a:solidFill>
                <a:latin typeface="Trebuchet MS" pitchFamily="34" charset="0"/>
                <a:ea typeface="Trebuchet MS" pitchFamily="34" charset="-122"/>
                <a:cs typeface="Trebuchet MS" pitchFamily="34" charset="-120"/>
              </a:rPr>
              <a:t>Return unique values only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3A5C"/>
          </a:solidFill>
          <a:ln w="12700">
            <a:solidFill>
              <a:srgbClr val="1A3A5C"/>
            </a:solidFill>
            <a:prstDash val="solid"/>
          </a:ln>
        </p:spPr>
      </p:sp>
      <p:sp>
        <p:nvSpPr>
          <p:cNvPr id="3" name="Shape 1"/>
          <p:cNvSpPr/>
          <p:nvPr/>
        </p:nvSpPr>
        <p:spPr>
          <a:xfrm>
            <a:off x="0" y="73152"/>
            <a:ext cx="9144000" cy="749808"/>
          </a:xfrm>
          <a:prstGeom prst="rect">
            <a:avLst/>
          </a:prstGeom>
          <a:solidFill>
            <a:srgbClr val="1A3A5C"/>
          </a:solidFill>
          <a:ln w="12700">
            <a:solidFill>
              <a:srgbClr val="1A3A5C"/>
            </a:solidFill>
            <a:prstDash val="solid"/>
          </a:ln>
        </p:spPr>
      </p:sp>
      <p:sp>
        <p:nvSpPr>
          <p:cNvPr id="4" name="Text 2"/>
          <p:cNvSpPr/>
          <p:nvPr/>
        </p:nvSpPr>
        <p:spPr>
          <a:xfrm>
            <a:off x="457200" y="118872"/>
            <a:ext cx="7132320" cy="420624"/>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WHERE Clause</a:t>
            </a:r>
            <a:endParaRPr lang="en-US" sz="2800" dirty="0"/>
          </a:p>
        </p:txBody>
      </p:sp>
      <p:sp>
        <p:nvSpPr>
          <p:cNvPr id="5" name="Text 3"/>
          <p:cNvSpPr/>
          <p:nvPr/>
        </p:nvSpPr>
        <p:spPr>
          <a:xfrm>
            <a:off x="457200" y="557784"/>
            <a:ext cx="7132320" cy="201168"/>
          </a:xfrm>
          <a:prstGeom prst="rect">
            <a:avLst/>
          </a:prstGeom>
          <a:noFill/>
          <a:ln/>
        </p:spPr>
        <p:txBody>
          <a:bodyPr wrap="square" lIns="0" tIns="0" rIns="0" bIns="0" rtlCol="0" anchor="ctr"/>
          <a:lstStyle/>
          <a:p>
            <a:pPr marL="0" indent="0">
              <a:buNone/>
            </a:pPr>
            <a:r>
              <a:rPr lang="en-US" sz="1100" i="1" dirty="0">
                <a:solidFill>
                  <a:srgbClr val="D6E8F5"/>
                </a:solidFill>
                <a:latin typeface="Georgia" pitchFamily="34" charset="0"/>
                <a:ea typeface="Georgia" pitchFamily="34" charset="-122"/>
                <a:cs typeface="Georgia" pitchFamily="34" charset="-120"/>
              </a:rPr>
              <a:t>Definition, Syntax &amp; Basic Usage</a:t>
            </a:r>
            <a:endParaRPr lang="en-US" sz="1100" dirty="0"/>
          </a:p>
        </p:txBody>
      </p:sp>
      <p:sp>
        <p:nvSpPr>
          <p:cNvPr id="7" name="Text 5"/>
          <p:cNvSpPr/>
          <p:nvPr/>
        </p:nvSpPr>
        <p:spPr>
          <a:xfrm>
            <a:off x="7973568" y="219456"/>
            <a:ext cx="804672" cy="237744"/>
          </a:xfrm>
          <a:prstGeom prst="rect">
            <a:avLst/>
          </a:prstGeom>
          <a:noFill/>
          <a:ln/>
        </p:spPr>
        <p:txBody>
          <a:bodyPr wrap="square" lIns="0" tIns="0" rIns="0" bIns="0" rtlCol="0" anchor="ctr"/>
          <a:lstStyle/>
          <a:p>
            <a:pPr marL="0" indent="0" algn="ctr">
              <a:buNone/>
            </a:pPr>
            <a:endParaRPr lang="en-US" sz="1000" dirty="0"/>
          </a:p>
        </p:txBody>
      </p:sp>
      <p:sp>
        <p:nvSpPr>
          <p:cNvPr id="8" name="Text 6"/>
          <p:cNvSpPr/>
          <p:nvPr/>
        </p:nvSpPr>
        <p:spPr>
          <a:xfrm>
            <a:off x="365760" y="987552"/>
            <a:ext cx="5029200" cy="201168"/>
          </a:xfrm>
          <a:prstGeom prst="rect">
            <a:avLst/>
          </a:prstGeom>
          <a:noFill/>
          <a:ln/>
        </p:spPr>
        <p:txBody>
          <a:bodyPr wrap="square" lIns="0" tIns="0" rIns="0" bIns="0" rtlCol="0" anchor="ctr"/>
          <a:lstStyle/>
          <a:p>
            <a:pPr marL="0" indent="0">
              <a:buNone/>
            </a:pPr>
            <a:r>
              <a:rPr lang="en-US" sz="950" b="1" kern="0" spc="200" dirty="0">
                <a:solidFill>
                  <a:srgbClr val="2E86C1"/>
                </a:solidFill>
                <a:latin typeface="Trebuchet MS" pitchFamily="34" charset="0"/>
                <a:ea typeface="Trebuchet MS" pitchFamily="34" charset="-122"/>
                <a:cs typeface="Trebuchet MS" pitchFamily="34" charset="-120"/>
              </a:rPr>
              <a:t>DEFINITION</a:t>
            </a:r>
            <a:endParaRPr lang="en-US" sz="950" dirty="0"/>
          </a:p>
        </p:txBody>
      </p:sp>
      <p:sp>
        <p:nvSpPr>
          <p:cNvPr id="9" name="Shape 7"/>
          <p:cNvSpPr/>
          <p:nvPr/>
        </p:nvSpPr>
        <p:spPr>
          <a:xfrm>
            <a:off x="365760" y="987552"/>
            <a:ext cx="8412480" cy="804672"/>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10" name="Shape 8"/>
          <p:cNvSpPr/>
          <p:nvPr/>
        </p:nvSpPr>
        <p:spPr>
          <a:xfrm>
            <a:off x="365760" y="987552"/>
            <a:ext cx="54864" cy="804672"/>
          </a:xfrm>
          <a:prstGeom prst="rect">
            <a:avLst/>
          </a:prstGeom>
          <a:solidFill>
            <a:srgbClr val="2E86C1"/>
          </a:solidFill>
          <a:ln w="12700">
            <a:solidFill>
              <a:srgbClr val="2E86C1"/>
            </a:solidFill>
            <a:prstDash val="solid"/>
          </a:ln>
        </p:spPr>
      </p:sp>
      <p:sp>
        <p:nvSpPr>
          <p:cNvPr id="11" name="Text 9"/>
          <p:cNvSpPr/>
          <p:nvPr/>
        </p:nvSpPr>
        <p:spPr>
          <a:xfrm>
            <a:off x="548640" y="1042416"/>
            <a:ext cx="8092440" cy="694944"/>
          </a:xfrm>
          <a:prstGeom prst="rect">
            <a:avLst/>
          </a:prstGeom>
          <a:noFill/>
          <a:ln/>
        </p:spPr>
        <p:txBody>
          <a:bodyPr wrap="square" lIns="0" tIns="0" rIns="0" bIns="0" rtlCol="0" anchor="ctr"/>
          <a:lstStyle/>
          <a:p>
            <a:pPr marL="0" indent="0">
              <a:buNone/>
            </a:pPr>
            <a:r>
              <a:rPr lang="en-US" sz="1300" dirty="0">
                <a:solidFill>
                  <a:srgbClr val="2C3E50"/>
                </a:solidFill>
                <a:latin typeface="Trebuchet MS" pitchFamily="34" charset="0"/>
                <a:ea typeface="Trebuchet MS" pitchFamily="34" charset="-122"/>
                <a:cs typeface="Trebuchet MS" pitchFamily="34" charset="-120"/>
              </a:rPr>
              <a:t>The WHERE clause filters records from a table based on one or more conditions. Used with SELECT, UPDATE, and DELETE — only rows satisfying the condition are returned.</a:t>
            </a:r>
            <a:endParaRPr lang="en-US" sz="1300" dirty="0"/>
          </a:p>
        </p:txBody>
      </p:sp>
      <p:sp>
        <p:nvSpPr>
          <p:cNvPr id="12" name="Text 10"/>
          <p:cNvSpPr/>
          <p:nvPr/>
        </p:nvSpPr>
        <p:spPr>
          <a:xfrm>
            <a:off x="365760" y="1938528"/>
            <a:ext cx="5029200" cy="201168"/>
          </a:xfrm>
          <a:prstGeom prst="rect">
            <a:avLst/>
          </a:prstGeom>
          <a:noFill/>
          <a:ln/>
        </p:spPr>
        <p:txBody>
          <a:bodyPr wrap="square" lIns="0" tIns="0" rIns="0" bIns="0" rtlCol="0" anchor="ctr"/>
          <a:lstStyle/>
          <a:p>
            <a:pPr marL="0" indent="0">
              <a:buNone/>
            </a:pPr>
            <a:r>
              <a:rPr lang="en-US" sz="950" b="1" kern="0" spc="200" dirty="0">
                <a:solidFill>
                  <a:srgbClr val="2E86C1"/>
                </a:solidFill>
                <a:latin typeface="Trebuchet MS" pitchFamily="34" charset="0"/>
                <a:ea typeface="Trebuchet MS" pitchFamily="34" charset="-122"/>
                <a:cs typeface="Trebuchet MS" pitchFamily="34" charset="-120"/>
              </a:rPr>
              <a:t>SYNTAX</a:t>
            </a:r>
            <a:endParaRPr lang="en-US" sz="950" dirty="0"/>
          </a:p>
        </p:txBody>
      </p:sp>
      <p:sp>
        <p:nvSpPr>
          <p:cNvPr id="13" name="Shape 11"/>
          <p:cNvSpPr/>
          <p:nvPr/>
        </p:nvSpPr>
        <p:spPr>
          <a:xfrm>
            <a:off x="365760" y="2148840"/>
            <a:ext cx="3931920" cy="1115568"/>
          </a:xfrm>
          <a:prstGeom prst="rect">
            <a:avLst/>
          </a:prstGeom>
          <a:solidFill>
            <a:srgbClr val="F4F6F7"/>
          </a:solidFill>
          <a:ln w="12700">
            <a:solidFill>
              <a:srgbClr val="BDC3C7"/>
            </a:solidFill>
            <a:prstDash val="solid"/>
          </a:ln>
        </p:spPr>
      </p:sp>
      <p:sp>
        <p:nvSpPr>
          <p:cNvPr id="14" name="Shape 12"/>
          <p:cNvSpPr/>
          <p:nvPr/>
        </p:nvSpPr>
        <p:spPr>
          <a:xfrm>
            <a:off x="365760" y="2148840"/>
            <a:ext cx="3931920" cy="256032"/>
          </a:xfrm>
          <a:prstGeom prst="rect">
            <a:avLst/>
          </a:prstGeom>
          <a:solidFill>
            <a:srgbClr val="1A3A5C"/>
          </a:solidFill>
          <a:ln w="12700">
            <a:solidFill>
              <a:srgbClr val="1A3A5C"/>
            </a:solidFill>
            <a:prstDash val="solid"/>
          </a:ln>
        </p:spPr>
      </p:sp>
      <p:sp>
        <p:nvSpPr>
          <p:cNvPr id="15" name="Text 13"/>
          <p:cNvSpPr/>
          <p:nvPr/>
        </p:nvSpPr>
        <p:spPr>
          <a:xfrm>
            <a:off x="475488" y="2176272"/>
            <a:ext cx="3749040" cy="201168"/>
          </a:xfrm>
          <a:prstGeom prst="rect">
            <a:avLst/>
          </a:prstGeom>
          <a:noFill/>
          <a:ln/>
        </p:spPr>
        <p:txBody>
          <a:bodyPr wrap="square" lIns="0" tIns="0" rIns="0" bIns="0" rtlCol="0" anchor="ctr"/>
          <a:lstStyle/>
          <a:p>
            <a:pPr marL="0" indent="0">
              <a:buNone/>
            </a:pPr>
            <a:r>
              <a:rPr lang="en-US" sz="950" dirty="0">
                <a:solidFill>
                  <a:srgbClr val="FFFFFF"/>
                </a:solidFill>
                <a:latin typeface="Trebuchet MS" pitchFamily="34" charset="0"/>
                <a:ea typeface="Trebuchet MS" pitchFamily="34" charset="-122"/>
                <a:cs typeface="Trebuchet MS" pitchFamily="34" charset="-120"/>
              </a:rPr>
              <a:t>SQL — Syntax</a:t>
            </a:r>
            <a:endParaRPr lang="en-US" sz="950" dirty="0"/>
          </a:p>
        </p:txBody>
      </p:sp>
      <p:sp>
        <p:nvSpPr>
          <p:cNvPr id="16" name="Text 14"/>
          <p:cNvSpPr/>
          <p:nvPr/>
        </p:nvSpPr>
        <p:spPr>
          <a:xfrm>
            <a:off x="475488" y="2450592"/>
            <a:ext cx="3749040" cy="731520"/>
          </a:xfrm>
          <a:prstGeom prst="rect">
            <a:avLst/>
          </a:prstGeom>
          <a:noFill/>
          <a:ln/>
        </p:spPr>
        <p:txBody>
          <a:bodyPr wrap="square" lIns="0" tIns="0" rIns="0" bIns="0" rtlCol="0" anchor="ctr"/>
          <a:lstStyle/>
          <a:p>
            <a:pPr marL="0" indent="0">
              <a:buNone/>
            </a:pPr>
            <a:r>
              <a:rPr lang="en-US" sz="1150" dirty="0">
                <a:solidFill>
                  <a:srgbClr val="1A5276"/>
                </a:solidFill>
                <a:latin typeface="Consolas" pitchFamily="34" charset="0"/>
                <a:ea typeface="Consolas" pitchFamily="34" charset="-122"/>
                <a:cs typeface="Consolas" pitchFamily="34" charset="-120"/>
              </a:rPr>
              <a:t>SELECT column1, column2</a:t>
            </a:r>
            <a:endParaRPr lang="en-US" sz="1150" dirty="0"/>
          </a:p>
          <a:p>
            <a:pPr marL="0" indent="0">
              <a:buNone/>
            </a:pPr>
            <a:r>
              <a:rPr lang="en-US" sz="1150" dirty="0">
                <a:solidFill>
                  <a:srgbClr val="1A5276"/>
                </a:solidFill>
                <a:latin typeface="Consolas" pitchFamily="34" charset="0"/>
                <a:ea typeface="Consolas" pitchFamily="34" charset="-122"/>
                <a:cs typeface="Consolas" pitchFamily="34" charset="-120"/>
              </a:rPr>
              <a:t>FROM table_name</a:t>
            </a:r>
            <a:endParaRPr lang="en-US" sz="1150" dirty="0"/>
          </a:p>
          <a:p>
            <a:pPr marL="0" indent="0">
              <a:buNone/>
            </a:pPr>
            <a:r>
              <a:rPr lang="en-US" sz="1150" dirty="0">
                <a:solidFill>
                  <a:srgbClr val="1A5276"/>
                </a:solidFill>
                <a:latin typeface="Consolas" pitchFamily="34" charset="0"/>
                <a:ea typeface="Consolas" pitchFamily="34" charset="-122"/>
                <a:cs typeface="Consolas" pitchFamily="34" charset="-120"/>
              </a:rPr>
              <a:t>WHERE condition;</a:t>
            </a:r>
            <a:endParaRPr lang="en-US" sz="1150" dirty="0"/>
          </a:p>
        </p:txBody>
      </p:sp>
      <p:sp>
        <p:nvSpPr>
          <p:cNvPr id="17" name="Text 15"/>
          <p:cNvSpPr/>
          <p:nvPr/>
        </p:nvSpPr>
        <p:spPr>
          <a:xfrm>
            <a:off x="4572000" y="1938528"/>
            <a:ext cx="5029200" cy="201168"/>
          </a:xfrm>
          <a:prstGeom prst="rect">
            <a:avLst/>
          </a:prstGeom>
          <a:noFill/>
          <a:ln/>
        </p:spPr>
        <p:txBody>
          <a:bodyPr wrap="square" lIns="0" tIns="0" rIns="0" bIns="0" rtlCol="0" anchor="ctr"/>
          <a:lstStyle/>
          <a:p>
            <a:pPr marL="0" indent="0">
              <a:buNone/>
            </a:pPr>
            <a:r>
              <a:rPr lang="en-US" sz="950" b="1" kern="0" spc="200" dirty="0">
                <a:solidFill>
                  <a:srgbClr val="1E8449"/>
                </a:solidFill>
                <a:latin typeface="Trebuchet MS" pitchFamily="34" charset="0"/>
                <a:ea typeface="Trebuchet MS" pitchFamily="34" charset="-122"/>
                <a:cs typeface="Trebuchet MS" pitchFamily="34" charset="-120"/>
              </a:rPr>
              <a:t>EXAMPLE</a:t>
            </a:r>
            <a:endParaRPr lang="en-US" sz="950" dirty="0"/>
          </a:p>
        </p:txBody>
      </p:sp>
      <p:sp>
        <p:nvSpPr>
          <p:cNvPr id="18" name="Shape 16"/>
          <p:cNvSpPr/>
          <p:nvPr/>
        </p:nvSpPr>
        <p:spPr>
          <a:xfrm>
            <a:off x="4572000" y="2148840"/>
            <a:ext cx="4206240" cy="1115568"/>
          </a:xfrm>
          <a:prstGeom prst="rect">
            <a:avLst/>
          </a:prstGeom>
          <a:solidFill>
            <a:srgbClr val="F4F6F7"/>
          </a:solidFill>
          <a:ln w="12700">
            <a:solidFill>
              <a:srgbClr val="BDC3C7"/>
            </a:solidFill>
            <a:prstDash val="solid"/>
          </a:ln>
        </p:spPr>
      </p:sp>
      <p:sp>
        <p:nvSpPr>
          <p:cNvPr id="19" name="Shape 17"/>
          <p:cNvSpPr/>
          <p:nvPr/>
        </p:nvSpPr>
        <p:spPr>
          <a:xfrm>
            <a:off x="4572000" y="2148840"/>
            <a:ext cx="4206240" cy="256032"/>
          </a:xfrm>
          <a:prstGeom prst="rect">
            <a:avLst/>
          </a:prstGeom>
          <a:solidFill>
            <a:srgbClr val="1E8449"/>
          </a:solidFill>
          <a:ln w="12700">
            <a:solidFill>
              <a:srgbClr val="1E8449"/>
            </a:solidFill>
            <a:prstDash val="solid"/>
          </a:ln>
        </p:spPr>
      </p:sp>
      <p:sp>
        <p:nvSpPr>
          <p:cNvPr id="20" name="Text 18"/>
          <p:cNvSpPr/>
          <p:nvPr/>
        </p:nvSpPr>
        <p:spPr>
          <a:xfrm>
            <a:off x="4681728" y="2176272"/>
            <a:ext cx="4023360" cy="201168"/>
          </a:xfrm>
          <a:prstGeom prst="rect">
            <a:avLst/>
          </a:prstGeom>
          <a:noFill/>
          <a:ln/>
        </p:spPr>
        <p:txBody>
          <a:bodyPr wrap="square" lIns="0" tIns="0" rIns="0" bIns="0" rtlCol="0" anchor="ctr"/>
          <a:lstStyle/>
          <a:p>
            <a:pPr marL="0" indent="0">
              <a:buNone/>
            </a:pPr>
            <a:r>
              <a:rPr lang="en-US" sz="950" dirty="0">
                <a:solidFill>
                  <a:srgbClr val="FFFFFF"/>
                </a:solidFill>
                <a:latin typeface="Trebuchet MS" pitchFamily="34" charset="0"/>
                <a:ea typeface="Trebuchet MS" pitchFamily="34" charset="-122"/>
                <a:cs typeface="Trebuchet MS" pitchFamily="34" charset="-120"/>
              </a:rPr>
              <a:t>SQL — Filter employees by salary</a:t>
            </a:r>
            <a:endParaRPr lang="en-US" sz="950" dirty="0"/>
          </a:p>
        </p:txBody>
      </p:sp>
      <p:sp>
        <p:nvSpPr>
          <p:cNvPr id="21" name="Text 19"/>
          <p:cNvSpPr/>
          <p:nvPr/>
        </p:nvSpPr>
        <p:spPr>
          <a:xfrm>
            <a:off x="4681728" y="2450592"/>
            <a:ext cx="4023360" cy="731520"/>
          </a:xfrm>
          <a:prstGeom prst="rect">
            <a:avLst/>
          </a:prstGeom>
          <a:noFill/>
          <a:ln/>
        </p:spPr>
        <p:txBody>
          <a:bodyPr wrap="square" lIns="0" tIns="0" rIns="0" bIns="0" rtlCol="0" anchor="ctr"/>
          <a:lstStyle/>
          <a:p>
            <a:pPr marL="0" indent="0">
              <a:buNone/>
            </a:pPr>
            <a:r>
              <a:rPr lang="en-US" sz="1150" dirty="0">
                <a:solidFill>
                  <a:srgbClr val="1E8449"/>
                </a:solidFill>
                <a:latin typeface="Consolas" pitchFamily="34" charset="0"/>
                <a:ea typeface="Consolas" pitchFamily="34" charset="-122"/>
                <a:cs typeface="Consolas" pitchFamily="34" charset="-120"/>
              </a:rPr>
              <a:t>SELECT Name, Salary</a:t>
            </a:r>
            <a:endParaRPr lang="en-US" sz="1150" dirty="0"/>
          </a:p>
          <a:p>
            <a:pPr marL="0" indent="0">
              <a:buNone/>
            </a:pPr>
            <a:r>
              <a:rPr lang="en-US" sz="1150" dirty="0">
                <a:solidFill>
                  <a:srgbClr val="1E8449"/>
                </a:solidFill>
                <a:latin typeface="Consolas" pitchFamily="34" charset="0"/>
                <a:ea typeface="Consolas" pitchFamily="34" charset="-122"/>
                <a:cs typeface="Consolas" pitchFamily="34" charset="-120"/>
              </a:rPr>
              <a:t>FROM Employees</a:t>
            </a:r>
            <a:endParaRPr lang="en-US" sz="1150" dirty="0"/>
          </a:p>
          <a:p>
            <a:pPr marL="0" indent="0">
              <a:buNone/>
            </a:pPr>
            <a:r>
              <a:rPr lang="en-US" sz="1150" dirty="0">
                <a:solidFill>
                  <a:srgbClr val="1E8449"/>
                </a:solidFill>
                <a:latin typeface="Consolas" pitchFamily="34" charset="0"/>
                <a:ea typeface="Consolas" pitchFamily="34" charset="-122"/>
                <a:cs typeface="Consolas" pitchFamily="34" charset="-120"/>
              </a:rPr>
              <a:t>WHERE Salary &gt; 50000;</a:t>
            </a:r>
            <a:endParaRPr lang="en-US" sz="1150" dirty="0"/>
          </a:p>
        </p:txBody>
      </p:sp>
      <p:sp>
        <p:nvSpPr>
          <p:cNvPr id="22" name="Text 20"/>
          <p:cNvSpPr/>
          <p:nvPr/>
        </p:nvSpPr>
        <p:spPr>
          <a:xfrm>
            <a:off x="365760" y="3419856"/>
            <a:ext cx="5029200" cy="201168"/>
          </a:xfrm>
          <a:prstGeom prst="rect">
            <a:avLst/>
          </a:prstGeom>
          <a:noFill/>
          <a:ln/>
        </p:spPr>
        <p:txBody>
          <a:bodyPr wrap="square" lIns="0" tIns="0" rIns="0" bIns="0" rtlCol="0" anchor="ctr"/>
          <a:lstStyle/>
          <a:p>
            <a:pPr marL="0" indent="0">
              <a:buNone/>
            </a:pPr>
            <a:r>
              <a:rPr lang="en-US" sz="950" b="1" kern="0" spc="200" dirty="0">
                <a:solidFill>
                  <a:srgbClr val="2E86C1"/>
                </a:solidFill>
                <a:latin typeface="Trebuchet MS" pitchFamily="34" charset="0"/>
                <a:ea typeface="Trebuchet MS" pitchFamily="34" charset="-122"/>
                <a:cs typeface="Trebuchet MS" pitchFamily="34" charset="-120"/>
              </a:rPr>
              <a:t>COMPARISON OPERATORS</a:t>
            </a:r>
            <a:endParaRPr lang="en-US" sz="950" dirty="0"/>
          </a:p>
        </p:txBody>
      </p:sp>
      <p:sp>
        <p:nvSpPr>
          <p:cNvPr id="23" name="Shape 21"/>
          <p:cNvSpPr/>
          <p:nvPr/>
        </p:nvSpPr>
        <p:spPr>
          <a:xfrm>
            <a:off x="365760" y="3621024"/>
            <a:ext cx="2606040" cy="310896"/>
          </a:xfrm>
          <a:prstGeom prst="rect">
            <a:avLst/>
          </a:prstGeom>
          <a:solidFill>
            <a:srgbClr val="D6E8F5"/>
          </a:solidFill>
          <a:ln w="12700">
            <a:solidFill>
              <a:srgbClr val="2E86C1"/>
            </a:solidFill>
            <a:prstDash val="solid"/>
          </a:ln>
        </p:spPr>
      </p:sp>
      <p:sp>
        <p:nvSpPr>
          <p:cNvPr id="24" name="Text 22"/>
          <p:cNvSpPr/>
          <p:nvPr/>
        </p:nvSpPr>
        <p:spPr>
          <a:xfrm>
            <a:off x="457200" y="3621024"/>
            <a:ext cx="2514600" cy="310896"/>
          </a:xfrm>
          <a:prstGeom prst="rect">
            <a:avLst/>
          </a:prstGeom>
          <a:noFill/>
          <a:ln/>
        </p:spPr>
        <p:txBody>
          <a:bodyPr wrap="square" lIns="0" tIns="0" rIns="0" bIns="0" rtlCol="0" anchor="ctr"/>
          <a:lstStyle/>
          <a:p>
            <a:pPr marL="0" indent="0">
              <a:buNone/>
            </a:pPr>
            <a:r>
              <a:rPr lang="en-US" sz="1100" dirty="0">
                <a:solidFill>
                  <a:srgbClr val="1A3A5C"/>
                </a:solidFill>
                <a:latin typeface="Consolas" pitchFamily="34" charset="0"/>
                <a:ea typeface="Consolas" pitchFamily="34" charset="-122"/>
                <a:cs typeface="Consolas" pitchFamily="34" charset="-120"/>
              </a:rPr>
              <a:t>= (Equal)</a:t>
            </a:r>
            <a:endParaRPr lang="en-US" sz="1100" dirty="0"/>
          </a:p>
        </p:txBody>
      </p:sp>
      <p:sp>
        <p:nvSpPr>
          <p:cNvPr id="25" name="Shape 23"/>
          <p:cNvSpPr/>
          <p:nvPr/>
        </p:nvSpPr>
        <p:spPr>
          <a:xfrm>
            <a:off x="3264408" y="3621024"/>
            <a:ext cx="2606040" cy="310896"/>
          </a:xfrm>
          <a:prstGeom prst="rect">
            <a:avLst/>
          </a:prstGeom>
          <a:solidFill>
            <a:srgbClr val="D6E8F5"/>
          </a:solidFill>
          <a:ln w="12700">
            <a:solidFill>
              <a:srgbClr val="2E86C1"/>
            </a:solidFill>
            <a:prstDash val="solid"/>
          </a:ln>
        </p:spPr>
      </p:sp>
      <p:sp>
        <p:nvSpPr>
          <p:cNvPr id="26" name="Text 24"/>
          <p:cNvSpPr/>
          <p:nvPr/>
        </p:nvSpPr>
        <p:spPr>
          <a:xfrm>
            <a:off x="3355848" y="3621024"/>
            <a:ext cx="2514600" cy="310896"/>
          </a:xfrm>
          <a:prstGeom prst="rect">
            <a:avLst/>
          </a:prstGeom>
          <a:noFill/>
          <a:ln/>
        </p:spPr>
        <p:txBody>
          <a:bodyPr wrap="square" lIns="0" tIns="0" rIns="0" bIns="0" rtlCol="0" anchor="ctr"/>
          <a:lstStyle/>
          <a:p>
            <a:pPr marL="0" indent="0">
              <a:buNone/>
            </a:pPr>
            <a:r>
              <a:rPr lang="en-US" sz="1100" dirty="0">
                <a:solidFill>
                  <a:srgbClr val="1A3A5C"/>
                </a:solidFill>
                <a:latin typeface="Consolas" pitchFamily="34" charset="0"/>
                <a:ea typeface="Consolas" pitchFamily="34" charset="-122"/>
                <a:cs typeface="Consolas" pitchFamily="34" charset="-120"/>
              </a:rPr>
              <a:t>&lt;&gt; (Not Equal)</a:t>
            </a:r>
            <a:endParaRPr lang="en-US" sz="1100" dirty="0"/>
          </a:p>
        </p:txBody>
      </p:sp>
      <p:sp>
        <p:nvSpPr>
          <p:cNvPr id="27" name="Shape 25"/>
          <p:cNvSpPr/>
          <p:nvPr/>
        </p:nvSpPr>
        <p:spPr>
          <a:xfrm>
            <a:off x="6163056" y="3621024"/>
            <a:ext cx="2606040" cy="310896"/>
          </a:xfrm>
          <a:prstGeom prst="rect">
            <a:avLst/>
          </a:prstGeom>
          <a:solidFill>
            <a:srgbClr val="D6E8F5"/>
          </a:solidFill>
          <a:ln w="12700">
            <a:solidFill>
              <a:srgbClr val="2E86C1"/>
            </a:solidFill>
            <a:prstDash val="solid"/>
          </a:ln>
        </p:spPr>
      </p:sp>
      <p:sp>
        <p:nvSpPr>
          <p:cNvPr id="28" name="Text 26"/>
          <p:cNvSpPr/>
          <p:nvPr/>
        </p:nvSpPr>
        <p:spPr>
          <a:xfrm>
            <a:off x="6254496" y="3621024"/>
            <a:ext cx="2514600" cy="310896"/>
          </a:xfrm>
          <a:prstGeom prst="rect">
            <a:avLst/>
          </a:prstGeom>
          <a:noFill/>
          <a:ln/>
        </p:spPr>
        <p:txBody>
          <a:bodyPr wrap="square" lIns="0" tIns="0" rIns="0" bIns="0" rtlCol="0" anchor="ctr"/>
          <a:lstStyle/>
          <a:p>
            <a:pPr marL="0" indent="0">
              <a:buNone/>
            </a:pPr>
            <a:r>
              <a:rPr lang="en-US" sz="1100" dirty="0">
                <a:solidFill>
                  <a:srgbClr val="1A3A5C"/>
                </a:solidFill>
                <a:latin typeface="Consolas" pitchFamily="34" charset="0"/>
                <a:ea typeface="Consolas" pitchFamily="34" charset="-122"/>
                <a:cs typeface="Consolas" pitchFamily="34" charset="-120"/>
              </a:rPr>
              <a:t>&gt; (Greater Than)</a:t>
            </a:r>
            <a:endParaRPr lang="en-US" sz="1100" dirty="0"/>
          </a:p>
        </p:txBody>
      </p:sp>
      <p:sp>
        <p:nvSpPr>
          <p:cNvPr id="29" name="Shape 27"/>
          <p:cNvSpPr/>
          <p:nvPr/>
        </p:nvSpPr>
        <p:spPr>
          <a:xfrm>
            <a:off x="365760" y="3986784"/>
            <a:ext cx="2606040" cy="310896"/>
          </a:xfrm>
          <a:prstGeom prst="rect">
            <a:avLst/>
          </a:prstGeom>
          <a:solidFill>
            <a:srgbClr val="D6E8F5"/>
          </a:solidFill>
          <a:ln w="12700">
            <a:solidFill>
              <a:srgbClr val="2E86C1"/>
            </a:solidFill>
            <a:prstDash val="solid"/>
          </a:ln>
        </p:spPr>
      </p:sp>
      <p:sp>
        <p:nvSpPr>
          <p:cNvPr id="30" name="Text 28"/>
          <p:cNvSpPr/>
          <p:nvPr/>
        </p:nvSpPr>
        <p:spPr>
          <a:xfrm>
            <a:off x="457200" y="3986784"/>
            <a:ext cx="2514600" cy="310896"/>
          </a:xfrm>
          <a:prstGeom prst="rect">
            <a:avLst/>
          </a:prstGeom>
          <a:noFill/>
          <a:ln/>
        </p:spPr>
        <p:txBody>
          <a:bodyPr wrap="square" lIns="0" tIns="0" rIns="0" bIns="0" rtlCol="0" anchor="ctr"/>
          <a:lstStyle/>
          <a:p>
            <a:pPr marL="0" indent="0">
              <a:buNone/>
            </a:pPr>
            <a:r>
              <a:rPr lang="en-US" sz="1100" dirty="0">
                <a:solidFill>
                  <a:srgbClr val="1A3A5C"/>
                </a:solidFill>
                <a:latin typeface="Consolas" pitchFamily="34" charset="0"/>
                <a:ea typeface="Consolas" pitchFamily="34" charset="-122"/>
                <a:cs typeface="Consolas" pitchFamily="34" charset="-120"/>
              </a:rPr>
              <a:t>&lt; (Less Than)</a:t>
            </a:r>
            <a:endParaRPr lang="en-US" sz="1100" dirty="0"/>
          </a:p>
        </p:txBody>
      </p:sp>
      <p:sp>
        <p:nvSpPr>
          <p:cNvPr id="31" name="Shape 29"/>
          <p:cNvSpPr/>
          <p:nvPr/>
        </p:nvSpPr>
        <p:spPr>
          <a:xfrm>
            <a:off x="3264408" y="3986784"/>
            <a:ext cx="2606040" cy="310896"/>
          </a:xfrm>
          <a:prstGeom prst="rect">
            <a:avLst/>
          </a:prstGeom>
          <a:solidFill>
            <a:srgbClr val="D6E8F5"/>
          </a:solidFill>
          <a:ln w="12700">
            <a:solidFill>
              <a:srgbClr val="2E86C1"/>
            </a:solidFill>
            <a:prstDash val="solid"/>
          </a:ln>
        </p:spPr>
      </p:sp>
      <p:sp>
        <p:nvSpPr>
          <p:cNvPr id="32" name="Text 30"/>
          <p:cNvSpPr/>
          <p:nvPr/>
        </p:nvSpPr>
        <p:spPr>
          <a:xfrm>
            <a:off x="3355848" y="3986784"/>
            <a:ext cx="2514600" cy="310896"/>
          </a:xfrm>
          <a:prstGeom prst="rect">
            <a:avLst/>
          </a:prstGeom>
          <a:noFill/>
          <a:ln/>
        </p:spPr>
        <p:txBody>
          <a:bodyPr wrap="square" lIns="0" tIns="0" rIns="0" bIns="0" rtlCol="0" anchor="ctr"/>
          <a:lstStyle/>
          <a:p>
            <a:pPr marL="0" indent="0">
              <a:buNone/>
            </a:pPr>
            <a:r>
              <a:rPr lang="en-US" sz="1100" dirty="0">
                <a:solidFill>
                  <a:srgbClr val="1A3A5C"/>
                </a:solidFill>
                <a:latin typeface="Consolas" pitchFamily="34" charset="0"/>
                <a:ea typeface="Consolas" pitchFamily="34" charset="-122"/>
                <a:cs typeface="Consolas" pitchFamily="34" charset="-120"/>
              </a:rPr>
              <a:t>&gt;= (Greater/Equal)</a:t>
            </a:r>
            <a:endParaRPr lang="en-US" sz="1100" dirty="0"/>
          </a:p>
        </p:txBody>
      </p:sp>
      <p:sp>
        <p:nvSpPr>
          <p:cNvPr id="33" name="Shape 31"/>
          <p:cNvSpPr/>
          <p:nvPr/>
        </p:nvSpPr>
        <p:spPr>
          <a:xfrm>
            <a:off x="6163056" y="3986784"/>
            <a:ext cx="2606040" cy="310896"/>
          </a:xfrm>
          <a:prstGeom prst="rect">
            <a:avLst/>
          </a:prstGeom>
          <a:solidFill>
            <a:srgbClr val="D6E8F5"/>
          </a:solidFill>
          <a:ln w="12700">
            <a:solidFill>
              <a:srgbClr val="2E86C1"/>
            </a:solidFill>
            <a:prstDash val="solid"/>
          </a:ln>
        </p:spPr>
      </p:sp>
      <p:sp>
        <p:nvSpPr>
          <p:cNvPr id="34" name="Text 32"/>
          <p:cNvSpPr/>
          <p:nvPr/>
        </p:nvSpPr>
        <p:spPr>
          <a:xfrm>
            <a:off x="6254496" y="3986784"/>
            <a:ext cx="2514600" cy="310896"/>
          </a:xfrm>
          <a:prstGeom prst="rect">
            <a:avLst/>
          </a:prstGeom>
          <a:noFill/>
          <a:ln/>
        </p:spPr>
        <p:txBody>
          <a:bodyPr wrap="square" lIns="0" tIns="0" rIns="0" bIns="0" rtlCol="0" anchor="ctr"/>
          <a:lstStyle/>
          <a:p>
            <a:pPr marL="0" indent="0">
              <a:buNone/>
            </a:pPr>
            <a:r>
              <a:rPr lang="en-US" sz="1100" dirty="0">
                <a:solidFill>
                  <a:srgbClr val="1A3A5C"/>
                </a:solidFill>
                <a:latin typeface="Consolas" pitchFamily="34" charset="0"/>
                <a:ea typeface="Consolas" pitchFamily="34" charset="-122"/>
                <a:cs typeface="Consolas" pitchFamily="34" charset="-120"/>
              </a:rPr>
              <a:t>&lt;= (Less/Equal)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3A5C"/>
          </a:solidFill>
          <a:ln w="12700">
            <a:solidFill>
              <a:srgbClr val="1A3A5C"/>
            </a:solidFill>
            <a:prstDash val="solid"/>
          </a:ln>
        </p:spPr>
      </p:sp>
      <p:sp>
        <p:nvSpPr>
          <p:cNvPr id="3" name="Shape 1"/>
          <p:cNvSpPr/>
          <p:nvPr/>
        </p:nvSpPr>
        <p:spPr>
          <a:xfrm>
            <a:off x="0" y="73152"/>
            <a:ext cx="9144000" cy="749808"/>
          </a:xfrm>
          <a:prstGeom prst="rect">
            <a:avLst/>
          </a:prstGeom>
          <a:solidFill>
            <a:srgbClr val="1A3A5C"/>
          </a:solidFill>
          <a:ln w="12700">
            <a:solidFill>
              <a:srgbClr val="1A3A5C"/>
            </a:solidFill>
            <a:prstDash val="solid"/>
          </a:ln>
        </p:spPr>
      </p:sp>
      <p:sp>
        <p:nvSpPr>
          <p:cNvPr id="4" name="Text 2"/>
          <p:cNvSpPr/>
          <p:nvPr/>
        </p:nvSpPr>
        <p:spPr>
          <a:xfrm>
            <a:off x="457200" y="118872"/>
            <a:ext cx="7132320" cy="420624"/>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WHERE Clause</a:t>
            </a:r>
            <a:endParaRPr lang="en-US" sz="2800" dirty="0"/>
          </a:p>
        </p:txBody>
      </p:sp>
      <p:sp>
        <p:nvSpPr>
          <p:cNvPr id="5" name="Text 3"/>
          <p:cNvSpPr/>
          <p:nvPr/>
        </p:nvSpPr>
        <p:spPr>
          <a:xfrm>
            <a:off x="457200" y="557784"/>
            <a:ext cx="7132320" cy="201168"/>
          </a:xfrm>
          <a:prstGeom prst="rect">
            <a:avLst/>
          </a:prstGeom>
          <a:noFill/>
          <a:ln/>
        </p:spPr>
        <p:txBody>
          <a:bodyPr wrap="square" lIns="0" tIns="0" rIns="0" bIns="0" rtlCol="0" anchor="ctr"/>
          <a:lstStyle/>
          <a:p>
            <a:pPr marL="0" indent="0">
              <a:buNone/>
            </a:pPr>
            <a:r>
              <a:rPr lang="en-US" sz="1100" i="1" dirty="0">
                <a:solidFill>
                  <a:srgbClr val="D6E8F5"/>
                </a:solidFill>
                <a:latin typeface="Georgia" pitchFamily="34" charset="0"/>
                <a:ea typeface="Georgia" pitchFamily="34" charset="-122"/>
                <a:cs typeface="Georgia" pitchFamily="34" charset="-120"/>
              </a:rPr>
              <a:t>Logical Operators &amp; Special Operators</a:t>
            </a:r>
            <a:endParaRPr lang="en-US" sz="1100" dirty="0"/>
          </a:p>
        </p:txBody>
      </p:sp>
      <p:sp>
        <p:nvSpPr>
          <p:cNvPr id="7" name="Text 5"/>
          <p:cNvSpPr/>
          <p:nvPr/>
        </p:nvSpPr>
        <p:spPr>
          <a:xfrm>
            <a:off x="7973568" y="219456"/>
            <a:ext cx="804672" cy="237744"/>
          </a:xfrm>
          <a:prstGeom prst="rect">
            <a:avLst/>
          </a:prstGeom>
          <a:noFill/>
          <a:ln/>
        </p:spPr>
        <p:txBody>
          <a:bodyPr wrap="square" lIns="0" tIns="0" rIns="0" bIns="0" rtlCol="0" anchor="ctr"/>
          <a:lstStyle/>
          <a:p>
            <a:pPr marL="0" indent="0" algn="ctr">
              <a:buNone/>
            </a:pPr>
            <a:endParaRPr lang="en-US" sz="1000" dirty="0"/>
          </a:p>
        </p:txBody>
      </p:sp>
      <p:sp>
        <p:nvSpPr>
          <p:cNvPr id="8" name="Text 6"/>
          <p:cNvSpPr/>
          <p:nvPr/>
        </p:nvSpPr>
        <p:spPr>
          <a:xfrm>
            <a:off x="365760" y="987552"/>
            <a:ext cx="5029200" cy="201168"/>
          </a:xfrm>
          <a:prstGeom prst="rect">
            <a:avLst/>
          </a:prstGeom>
          <a:noFill/>
          <a:ln/>
        </p:spPr>
        <p:txBody>
          <a:bodyPr wrap="square" lIns="0" tIns="0" rIns="0" bIns="0" rtlCol="0" anchor="ctr"/>
          <a:lstStyle/>
          <a:p>
            <a:pPr marL="0" indent="0">
              <a:buNone/>
            </a:pPr>
            <a:r>
              <a:rPr lang="en-US" sz="950" b="1" kern="0" spc="200" dirty="0">
                <a:solidFill>
                  <a:srgbClr val="1A3A5C"/>
                </a:solidFill>
                <a:latin typeface="Trebuchet MS" pitchFamily="34" charset="0"/>
                <a:ea typeface="Trebuchet MS" pitchFamily="34" charset="-122"/>
                <a:cs typeface="Trebuchet MS" pitchFamily="34" charset="-120"/>
              </a:rPr>
              <a:t>LOGICAL OPERATORS</a:t>
            </a:r>
            <a:endParaRPr lang="en-US" sz="950" dirty="0"/>
          </a:p>
        </p:txBody>
      </p:sp>
      <p:sp>
        <p:nvSpPr>
          <p:cNvPr id="9" name="Shape 7"/>
          <p:cNvSpPr/>
          <p:nvPr/>
        </p:nvSpPr>
        <p:spPr>
          <a:xfrm>
            <a:off x="365760" y="1188720"/>
            <a:ext cx="2697480" cy="932688"/>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10" name="Shape 8"/>
          <p:cNvSpPr/>
          <p:nvPr/>
        </p:nvSpPr>
        <p:spPr>
          <a:xfrm>
            <a:off x="365760" y="1188720"/>
            <a:ext cx="2697480" cy="54864"/>
          </a:xfrm>
          <a:prstGeom prst="rect">
            <a:avLst/>
          </a:prstGeom>
          <a:solidFill>
            <a:srgbClr val="2E86C1"/>
          </a:solidFill>
          <a:ln w="12700">
            <a:solidFill>
              <a:srgbClr val="2E86C1"/>
            </a:solidFill>
            <a:prstDash val="solid"/>
          </a:ln>
        </p:spPr>
      </p:sp>
      <p:sp>
        <p:nvSpPr>
          <p:cNvPr id="11" name="Text 9"/>
          <p:cNvSpPr/>
          <p:nvPr/>
        </p:nvSpPr>
        <p:spPr>
          <a:xfrm>
            <a:off x="502920" y="1261872"/>
            <a:ext cx="2423160" cy="256032"/>
          </a:xfrm>
          <a:prstGeom prst="rect">
            <a:avLst/>
          </a:prstGeom>
          <a:noFill/>
          <a:ln/>
        </p:spPr>
        <p:txBody>
          <a:bodyPr wrap="square" lIns="0" tIns="0" rIns="0" bIns="0" rtlCol="0" anchor="ctr"/>
          <a:lstStyle/>
          <a:p>
            <a:pPr marL="0" indent="0">
              <a:buNone/>
            </a:pPr>
            <a:r>
              <a:rPr lang="en-US" sz="1400" b="1" dirty="0">
                <a:solidFill>
                  <a:srgbClr val="1A3A5C"/>
                </a:solidFill>
                <a:latin typeface="Consolas" pitchFamily="34" charset="0"/>
                <a:ea typeface="Consolas" pitchFamily="34" charset="-122"/>
                <a:cs typeface="Consolas" pitchFamily="34" charset="-120"/>
              </a:rPr>
              <a:t>AND</a:t>
            </a:r>
            <a:endParaRPr lang="en-US" sz="1400" dirty="0"/>
          </a:p>
        </p:txBody>
      </p:sp>
      <p:sp>
        <p:nvSpPr>
          <p:cNvPr id="12" name="Text 10"/>
          <p:cNvSpPr/>
          <p:nvPr/>
        </p:nvSpPr>
        <p:spPr>
          <a:xfrm>
            <a:off x="502920" y="1517904"/>
            <a:ext cx="2423160" cy="256032"/>
          </a:xfrm>
          <a:prstGeom prst="rect">
            <a:avLst/>
          </a:prstGeom>
          <a:noFill/>
          <a:ln/>
        </p:spPr>
        <p:txBody>
          <a:bodyPr wrap="square" lIns="0" tIns="0" rIns="0" bIns="0" rtlCol="0" anchor="ctr"/>
          <a:lstStyle/>
          <a:p>
            <a:pPr marL="0" indent="0">
              <a:buNone/>
            </a:pPr>
            <a:r>
              <a:rPr lang="en-US" sz="1100" dirty="0">
                <a:solidFill>
                  <a:srgbClr val="5D6D7E"/>
                </a:solidFill>
                <a:latin typeface="Trebuchet MS" pitchFamily="34" charset="0"/>
                <a:ea typeface="Trebuchet MS" pitchFamily="34" charset="-122"/>
                <a:cs typeface="Trebuchet MS" pitchFamily="34" charset="-120"/>
              </a:rPr>
              <a:t>Both conditions must be TRUE</a:t>
            </a:r>
            <a:endParaRPr lang="en-US" sz="1100" dirty="0"/>
          </a:p>
        </p:txBody>
      </p:sp>
      <p:sp>
        <p:nvSpPr>
          <p:cNvPr id="13" name="Text 11"/>
          <p:cNvSpPr/>
          <p:nvPr/>
        </p:nvSpPr>
        <p:spPr>
          <a:xfrm>
            <a:off x="502920" y="1783080"/>
            <a:ext cx="2423160" cy="256032"/>
          </a:xfrm>
          <a:prstGeom prst="rect">
            <a:avLst/>
          </a:prstGeom>
          <a:noFill/>
          <a:ln/>
        </p:spPr>
        <p:txBody>
          <a:bodyPr wrap="square" lIns="0" tIns="0" rIns="0" bIns="0" rtlCol="0" anchor="ctr"/>
          <a:lstStyle/>
          <a:p>
            <a:pPr marL="0" indent="0">
              <a:buNone/>
            </a:pPr>
            <a:r>
              <a:rPr lang="en-US" sz="950" dirty="0">
                <a:solidFill>
                  <a:srgbClr val="1A5276"/>
                </a:solidFill>
                <a:latin typeface="Consolas" pitchFamily="34" charset="0"/>
                <a:ea typeface="Consolas" pitchFamily="34" charset="-122"/>
                <a:cs typeface="Consolas" pitchFamily="34" charset="-120"/>
              </a:rPr>
              <a:t>WHERE Age &gt; 25 AND City = 'Mumbai'</a:t>
            </a:r>
            <a:endParaRPr lang="en-US" sz="950" dirty="0"/>
          </a:p>
        </p:txBody>
      </p:sp>
      <p:sp>
        <p:nvSpPr>
          <p:cNvPr id="14" name="Shape 12"/>
          <p:cNvSpPr/>
          <p:nvPr/>
        </p:nvSpPr>
        <p:spPr>
          <a:xfrm>
            <a:off x="3246120" y="1188720"/>
            <a:ext cx="2697480" cy="932688"/>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15" name="Shape 13"/>
          <p:cNvSpPr/>
          <p:nvPr/>
        </p:nvSpPr>
        <p:spPr>
          <a:xfrm>
            <a:off x="3246120" y="1188720"/>
            <a:ext cx="2697480" cy="54864"/>
          </a:xfrm>
          <a:prstGeom prst="rect">
            <a:avLst/>
          </a:prstGeom>
          <a:solidFill>
            <a:srgbClr val="2E86C1"/>
          </a:solidFill>
          <a:ln w="12700">
            <a:solidFill>
              <a:srgbClr val="2E86C1"/>
            </a:solidFill>
            <a:prstDash val="solid"/>
          </a:ln>
        </p:spPr>
      </p:sp>
      <p:sp>
        <p:nvSpPr>
          <p:cNvPr id="16" name="Text 14"/>
          <p:cNvSpPr/>
          <p:nvPr/>
        </p:nvSpPr>
        <p:spPr>
          <a:xfrm>
            <a:off x="3383280" y="1261872"/>
            <a:ext cx="2423160" cy="256032"/>
          </a:xfrm>
          <a:prstGeom prst="rect">
            <a:avLst/>
          </a:prstGeom>
          <a:noFill/>
          <a:ln/>
        </p:spPr>
        <p:txBody>
          <a:bodyPr wrap="square" lIns="0" tIns="0" rIns="0" bIns="0" rtlCol="0" anchor="ctr"/>
          <a:lstStyle/>
          <a:p>
            <a:pPr marL="0" indent="0">
              <a:buNone/>
            </a:pPr>
            <a:r>
              <a:rPr lang="en-US" sz="1400" b="1" dirty="0">
                <a:solidFill>
                  <a:srgbClr val="1A3A5C"/>
                </a:solidFill>
                <a:latin typeface="Consolas" pitchFamily="34" charset="0"/>
                <a:ea typeface="Consolas" pitchFamily="34" charset="-122"/>
                <a:cs typeface="Consolas" pitchFamily="34" charset="-120"/>
              </a:rPr>
              <a:t>OR</a:t>
            </a:r>
            <a:endParaRPr lang="en-US" sz="1400" dirty="0"/>
          </a:p>
        </p:txBody>
      </p:sp>
      <p:sp>
        <p:nvSpPr>
          <p:cNvPr id="17" name="Text 15"/>
          <p:cNvSpPr/>
          <p:nvPr/>
        </p:nvSpPr>
        <p:spPr>
          <a:xfrm>
            <a:off x="3383280" y="1517904"/>
            <a:ext cx="2423160" cy="256032"/>
          </a:xfrm>
          <a:prstGeom prst="rect">
            <a:avLst/>
          </a:prstGeom>
          <a:noFill/>
          <a:ln/>
        </p:spPr>
        <p:txBody>
          <a:bodyPr wrap="square" lIns="0" tIns="0" rIns="0" bIns="0" rtlCol="0" anchor="ctr"/>
          <a:lstStyle/>
          <a:p>
            <a:pPr marL="0" indent="0">
              <a:buNone/>
            </a:pPr>
            <a:r>
              <a:rPr lang="en-US" sz="1100" dirty="0">
                <a:solidFill>
                  <a:srgbClr val="5D6D7E"/>
                </a:solidFill>
                <a:latin typeface="Trebuchet MS" pitchFamily="34" charset="0"/>
                <a:ea typeface="Trebuchet MS" pitchFamily="34" charset="-122"/>
                <a:cs typeface="Trebuchet MS" pitchFamily="34" charset="-120"/>
              </a:rPr>
              <a:t>At least one condition is TRUE</a:t>
            </a:r>
            <a:endParaRPr lang="en-US" sz="1100" dirty="0"/>
          </a:p>
        </p:txBody>
      </p:sp>
      <p:sp>
        <p:nvSpPr>
          <p:cNvPr id="18" name="Text 16"/>
          <p:cNvSpPr/>
          <p:nvPr/>
        </p:nvSpPr>
        <p:spPr>
          <a:xfrm>
            <a:off x="3383280" y="1783080"/>
            <a:ext cx="2423160" cy="256032"/>
          </a:xfrm>
          <a:prstGeom prst="rect">
            <a:avLst/>
          </a:prstGeom>
          <a:noFill/>
          <a:ln/>
        </p:spPr>
        <p:txBody>
          <a:bodyPr wrap="square" lIns="0" tIns="0" rIns="0" bIns="0" rtlCol="0" anchor="ctr"/>
          <a:lstStyle/>
          <a:p>
            <a:pPr marL="0" indent="0">
              <a:buNone/>
            </a:pPr>
            <a:r>
              <a:rPr lang="en-US" sz="950" dirty="0">
                <a:solidFill>
                  <a:srgbClr val="1A5276"/>
                </a:solidFill>
                <a:latin typeface="Consolas" pitchFamily="34" charset="0"/>
                <a:ea typeface="Consolas" pitchFamily="34" charset="-122"/>
                <a:cs typeface="Consolas" pitchFamily="34" charset="-120"/>
              </a:rPr>
              <a:t>WHERE Dept = 'HR' OR Dept = 'IT'</a:t>
            </a:r>
            <a:endParaRPr lang="en-US" sz="950" dirty="0"/>
          </a:p>
        </p:txBody>
      </p:sp>
      <p:sp>
        <p:nvSpPr>
          <p:cNvPr id="19" name="Shape 17"/>
          <p:cNvSpPr/>
          <p:nvPr/>
        </p:nvSpPr>
        <p:spPr>
          <a:xfrm>
            <a:off x="6126480" y="1188720"/>
            <a:ext cx="2697480" cy="932688"/>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20" name="Shape 18"/>
          <p:cNvSpPr/>
          <p:nvPr/>
        </p:nvSpPr>
        <p:spPr>
          <a:xfrm>
            <a:off x="6126480" y="1188720"/>
            <a:ext cx="2697480" cy="54864"/>
          </a:xfrm>
          <a:prstGeom prst="rect">
            <a:avLst/>
          </a:prstGeom>
          <a:solidFill>
            <a:srgbClr val="2E86C1"/>
          </a:solidFill>
          <a:ln w="12700">
            <a:solidFill>
              <a:srgbClr val="2E86C1"/>
            </a:solidFill>
            <a:prstDash val="solid"/>
          </a:ln>
        </p:spPr>
      </p:sp>
      <p:sp>
        <p:nvSpPr>
          <p:cNvPr id="21" name="Text 19"/>
          <p:cNvSpPr/>
          <p:nvPr/>
        </p:nvSpPr>
        <p:spPr>
          <a:xfrm>
            <a:off x="6263640" y="1261872"/>
            <a:ext cx="2423160" cy="256032"/>
          </a:xfrm>
          <a:prstGeom prst="rect">
            <a:avLst/>
          </a:prstGeom>
          <a:noFill/>
          <a:ln/>
        </p:spPr>
        <p:txBody>
          <a:bodyPr wrap="square" lIns="0" tIns="0" rIns="0" bIns="0" rtlCol="0" anchor="ctr"/>
          <a:lstStyle/>
          <a:p>
            <a:pPr marL="0" indent="0">
              <a:buNone/>
            </a:pPr>
            <a:r>
              <a:rPr lang="en-US" sz="1400" b="1" dirty="0">
                <a:solidFill>
                  <a:srgbClr val="1A3A5C"/>
                </a:solidFill>
                <a:latin typeface="Consolas" pitchFamily="34" charset="0"/>
                <a:ea typeface="Consolas" pitchFamily="34" charset="-122"/>
                <a:cs typeface="Consolas" pitchFamily="34" charset="-120"/>
              </a:rPr>
              <a:t>NOT</a:t>
            </a:r>
            <a:endParaRPr lang="en-US" sz="1400" dirty="0"/>
          </a:p>
        </p:txBody>
      </p:sp>
      <p:sp>
        <p:nvSpPr>
          <p:cNvPr id="22" name="Text 20"/>
          <p:cNvSpPr/>
          <p:nvPr/>
        </p:nvSpPr>
        <p:spPr>
          <a:xfrm>
            <a:off x="6263640" y="1517904"/>
            <a:ext cx="2423160" cy="256032"/>
          </a:xfrm>
          <a:prstGeom prst="rect">
            <a:avLst/>
          </a:prstGeom>
          <a:noFill/>
          <a:ln/>
        </p:spPr>
        <p:txBody>
          <a:bodyPr wrap="square" lIns="0" tIns="0" rIns="0" bIns="0" rtlCol="0" anchor="ctr"/>
          <a:lstStyle/>
          <a:p>
            <a:pPr marL="0" indent="0">
              <a:buNone/>
            </a:pPr>
            <a:r>
              <a:rPr lang="en-US" sz="1100" dirty="0">
                <a:solidFill>
                  <a:srgbClr val="5D6D7E"/>
                </a:solidFill>
                <a:latin typeface="Trebuchet MS" pitchFamily="34" charset="0"/>
                <a:ea typeface="Trebuchet MS" pitchFamily="34" charset="-122"/>
                <a:cs typeface="Trebuchet MS" pitchFamily="34" charset="-120"/>
              </a:rPr>
              <a:t>Negates the condition</a:t>
            </a:r>
            <a:endParaRPr lang="en-US" sz="1100" dirty="0"/>
          </a:p>
        </p:txBody>
      </p:sp>
      <p:sp>
        <p:nvSpPr>
          <p:cNvPr id="23" name="Text 21"/>
          <p:cNvSpPr/>
          <p:nvPr/>
        </p:nvSpPr>
        <p:spPr>
          <a:xfrm>
            <a:off x="6263640" y="1783080"/>
            <a:ext cx="2423160" cy="256032"/>
          </a:xfrm>
          <a:prstGeom prst="rect">
            <a:avLst/>
          </a:prstGeom>
          <a:noFill/>
          <a:ln/>
        </p:spPr>
        <p:txBody>
          <a:bodyPr wrap="square" lIns="0" tIns="0" rIns="0" bIns="0" rtlCol="0" anchor="ctr"/>
          <a:lstStyle/>
          <a:p>
            <a:pPr marL="0" indent="0">
              <a:buNone/>
            </a:pPr>
            <a:r>
              <a:rPr lang="en-US" sz="950" dirty="0">
                <a:solidFill>
                  <a:srgbClr val="1A5276"/>
                </a:solidFill>
                <a:latin typeface="Consolas" pitchFamily="34" charset="0"/>
                <a:ea typeface="Consolas" pitchFamily="34" charset="-122"/>
                <a:cs typeface="Consolas" pitchFamily="34" charset="-120"/>
              </a:rPr>
              <a:t>WHERE NOT Status = 'Inactive'</a:t>
            </a:r>
            <a:endParaRPr lang="en-US" sz="950" dirty="0"/>
          </a:p>
        </p:txBody>
      </p:sp>
      <p:sp>
        <p:nvSpPr>
          <p:cNvPr id="24" name="Text 22"/>
          <p:cNvSpPr/>
          <p:nvPr/>
        </p:nvSpPr>
        <p:spPr>
          <a:xfrm>
            <a:off x="365760" y="2267712"/>
            <a:ext cx="5029200" cy="201168"/>
          </a:xfrm>
          <a:prstGeom prst="rect">
            <a:avLst/>
          </a:prstGeom>
          <a:noFill/>
          <a:ln/>
        </p:spPr>
        <p:txBody>
          <a:bodyPr wrap="square" lIns="0" tIns="0" rIns="0" bIns="0" rtlCol="0" anchor="ctr"/>
          <a:lstStyle/>
          <a:p>
            <a:pPr marL="0" indent="0">
              <a:buNone/>
            </a:pPr>
            <a:r>
              <a:rPr lang="en-US" sz="950" b="1" kern="0" spc="200" dirty="0">
                <a:solidFill>
                  <a:srgbClr val="D35400"/>
                </a:solidFill>
                <a:latin typeface="Trebuchet MS" pitchFamily="34" charset="0"/>
                <a:ea typeface="Trebuchet MS" pitchFamily="34" charset="-122"/>
                <a:cs typeface="Trebuchet MS" pitchFamily="34" charset="-120"/>
              </a:rPr>
              <a:t>SPECIAL OPERATORS</a:t>
            </a:r>
            <a:endParaRPr lang="en-US" sz="950" dirty="0"/>
          </a:p>
        </p:txBody>
      </p:sp>
      <p:sp>
        <p:nvSpPr>
          <p:cNvPr id="25" name="Shape 23"/>
          <p:cNvSpPr/>
          <p:nvPr/>
        </p:nvSpPr>
        <p:spPr>
          <a:xfrm>
            <a:off x="365760" y="2468880"/>
            <a:ext cx="4206240" cy="914400"/>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26" name="Shape 24"/>
          <p:cNvSpPr/>
          <p:nvPr/>
        </p:nvSpPr>
        <p:spPr>
          <a:xfrm>
            <a:off x="365760" y="2468880"/>
            <a:ext cx="54864" cy="914400"/>
          </a:xfrm>
          <a:prstGeom prst="rect">
            <a:avLst/>
          </a:prstGeom>
          <a:solidFill>
            <a:srgbClr val="D35400"/>
          </a:solidFill>
          <a:ln w="12700">
            <a:solidFill>
              <a:srgbClr val="D35400"/>
            </a:solidFill>
            <a:prstDash val="solid"/>
          </a:ln>
        </p:spPr>
      </p:sp>
      <p:sp>
        <p:nvSpPr>
          <p:cNvPr id="27" name="Text 25"/>
          <p:cNvSpPr/>
          <p:nvPr/>
        </p:nvSpPr>
        <p:spPr>
          <a:xfrm>
            <a:off x="530352" y="2542032"/>
            <a:ext cx="1371600" cy="256032"/>
          </a:xfrm>
          <a:prstGeom prst="rect">
            <a:avLst/>
          </a:prstGeom>
          <a:noFill/>
          <a:ln/>
        </p:spPr>
        <p:txBody>
          <a:bodyPr wrap="square" lIns="0" tIns="0" rIns="0" bIns="0" rtlCol="0" anchor="ctr"/>
          <a:lstStyle/>
          <a:p>
            <a:pPr marL="0" indent="0">
              <a:buNone/>
            </a:pPr>
            <a:r>
              <a:rPr lang="en-US" sz="1300" b="1" dirty="0">
                <a:solidFill>
                  <a:srgbClr val="D35400"/>
                </a:solidFill>
                <a:latin typeface="Consolas" pitchFamily="34" charset="0"/>
                <a:ea typeface="Consolas" pitchFamily="34" charset="-122"/>
                <a:cs typeface="Consolas" pitchFamily="34" charset="-120"/>
              </a:rPr>
              <a:t>LIKE</a:t>
            </a:r>
            <a:endParaRPr lang="en-US" sz="1300" dirty="0"/>
          </a:p>
        </p:txBody>
      </p:sp>
      <p:sp>
        <p:nvSpPr>
          <p:cNvPr id="28" name="Text 26"/>
          <p:cNvSpPr/>
          <p:nvPr/>
        </p:nvSpPr>
        <p:spPr>
          <a:xfrm>
            <a:off x="530352" y="2816352"/>
            <a:ext cx="3840480" cy="219456"/>
          </a:xfrm>
          <a:prstGeom prst="rect">
            <a:avLst/>
          </a:prstGeom>
          <a:noFill/>
          <a:ln/>
        </p:spPr>
        <p:txBody>
          <a:bodyPr wrap="square" lIns="0" tIns="0" rIns="0" bIns="0" rtlCol="0" anchor="ctr"/>
          <a:lstStyle/>
          <a:p>
            <a:pPr marL="0" indent="0">
              <a:buNone/>
            </a:pPr>
            <a:r>
              <a:rPr lang="en-US" sz="1100" dirty="0">
                <a:solidFill>
                  <a:srgbClr val="1A5276"/>
                </a:solidFill>
                <a:latin typeface="Consolas" pitchFamily="34" charset="0"/>
                <a:ea typeface="Consolas" pitchFamily="34" charset="-122"/>
                <a:cs typeface="Consolas" pitchFamily="34" charset="-120"/>
              </a:rPr>
              <a:t>WHERE Name LIKE 'A%'</a:t>
            </a:r>
            <a:endParaRPr lang="en-US" sz="1100" dirty="0"/>
          </a:p>
        </p:txBody>
      </p:sp>
      <p:sp>
        <p:nvSpPr>
          <p:cNvPr id="29" name="Text 27"/>
          <p:cNvSpPr/>
          <p:nvPr/>
        </p:nvSpPr>
        <p:spPr>
          <a:xfrm>
            <a:off x="530352" y="3072384"/>
            <a:ext cx="3840480" cy="219456"/>
          </a:xfrm>
          <a:prstGeom prst="rect">
            <a:avLst/>
          </a:prstGeom>
          <a:noFill/>
          <a:ln/>
        </p:spPr>
        <p:txBody>
          <a:bodyPr wrap="square" lIns="0" tIns="0" rIns="0" bIns="0" rtlCol="0" anchor="ctr"/>
          <a:lstStyle/>
          <a:p>
            <a:pPr marL="0" indent="0">
              <a:buNone/>
            </a:pPr>
            <a:r>
              <a:rPr lang="en-US" sz="1100" dirty="0">
                <a:solidFill>
                  <a:srgbClr val="5D6D7E"/>
                </a:solidFill>
                <a:latin typeface="Trebuchet MS" pitchFamily="34" charset="0"/>
                <a:ea typeface="Trebuchet MS" pitchFamily="34" charset="-122"/>
                <a:cs typeface="Trebuchet MS" pitchFamily="34" charset="-120"/>
              </a:rPr>
              <a:t>Pattern match. % = any chars, _ = one char</a:t>
            </a:r>
            <a:endParaRPr lang="en-US" sz="1100" dirty="0"/>
          </a:p>
        </p:txBody>
      </p:sp>
      <p:sp>
        <p:nvSpPr>
          <p:cNvPr id="30" name="Shape 28"/>
          <p:cNvSpPr/>
          <p:nvPr/>
        </p:nvSpPr>
        <p:spPr>
          <a:xfrm>
            <a:off x="4800600" y="2468880"/>
            <a:ext cx="4206240" cy="914400"/>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31" name="Shape 29"/>
          <p:cNvSpPr/>
          <p:nvPr/>
        </p:nvSpPr>
        <p:spPr>
          <a:xfrm>
            <a:off x="4800600" y="2468880"/>
            <a:ext cx="54864" cy="914400"/>
          </a:xfrm>
          <a:prstGeom prst="rect">
            <a:avLst/>
          </a:prstGeom>
          <a:solidFill>
            <a:srgbClr val="D35400"/>
          </a:solidFill>
          <a:ln w="12700">
            <a:solidFill>
              <a:srgbClr val="D35400"/>
            </a:solidFill>
            <a:prstDash val="solid"/>
          </a:ln>
        </p:spPr>
      </p:sp>
      <p:sp>
        <p:nvSpPr>
          <p:cNvPr id="32" name="Text 30"/>
          <p:cNvSpPr/>
          <p:nvPr/>
        </p:nvSpPr>
        <p:spPr>
          <a:xfrm>
            <a:off x="4965192" y="2542032"/>
            <a:ext cx="1371600" cy="256032"/>
          </a:xfrm>
          <a:prstGeom prst="rect">
            <a:avLst/>
          </a:prstGeom>
          <a:noFill/>
          <a:ln/>
        </p:spPr>
        <p:txBody>
          <a:bodyPr wrap="square" lIns="0" tIns="0" rIns="0" bIns="0" rtlCol="0" anchor="ctr"/>
          <a:lstStyle/>
          <a:p>
            <a:pPr marL="0" indent="0">
              <a:buNone/>
            </a:pPr>
            <a:r>
              <a:rPr lang="en-US" sz="1300" b="1" dirty="0">
                <a:solidFill>
                  <a:srgbClr val="D35400"/>
                </a:solidFill>
                <a:latin typeface="Consolas" pitchFamily="34" charset="0"/>
                <a:ea typeface="Consolas" pitchFamily="34" charset="-122"/>
                <a:cs typeface="Consolas" pitchFamily="34" charset="-120"/>
              </a:rPr>
              <a:t>IN</a:t>
            </a:r>
            <a:endParaRPr lang="en-US" sz="1300" dirty="0"/>
          </a:p>
        </p:txBody>
      </p:sp>
      <p:sp>
        <p:nvSpPr>
          <p:cNvPr id="33" name="Text 31"/>
          <p:cNvSpPr/>
          <p:nvPr/>
        </p:nvSpPr>
        <p:spPr>
          <a:xfrm>
            <a:off x="4965192" y="2816352"/>
            <a:ext cx="3840480" cy="219456"/>
          </a:xfrm>
          <a:prstGeom prst="rect">
            <a:avLst/>
          </a:prstGeom>
          <a:noFill/>
          <a:ln/>
        </p:spPr>
        <p:txBody>
          <a:bodyPr wrap="square" lIns="0" tIns="0" rIns="0" bIns="0" rtlCol="0" anchor="ctr"/>
          <a:lstStyle/>
          <a:p>
            <a:pPr marL="0" indent="0">
              <a:buNone/>
            </a:pPr>
            <a:r>
              <a:rPr lang="en-US" sz="1100" dirty="0">
                <a:solidFill>
                  <a:srgbClr val="1A5276"/>
                </a:solidFill>
                <a:latin typeface="Consolas" pitchFamily="34" charset="0"/>
                <a:ea typeface="Consolas" pitchFamily="34" charset="-122"/>
                <a:cs typeface="Consolas" pitchFamily="34" charset="-120"/>
              </a:rPr>
              <a:t>WHERE City IN ('Delhi','Mumbai')</a:t>
            </a:r>
            <a:endParaRPr lang="en-US" sz="1100" dirty="0"/>
          </a:p>
        </p:txBody>
      </p:sp>
      <p:sp>
        <p:nvSpPr>
          <p:cNvPr id="34" name="Text 32"/>
          <p:cNvSpPr/>
          <p:nvPr/>
        </p:nvSpPr>
        <p:spPr>
          <a:xfrm>
            <a:off x="4965192" y="3072384"/>
            <a:ext cx="3840480" cy="219456"/>
          </a:xfrm>
          <a:prstGeom prst="rect">
            <a:avLst/>
          </a:prstGeom>
          <a:noFill/>
          <a:ln/>
        </p:spPr>
        <p:txBody>
          <a:bodyPr wrap="square" lIns="0" tIns="0" rIns="0" bIns="0" rtlCol="0" anchor="ctr"/>
          <a:lstStyle/>
          <a:p>
            <a:pPr marL="0" indent="0">
              <a:buNone/>
            </a:pPr>
            <a:r>
              <a:rPr lang="en-US" sz="1100" dirty="0">
                <a:solidFill>
                  <a:srgbClr val="5D6D7E"/>
                </a:solidFill>
                <a:latin typeface="Trebuchet MS" pitchFamily="34" charset="0"/>
                <a:ea typeface="Trebuchet MS" pitchFamily="34" charset="-122"/>
                <a:cs typeface="Trebuchet MS" pitchFamily="34" charset="-120"/>
              </a:rPr>
              <a:t>Matches any value from a list</a:t>
            </a:r>
            <a:endParaRPr lang="en-US" sz="1100" dirty="0"/>
          </a:p>
        </p:txBody>
      </p:sp>
      <p:sp>
        <p:nvSpPr>
          <p:cNvPr id="35" name="Shape 33"/>
          <p:cNvSpPr/>
          <p:nvPr/>
        </p:nvSpPr>
        <p:spPr>
          <a:xfrm>
            <a:off x="365760" y="3456432"/>
            <a:ext cx="4206240" cy="914400"/>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36" name="Shape 34"/>
          <p:cNvSpPr/>
          <p:nvPr/>
        </p:nvSpPr>
        <p:spPr>
          <a:xfrm>
            <a:off x="365760" y="3456432"/>
            <a:ext cx="54864" cy="914400"/>
          </a:xfrm>
          <a:prstGeom prst="rect">
            <a:avLst/>
          </a:prstGeom>
          <a:solidFill>
            <a:srgbClr val="D35400"/>
          </a:solidFill>
          <a:ln w="12700">
            <a:solidFill>
              <a:srgbClr val="D35400"/>
            </a:solidFill>
            <a:prstDash val="solid"/>
          </a:ln>
        </p:spPr>
      </p:sp>
      <p:sp>
        <p:nvSpPr>
          <p:cNvPr id="37" name="Text 35"/>
          <p:cNvSpPr/>
          <p:nvPr/>
        </p:nvSpPr>
        <p:spPr>
          <a:xfrm>
            <a:off x="530352" y="3529584"/>
            <a:ext cx="1371600" cy="256032"/>
          </a:xfrm>
          <a:prstGeom prst="rect">
            <a:avLst/>
          </a:prstGeom>
          <a:noFill/>
          <a:ln/>
        </p:spPr>
        <p:txBody>
          <a:bodyPr wrap="square" lIns="0" tIns="0" rIns="0" bIns="0" rtlCol="0" anchor="ctr"/>
          <a:lstStyle/>
          <a:p>
            <a:pPr marL="0" indent="0">
              <a:buNone/>
            </a:pPr>
            <a:r>
              <a:rPr lang="en-US" sz="1300" b="1" dirty="0">
                <a:solidFill>
                  <a:srgbClr val="D35400"/>
                </a:solidFill>
                <a:latin typeface="Consolas" pitchFamily="34" charset="0"/>
                <a:ea typeface="Consolas" pitchFamily="34" charset="-122"/>
                <a:cs typeface="Consolas" pitchFamily="34" charset="-120"/>
              </a:rPr>
              <a:t>BETWEEN</a:t>
            </a:r>
            <a:endParaRPr lang="en-US" sz="1300" dirty="0"/>
          </a:p>
        </p:txBody>
      </p:sp>
      <p:sp>
        <p:nvSpPr>
          <p:cNvPr id="38" name="Text 36"/>
          <p:cNvSpPr/>
          <p:nvPr/>
        </p:nvSpPr>
        <p:spPr>
          <a:xfrm>
            <a:off x="530352" y="3803904"/>
            <a:ext cx="3840480" cy="219456"/>
          </a:xfrm>
          <a:prstGeom prst="rect">
            <a:avLst/>
          </a:prstGeom>
          <a:noFill/>
          <a:ln/>
        </p:spPr>
        <p:txBody>
          <a:bodyPr wrap="square" lIns="0" tIns="0" rIns="0" bIns="0" rtlCol="0" anchor="ctr"/>
          <a:lstStyle/>
          <a:p>
            <a:pPr marL="0" indent="0">
              <a:buNone/>
            </a:pPr>
            <a:r>
              <a:rPr lang="en-US" sz="1100" dirty="0">
                <a:solidFill>
                  <a:srgbClr val="1A5276"/>
                </a:solidFill>
                <a:latin typeface="Consolas" pitchFamily="34" charset="0"/>
                <a:ea typeface="Consolas" pitchFamily="34" charset="-122"/>
                <a:cs typeface="Consolas" pitchFamily="34" charset="-120"/>
              </a:rPr>
              <a:t>WHERE Age BETWEEN 20 AND 30</a:t>
            </a:r>
            <a:endParaRPr lang="en-US" sz="1100" dirty="0"/>
          </a:p>
        </p:txBody>
      </p:sp>
      <p:sp>
        <p:nvSpPr>
          <p:cNvPr id="39" name="Text 37"/>
          <p:cNvSpPr/>
          <p:nvPr/>
        </p:nvSpPr>
        <p:spPr>
          <a:xfrm>
            <a:off x="530352" y="4059936"/>
            <a:ext cx="3840480" cy="219456"/>
          </a:xfrm>
          <a:prstGeom prst="rect">
            <a:avLst/>
          </a:prstGeom>
          <a:noFill/>
          <a:ln/>
        </p:spPr>
        <p:txBody>
          <a:bodyPr wrap="square" lIns="0" tIns="0" rIns="0" bIns="0" rtlCol="0" anchor="ctr"/>
          <a:lstStyle/>
          <a:p>
            <a:pPr marL="0" indent="0">
              <a:buNone/>
            </a:pPr>
            <a:r>
              <a:rPr lang="en-US" sz="1100" dirty="0">
                <a:solidFill>
                  <a:srgbClr val="5D6D7E"/>
                </a:solidFill>
                <a:latin typeface="Trebuchet MS" pitchFamily="34" charset="0"/>
                <a:ea typeface="Trebuchet MS" pitchFamily="34" charset="-122"/>
                <a:cs typeface="Trebuchet MS" pitchFamily="34" charset="-120"/>
              </a:rPr>
              <a:t>Range check — inclusive on both ends</a:t>
            </a:r>
            <a:endParaRPr lang="en-US" sz="1100" dirty="0"/>
          </a:p>
        </p:txBody>
      </p:sp>
      <p:sp>
        <p:nvSpPr>
          <p:cNvPr id="40" name="Shape 38"/>
          <p:cNvSpPr/>
          <p:nvPr/>
        </p:nvSpPr>
        <p:spPr>
          <a:xfrm>
            <a:off x="4800600" y="3456432"/>
            <a:ext cx="4206240" cy="914400"/>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41" name="Shape 39"/>
          <p:cNvSpPr/>
          <p:nvPr/>
        </p:nvSpPr>
        <p:spPr>
          <a:xfrm>
            <a:off x="4800600" y="3456432"/>
            <a:ext cx="54864" cy="914400"/>
          </a:xfrm>
          <a:prstGeom prst="rect">
            <a:avLst/>
          </a:prstGeom>
          <a:solidFill>
            <a:srgbClr val="D35400"/>
          </a:solidFill>
          <a:ln w="12700">
            <a:solidFill>
              <a:srgbClr val="D35400"/>
            </a:solidFill>
            <a:prstDash val="solid"/>
          </a:ln>
        </p:spPr>
      </p:sp>
      <p:sp>
        <p:nvSpPr>
          <p:cNvPr id="42" name="Text 40"/>
          <p:cNvSpPr/>
          <p:nvPr/>
        </p:nvSpPr>
        <p:spPr>
          <a:xfrm>
            <a:off x="4965192" y="3529584"/>
            <a:ext cx="1371600" cy="256032"/>
          </a:xfrm>
          <a:prstGeom prst="rect">
            <a:avLst/>
          </a:prstGeom>
          <a:noFill/>
          <a:ln/>
        </p:spPr>
        <p:txBody>
          <a:bodyPr wrap="square" lIns="0" tIns="0" rIns="0" bIns="0" rtlCol="0" anchor="ctr"/>
          <a:lstStyle/>
          <a:p>
            <a:pPr marL="0" indent="0">
              <a:buNone/>
            </a:pPr>
            <a:r>
              <a:rPr lang="en-US" sz="1300" b="1" dirty="0">
                <a:solidFill>
                  <a:srgbClr val="D35400"/>
                </a:solidFill>
                <a:latin typeface="Consolas" pitchFamily="34" charset="0"/>
                <a:ea typeface="Consolas" pitchFamily="34" charset="-122"/>
                <a:cs typeface="Consolas" pitchFamily="34" charset="-120"/>
              </a:rPr>
              <a:t>IS NULL</a:t>
            </a:r>
            <a:endParaRPr lang="en-US" sz="1300" dirty="0"/>
          </a:p>
        </p:txBody>
      </p:sp>
      <p:sp>
        <p:nvSpPr>
          <p:cNvPr id="43" name="Text 41"/>
          <p:cNvSpPr/>
          <p:nvPr/>
        </p:nvSpPr>
        <p:spPr>
          <a:xfrm>
            <a:off x="4965192" y="3803904"/>
            <a:ext cx="3840480" cy="219456"/>
          </a:xfrm>
          <a:prstGeom prst="rect">
            <a:avLst/>
          </a:prstGeom>
          <a:noFill/>
          <a:ln/>
        </p:spPr>
        <p:txBody>
          <a:bodyPr wrap="square" lIns="0" tIns="0" rIns="0" bIns="0" rtlCol="0" anchor="ctr"/>
          <a:lstStyle/>
          <a:p>
            <a:pPr marL="0" indent="0">
              <a:buNone/>
            </a:pPr>
            <a:r>
              <a:rPr lang="en-US" sz="1100" dirty="0">
                <a:solidFill>
                  <a:srgbClr val="1A5276"/>
                </a:solidFill>
                <a:latin typeface="Consolas" pitchFamily="34" charset="0"/>
                <a:ea typeface="Consolas" pitchFamily="34" charset="-122"/>
                <a:cs typeface="Consolas" pitchFamily="34" charset="-120"/>
              </a:rPr>
              <a:t>WHERE Email IS NULL</a:t>
            </a:r>
            <a:endParaRPr lang="en-US" sz="1100" dirty="0"/>
          </a:p>
        </p:txBody>
      </p:sp>
      <p:sp>
        <p:nvSpPr>
          <p:cNvPr id="44" name="Text 42"/>
          <p:cNvSpPr/>
          <p:nvPr/>
        </p:nvSpPr>
        <p:spPr>
          <a:xfrm>
            <a:off x="4965192" y="4059936"/>
            <a:ext cx="3840480" cy="219456"/>
          </a:xfrm>
          <a:prstGeom prst="rect">
            <a:avLst/>
          </a:prstGeom>
          <a:noFill/>
          <a:ln/>
        </p:spPr>
        <p:txBody>
          <a:bodyPr wrap="square" lIns="0" tIns="0" rIns="0" bIns="0" rtlCol="0" anchor="ctr"/>
          <a:lstStyle/>
          <a:p>
            <a:pPr marL="0" indent="0">
              <a:buNone/>
            </a:pPr>
            <a:r>
              <a:rPr lang="en-US" sz="1100" dirty="0">
                <a:solidFill>
                  <a:srgbClr val="5D6D7E"/>
                </a:solidFill>
                <a:latin typeface="Trebuchet MS" pitchFamily="34" charset="0"/>
                <a:ea typeface="Trebuchet MS" pitchFamily="34" charset="-122"/>
                <a:cs typeface="Trebuchet MS" pitchFamily="34" charset="-120"/>
              </a:rPr>
              <a:t>Checks for missing / empty values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3A5C"/>
          </a:solidFill>
          <a:ln w="12700">
            <a:solidFill>
              <a:srgbClr val="1A3A5C"/>
            </a:solidFill>
            <a:prstDash val="solid"/>
          </a:ln>
        </p:spPr>
      </p:sp>
      <p:sp>
        <p:nvSpPr>
          <p:cNvPr id="3" name="Shape 1"/>
          <p:cNvSpPr/>
          <p:nvPr/>
        </p:nvSpPr>
        <p:spPr>
          <a:xfrm>
            <a:off x="0" y="73152"/>
            <a:ext cx="9144000" cy="749808"/>
          </a:xfrm>
          <a:prstGeom prst="rect">
            <a:avLst/>
          </a:prstGeom>
          <a:solidFill>
            <a:srgbClr val="1A3A5C"/>
          </a:solidFill>
          <a:ln w="12700">
            <a:solidFill>
              <a:srgbClr val="1A3A5C"/>
            </a:solidFill>
            <a:prstDash val="solid"/>
          </a:ln>
        </p:spPr>
      </p:sp>
      <p:sp>
        <p:nvSpPr>
          <p:cNvPr id="4" name="Text 2"/>
          <p:cNvSpPr/>
          <p:nvPr/>
        </p:nvSpPr>
        <p:spPr>
          <a:xfrm>
            <a:off x="457200" y="118872"/>
            <a:ext cx="7132320" cy="420624"/>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GROUP BY Clause</a:t>
            </a:r>
            <a:endParaRPr lang="en-US" sz="2800" dirty="0"/>
          </a:p>
        </p:txBody>
      </p:sp>
      <p:sp>
        <p:nvSpPr>
          <p:cNvPr id="5" name="Text 3"/>
          <p:cNvSpPr/>
          <p:nvPr/>
        </p:nvSpPr>
        <p:spPr>
          <a:xfrm>
            <a:off x="457200" y="557784"/>
            <a:ext cx="7132320" cy="201168"/>
          </a:xfrm>
          <a:prstGeom prst="rect">
            <a:avLst/>
          </a:prstGeom>
          <a:noFill/>
          <a:ln/>
        </p:spPr>
        <p:txBody>
          <a:bodyPr wrap="square" lIns="0" tIns="0" rIns="0" bIns="0" rtlCol="0" anchor="ctr"/>
          <a:lstStyle/>
          <a:p>
            <a:pPr marL="0" indent="0">
              <a:buNone/>
            </a:pPr>
            <a:r>
              <a:rPr lang="en-US" sz="1100" i="1" dirty="0">
                <a:solidFill>
                  <a:srgbClr val="D6E8F5"/>
                </a:solidFill>
                <a:latin typeface="Georgia" pitchFamily="34" charset="0"/>
                <a:ea typeface="Georgia" pitchFamily="34" charset="-122"/>
                <a:cs typeface="Georgia" pitchFamily="34" charset="-120"/>
              </a:rPr>
              <a:t>Definition, Syntax &amp; Aggregate Functions</a:t>
            </a:r>
            <a:endParaRPr lang="en-US" sz="1100" dirty="0"/>
          </a:p>
        </p:txBody>
      </p:sp>
      <p:sp>
        <p:nvSpPr>
          <p:cNvPr id="7" name="Text 5"/>
          <p:cNvSpPr/>
          <p:nvPr/>
        </p:nvSpPr>
        <p:spPr>
          <a:xfrm>
            <a:off x="7973568" y="219456"/>
            <a:ext cx="804672" cy="237744"/>
          </a:xfrm>
          <a:prstGeom prst="rect">
            <a:avLst/>
          </a:prstGeom>
          <a:noFill/>
          <a:ln/>
        </p:spPr>
        <p:txBody>
          <a:bodyPr wrap="square" lIns="0" tIns="0" rIns="0" bIns="0" rtlCol="0" anchor="ctr"/>
          <a:lstStyle/>
          <a:p>
            <a:pPr marL="0" indent="0" algn="ctr">
              <a:buNone/>
            </a:pPr>
            <a:endParaRPr lang="en-US" sz="1000" dirty="0"/>
          </a:p>
        </p:txBody>
      </p:sp>
      <p:sp>
        <p:nvSpPr>
          <p:cNvPr id="8" name="Text 6"/>
          <p:cNvSpPr/>
          <p:nvPr/>
        </p:nvSpPr>
        <p:spPr>
          <a:xfrm>
            <a:off x="365760" y="987552"/>
            <a:ext cx="5029200" cy="201168"/>
          </a:xfrm>
          <a:prstGeom prst="rect">
            <a:avLst/>
          </a:prstGeom>
          <a:noFill/>
          <a:ln/>
        </p:spPr>
        <p:txBody>
          <a:bodyPr wrap="square" lIns="0" tIns="0" rIns="0" bIns="0" rtlCol="0" anchor="ctr"/>
          <a:lstStyle/>
          <a:p>
            <a:pPr marL="0" indent="0">
              <a:buNone/>
            </a:pPr>
            <a:r>
              <a:rPr lang="en-US" sz="950" b="1" kern="0" spc="200" dirty="0">
                <a:solidFill>
                  <a:srgbClr val="2E86C1"/>
                </a:solidFill>
                <a:latin typeface="Trebuchet MS" pitchFamily="34" charset="0"/>
                <a:ea typeface="Trebuchet MS" pitchFamily="34" charset="-122"/>
                <a:cs typeface="Trebuchet MS" pitchFamily="34" charset="-120"/>
              </a:rPr>
              <a:t>DEFINITION</a:t>
            </a:r>
            <a:endParaRPr lang="en-US" sz="950" dirty="0"/>
          </a:p>
        </p:txBody>
      </p:sp>
      <p:sp>
        <p:nvSpPr>
          <p:cNvPr id="9" name="Shape 7"/>
          <p:cNvSpPr/>
          <p:nvPr/>
        </p:nvSpPr>
        <p:spPr>
          <a:xfrm>
            <a:off x="365760" y="987552"/>
            <a:ext cx="8412480" cy="804672"/>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10" name="Shape 8"/>
          <p:cNvSpPr/>
          <p:nvPr/>
        </p:nvSpPr>
        <p:spPr>
          <a:xfrm>
            <a:off x="365760" y="987552"/>
            <a:ext cx="54864" cy="804672"/>
          </a:xfrm>
          <a:prstGeom prst="rect">
            <a:avLst/>
          </a:prstGeom>
          <a:solidFill>
            <a:srgbClr val="2E86C1"/>
          </a:solidFill>
          <a:ln w="12700">
            <a:solidFill>
              <a:srgbClr val="2E86C1"/>
            </a:solidFill>
            <a:prstDash val="solid"/>
          </a:ln>
        </p:spPr>
      </p:sp>
      <p:sp>
        <p:nvSpPr>
          <p:cNvPr id="11" name="Text 9"/>
          <p:cNvSpPr/>
          <p:nvPr/>
        </p:nvSpPr>
        <p:spPr>
          <a:xfrm>
            <a:off x="548640" y="1042416"/>
            <a:ext cx="8092440" cy="694944"/>
          </a:xfrm>
          <a:prstGeom prst="rect">
            <a:avLst/>
          </a:prstGeom>
          <a:noFill/>
          <a:ln/>
        </p:spPr>
        <p:txBody>
          <a:bodyPr wrap="square" lIns="0" tIns="0" rIns="0" bIns="0" rtlCol="0" anchor="ctr"/>
          <a:lstStyle/>
          <a:p>
            <a:pPr marL="0" indent="0">
              <a:buNone/>
            </a:pPr>
            <a:r>
              <a:rPr lang="en-US" sz="1300" dirty="0">
                <a:solidFill>
                  <a:srgbClr val="2C3E50"/>
                </a:solidFill>
                <a:latin typeface="Trebuchet MS" pitchFamily="34" charset="0"/>
                <a:ea typeface="Trebuchet MS" pitchFamily="34" charset="-122"/>
                <a:cs typeface="Trebuchet MS" pitchFamily="34" charset="-120"/>
              </a:rPr>
              <a:t>GROUP BY groups rows sharing the same column values into summary rows. Always paired with aggregate functions (COUNT, SUM, AVG, MAX, MIN) to calculate results per group.</a:t>
            </a:r>
            <a:endParaRPr lang="en-US" sz="1300" dirty="0"/>
          </a:p>
        </p:txBody>
      </p:sp>
      <p:sp>
        <p:nvSpPr>
          <p:cNvPr id="12" name="Text 10"/>
          <p:cNvSpPr/>
          <p:nvPr/>
        </p:nvSpPr>
        <p:spPr>
          <a:xfrm>
            <a:off x="365760" y="1938528"/>
            <a:ext cx="5029200" cy="201168"/>
          </a:xfrm>
          <a:prstGeom prst="rect">
            <a:avLst/>
          </a:prstGeom>
          <a:noFill/>
          <a:ln/>
        </p:spPr>
        <p:txBody>
          <a:bodyPr wrap="square" lIns="0" tIns="0" rIns="0" bIns="0" rtlCol="0" anchor="ctr"/>
          <a:lstStyle/>
          <a:p>
            <a:pPr marL="0" indent="0">
              <a:buNone/>
            </a:pPr>
            <a:r>
              <a:rPr lang="en-US" sz="950" b="1" kern="0" spc="200" dirty="0">
                <a:solidFill>
                  <a:srgbClr val="2E86C1"/>
                </a:solidFill>
                <a:latin typeface="Trebuchet MS" pitchFamily="34" charset="0"/>
                <a:ea typeface="Trebuchet MS" pitchFamily="34" charset="-122"/>
                <a:cs typeface="Trebuchet MS" pitchFamily="34" charset="-120"/>
              </a:rPr>
              <a:t>SYNTAX</a:t>
            </a:r>
            <a:endParaRPr lang="en-US" sz="950" dirty="0"/>
          </a:p>
        </p:txBody>
      </p:sp>
      <p:sp>
        <p:nvSpPr>
          <p:cNvPr id="13" name="Shape 11"/>
          <p:cNvSpPr/>
          <p:nvPr/>
        </p:nvSpPr>
        <p:spPr>
          <a:xfrm>
            <a:off x="365760" y="2148840"/>
            <a:ext cx="3931920" cy="1207008"/>
          </a:xfrm>
          <a:prstGeom prst="rect">
            <a:avLst/>
          </a:prstGeom>
          <a:solidFill>
            <a:srgbClr val="F4F6F7"/>
          </a:solidFill>
          <a:ln w="12700">
            <a:solidFill>
              <a:srgbClr val="BDC3C7"/>
            </a:solidFill>
            <a:prstDash val="solid"/>
          </a:ln>
        </p:spPr>
      </p:sp>
      <p:sp>
        <p:nvSpPr>
          <p:cNvPr id="14" name="Shape 12"/>
          <p:cNvSpPr/>
          <p:nvPr/>
        </p:nvSpPr>
        <p:spPr>
          <a:xfrm>
            <a:off x="365760" y="2148840"/>
            <a:ext cx="3931920" cy="256032"/>
          </a:xfrm>
          <a:prstGeom prst="rect">
            <a:avLst/>
          </a:prstGeom>
          <a:solidFill>
            <a:srgbClr val="1A3A5C"/>
          </a:solidFill>
          <a:ln w="12700">
            <a:solidFill>
              <a:srgbClr val="1A3A5C"/>
            </a:solidFill>
            <a:prstDash val="solid"/>
          </a:ln>
        </p:spPr>
      </p:sp>
      <p:sp>
        <p:nvSpPr>
          <p:cNvPr id="15" name="Text 13"/>
          <p:cNvSpPr/>
          <p:nvPr/>
        </p:nvSpPr>
        <p:spPr>
          <a:xfrm>
            <a:off x="475488" y="2176272"/>
            <a:ext cx="3749040" cy="201168"/>
          </a:xfrm>
          <a:prstGeom prst="rect">
            <a:avLst/>
          </a:prstGeom>
          <a:noFill/>
          <a:ln/>
        </p:spPr>
        <p:txBody>
          <a:bodyPr wrap="square" lIns="0" tIns="0" rIns="0" bIns="0" rtlCol="0" anchor="ctr"/>
          <a:lstStyle/>
          <a:p>
            <a:pPr marL="0" indent="0">
              <a:buNone/>
            </a:pPr>
            <a:r>
              <a:rPr lang="en-US" sz="950" dirty="0">
                <a:solidFill>
                  <a:srgbClr val="FFFFFF"/>
                </a:solidFill>
                <a:latin typeface="Trebuchet MS" pitchFamily="34" charset="0"/>
                <a:ea typeface="Trebuchet MS" pitchFamily="34" charset="-122"/>
                <a:cs typeface="Trebuchet MS" pitchFamily="34" charset="-120"/>
              </a:rPr>
              <a:t>SQL — Syntax</a:t>
            </a:r>
            <a:endParaRPr lang="en-US" sz="950" dirty="0"/>
          </a:p>
        </p:txBody>
      </p:sp>
      <p:sp>
        <p:nvSpPr>
          <p:cNvPr id="16" name="Text 14"/>
          <p:cNvSpPr/>
          <p:nvPr/>
        </p:nvSpPr>
        <p:spPr>
          <a:xfrm>
            <a:off x="475488" y="2450592"/>
            <a:ext cx="3749040" cy="822960"/>
          </a:xfrm>
          <a:prstGeom prst="rect">
            <a:avLst/>
          </a:prstGeom>
          <a:noFill/>
          <a:ln/>
        </p:spPr>
        <p:txBody>
          <a:bodyPr wrap="square" lIns="0" tIns="0" rIns="0" bIns="0" rtlCol="0" anchor="ctr"/>
          <a:lstStyle/>
          <a:p>
            <a:pPr marL="0" indent="0">
              <a:buNone/>
            </a:pPr>
            <a:r>
              <a:rPr lang="en-US" sz="1150" dirty="0">
                <a:solidFill>
                  <a:srgbClr val="1A5276"/>
                </a:solidFill>
                <a:latin typeface="Consolas" pitchFamily="34" charset="0"/>
                <a:ea typeface="Consolas" pitchFamily="34" charset="-122"/>
                <a:cs typeface="Consolas" pitchFamily="34" charset="-120"/>
              </a:rPr>
              <a:t>SELECT col, AGG_FUNC(col)</a:t>
            </a:r>
            <a:endParaRPr lang="en-US" sz="1150" dirty="0"/>
          </a:p>
          <a:p>
            <a:pPr marL="0" indent="0">
              <a:buNone/>
            </a:pPr>
            <a:r>
              <a:rPr lang="en-US" sz="1150" dirty="0">
                <a:solidFill>
                  <a:srgbClr val="1A5276"/>
                </a:solidFill>
                <a:latin typeface="Consolas" pitchFamily="34" charset="0"/>
                <a:ea typeface="Consolas" pitchFamily="34" charset="-122"/>
                <a:cs typeface="Consolas" pitchFamily="34" charset="-120"/>
              </a:rPr>
              <a:t>FROM table_name</a:t>
            </a:r>
            <a:endParaRPr lang="en-US" sz="1150" dirty="0"/>
          </a:p>
          <a:p>
            <a:pPr marL="0" indent="0">
              <a:buNone/>
            </a:pPr>
            <a:r>
              <a:rPr lang="en-US" sz="1150" dirty="0">
                <a:solidFill>
                  <a:srgbClr val="1A5276"/>
                </a:solidFill>
                <a:latin typeface="Consolas" pitchFamily="34" charset="0"/>
                <a:ea typeface="Consolas" pitchFamily="34" charset="-122"/>
                <a:cs typeface="Consolas" pitchFamily="34" charset="-120"/>
              </a:rPr>
              <a:t>WHERE condition  -- optional</a:t>
            </a:r>
            <a:endParaRPr lang="en-US" sz="1150" dirty="0"/>
          </a:p>
          <a:p>
            <a:pPr marL="0" indent="0">
              <a:buNone/>
            </a:pPr>
            <a:r>
              <a:rPr lang="en-US" sz="1150" dirty="0">
                <a:solidFill>
                  <a:srgbClr val="1A5276"/>
                </a:solidFill>
                <a:latin typeface="Consolas" pitchFamily="34" charset="0"/>
                <a:ea typeface="Consolas" pitchFamily="34" charset="-122"/>
                <a:cs typeface="Consolas" pitchFamily="34" charset="-120"/>
              </a:rPr>
              <a:t>GROUP BY column;</a:t>
            </a:r>
            <a:endParaRPr lang="en-US" sz="1150" dirty="0"/>
          </a:p>
        </p:txBody>
      </p:sp>
      <p:sp>
        <p:nvSpPr>
          <p:cNvPr id="17" name="Text 15"/>
          <p:cNvSpPr/>
          <p:nvPr/>
        </p:nvSpPr>
        <p:spPr>
          <a:xfrm>
            <a:off x="4572000" y="1938528"/>
            <a:ext cx="5029200" cy="201168"/>
          </a:xfrm>
          <a:prstGeom prst="rect">
            <a:avLst/>
          </a:prstGeom>
          <a:noFill/>
          <a:ln/>
        </p:spPr>
        <p:txBody>
          <a:bodyPr wrap="square" lIns="0" tIns="0" rIns="0" bIns="0" rtlCol="0" anchor="ctr"/>
          <a:lstStyle/>
          <a:p>
            <a:pPr marL="0" indent="0">
              <a:buNone/>
            </a:pPr>
            <a:r>
              <a:rPr lang="en-US" sz="950" b="1" kern="0" spc="200" dirty="0">
                <a:solidFill>
                  <a:srgbClr val="1E8449"/>
                </a:solidFill>
                <a:latin typeface="Trebuchet MS" pitchFamily="34" charset="0"/>
                <a:ea typeface="Trebuchet MS" pitchFamily="34" charset="-122"/>
                <a:cs typeface="Trebuchet MS" pitchFamily="34" charset="-120"/>
              </a:rPr>
              <a:t>EXAMPLE</a:t>
            </a:r>
            <a:endParaRPr lang="en-US" sz="950" dirty="0"/>
          </a:p>
        </p:txBody>
      </p:sp>
      <p:sp>
        <p:nvSpPr>
          <p:cNvPr id="18" name="Shape 16"/>
          <p:cNvSpPr/>
          <p:nvPr/>
        </p:nvSpPr>
        <p:spPr>
          <a:xfrm>
            <a:off x="4572000" y="2148840"/>
            <a:ext cx="4206240" cy="1207008"/>
          </a:xfrm>
          <a:prstGeom prst="rect">
            <a:avLst/>
          </a:prstGeom>
          <a:solidFill>
            <a:srgbClr val="F4F6F7"/>
          </a:solidFill>
          <a:ln w="12700">
            <a:solidFill>
              <a:srgbClr val="BDC3C7"/>
            </a:solidFill>
            <a:prstDash val="solid"/>
          </a:ln>
        </p:spPr>
      </p:sp>
      <p:sp>
        <p:nvSpPr>
          <p:cNvPr id="19" name="Shape 17"/>
          <p:cNvSpPr/>
          <p:nvPr/>
        </p:nvSpPr>
        <p:spPr>
          <a:xfrm>
            <a:off x="4572000" y="2148840"/>
            <a:ext cx="4206240" cy="256032"/>
          </a:xfrm>
          <a:prstGeom prst="rect">
            <a:avLst/>
          </a:prstGeom>
          <a:solidFill>
            <a:srgbClr val="1E8449"/>
          </a:solidFill>
          <a:ln w="12700">
            <a:solidFill>
              <a:srgbClr val="1E8449"/>
            </a:solidFill>
            <a:prstDash val="solid"/>
          </a:ln>
        </p:spPr>
      </p:sp>
      <p:sp>
        <p:nvSpPr>
          <p:cNvPr id="20" name="Text 18"/>
          <p:cNvSpPr/>
          <p:nvPr/>
        </p:nvSpPr>
        <p:spPr>
          <a:xfrm>
            <a:off x="4681728" y="2176272"/>
            <a:ext cx="4023360" cy="201168"/>
          </a:xfrm>
          <a:prstGeom prst="rect">
            <a:avLst/>
          </a:prstGeom>
          <a:noFill/>
          <a:ln/>
        </p:spPr>
        <p:txBody>
          <a:bodyPr wrap="square" lIns="0" tIns="0" rIns="0" bIns="0" rtlCol="0" anchor="ctr"/>
          <a:lstStyle/>
          <a:p>
            <a:pPr marL="0" indent="0">
              <a:buNone/>
            </a:pPr>
            <a:r>
              <a:rPr lang="en-US" sz="950" dirty="0">
                <a:solidFill>
                  <a:srgbClr val="FFFFFF"/>
                </a:solidFill>
                <a:latin typeface="Trebuchet MS" pitchFamily="34" charset="0"/>
                <a:ea typeface="Trebuchet MS" pitchFamily="34" charset="-122"/>
                <a:cs typeface="Trebuchet MS" pitchFamily="34" charset="-120"/>
              </a:rPr>
              <a:t>SQL — Count employees per department</a:t>
            </a:r>
            <a:endParaRPr lang="en-US" sz="950" dirty="0"/>
          </a:p>
        </p:txBody>
      </p:sp>
      <p:sp>
        <p:nvSpPr>
          <p:cNvPr id="21" name="Text 19"/>
          <p:cNvSpPr/>
          <p:nvPr/>
        </p:nvSpPr>
        <p:spPr>
          <a:xfrm>
            <a:off x="4681728" y="2450592"/>
            <a:ext cx="4023360" cy="822960"/>
          </a:xfrm>
          <a:prstGeom prst="rect">
            <a:avLst/>
          </a:prstGeom>
          <a:noFill/>
          <a:ln/>
        </p:spPr>
        <p:txBody>
          <a:bodyPr wrap="square" lIns="0" tIns="0" rIns="0" bIns="0" rtlCol="0" anchor="ctr"/>
          <a:lstStyle/>
          <a:p>
            <a:pPr marL="0" indent="0">
              <a:buNone/>
            </a:pPr>
            <a:r>
              <a:rPr lang="en-US" sz="1150" dirty="0">
                <a:solidFill>
                  <a:srgbClr val="1E8449"/>
                </a:solidFill>
                <a:latin typeface="Consolas" pitchFamily="34" charset="0"/>
                <a:ea typeface="Consolas" pitchFamily="34" charset="-122"/>
                <a:cs typeface="Consolas" pitchFamily="34" charset="-120"/>
              </a:rPr>
              <a:t>SELECT Department, COUNT(*) AS Total</a:t>
            </a:r>
            <a:endParaRPr lang="en-US" sz="1150" dirty="0"/>
          </a:p>
          <a:p>
            <a:pPr marL="0" indent="0">
              <a:buNone/>
            </a:pPr>
            <a:r>
              <a:rPr lang="en-US" sz="1150" dirty="0">
                <a:solidFill>
                  <a:srgbClr val="1E8449"/>
                </a:solidFill>
                <a:latin typeface="Consolas" pitchFamily="34" charset="0"/>
                <a:ea typeface="Consolas" pitchFamily="34" charset="-122"/>
                <a:cs typeface="Consolas" pitchFamily="34" charset="-120"/>
              </a:rPr>
              <a:t>FROM Employees</a:t>
            </a:r>
            <a:endParaRPr lang="en-US" sz="1150" dirty="0"/>
          </a:p>
          <a:p>
            <a:pPr marL="0" indent="0">
              <a:buNone/>
            </a:pPr>
            <a:r>
              <a:rPr lang="en-US" sz="1150" dirty="0">
                <a:solidFill>
                  <a:srgbClr val="1E8449"/>
                </a:solidFill>
                <a:latin typeface="Consolas" pitchFamily="34" charset="0"/>
                <a:ea typeface="Consolas" pitchFamily="34" charset="-122"/>
                <a:cs typeface="Consolas" pitchFamily="34" charset="-120"/>
              </a:rPr>
              <a:t>GROUP BY Department;</a:t>
            </a:r>
            <a:endParaRPr lang="en-US" sz="1150" dirty="0"/>
          </a:p>
        </p:txBody>
      </p:sp>
      <p:sp>
        <p:nvSpPr>
          <p:cNvPr id="22" name="Text 20"/>
          <p:cNvSpPr/>
          <p:nvPr/>
        </p:nvSpPr>
        <p:spPr>
          <a:xfrm>
            <a:off x="365760" y="3511296"/>
            <a:ext cx="5029200" cy="201168"/>
          </a:xfrm>
          <a:prstGeom prst="rect">
            <a:avLst/>
          </a:prstGeom>
          <a:noFill/>
          <a:ln/>
        </p:spPr>
        <p:txBody>
          <a:bodyPr wrap="square" lIns="0" tIns="0" rIns="0" bIns="0" rtlCol="0" anchor="ctr"/>
          <a:lstStyle/>
          <a:p>
            <a:pPr marL="0" indent="0">
              <a:buNone/>
            </a:pPr>
            <a:r>
              <a:rPr lang="en-US" sz="950" b="1" kern="0" spc="200" dirty="0">
                <a:solidFill>
                  <a:srgbClr val="2E86C1"/>
                </a:solidFill>
                <a:latin typeface="Trebuchet MS" pitchFamily="34" charset="0"/>
                <a:ea typeface="Trebuchet MS" pitchFamily="34" charset="-122"/>
                <a:cs typeface="Trebuchet MS" pitchFamily="34" charset="-120"/>
              </a:rPr>
              <a:t>AGGREGATE FUNCTIONS</a:t>
            </a:r>
            <a:endParaRPr lang="en-US" sz="950" dirty="0"/>
          </a:p>
        </p:txBody>
      </p:sp>
      <p:sp>
        <p:nvSpPr>
          <p:cNvPr id="23" name="Shape 21"/>
          <p:cNvSpPr/>
          <p:nvPr/>
        </p:nvSpPr>
        <p:spPr>
          <a:xfrm>
            <a:off x="365760" y="3712464"/>
            <a:ext cx="1600200" cy="658368"/>
          </a:xfrm>
          <a:prstGeom prst="rect">
            <a:avLst/>
          </a:prstGeom>
          <a:solidFill>
            <a:srgbClr val="FFFFFF"/>
          </a:solidFill>
          <a:ln w="12700">
            <a:solidFill>
              <a:srgbClr val="2E86C1"/>
            </a:solidFill>
            <a:prstDash val="solid"/>
          </a:ln>
          <a:effectLst>
            <a:outerShdw blurRad="50800" dist="25400" dir="8100000" algn="bl" rotWithShape="0">
              <a:srgbClr val="000000">
                <a:alpha val="7000"/>
              </a:srgbClr>
            </a:outerShdw>
          </a:effectLst>
        </p:spPr>
      </p:sp>
      <p:sp>
        <p:nvSpPr>
          <p:cNvPr id="24" name="Text 22"/>
          <p:cNvSpPr/>
          <p:nvPr/>
        </p:nvSpPr>
        <p:spPr>
          <a:xfrm>
            <a:off x="457200" y="3749040"/>
            <a:ext cx="1417320" cy="256032"/>
          </a:xfrm>
          <a:prstGeom prst="rect">
            <a:avLst/>
          </a:prstGeom>
          <a:noFill/>
          <a:ln/>
        </p:spPr>
        <p:txBody>
          <a:bodyPr wrap="square" lIns="0" tIns="0" rIns="0" bIns="0" rtlCol="0" anchor="ctr"/>
          <a:lstStyle/>
          <a:p>
            <a:pPr marL="0" indent="0">
              <a:buNone/>
            </a:pPr>
            <a:r>
              <a:rPr lang="en-US" sz="1200" b="1" dirty="0">
                <a:solidFill>
                  <a:srgbClr val="1A3A5C"/>
                </a:solidFill>
                <a:latin typeface="Consolas" pitchFamily="34" charset="0"/>
                <a:ea typeface="Consolas" pitchFamily="34" charset="-122"/>
                <a:cs typeface="Consolas" pitchFamily="34" charset="-120"/>
              </a:rPr>
              <a:t>COUNT()</a:t>
            </a:r>
            <a:endParaRPr lang="en-US" sz="1200" dirty="0"/>
          </a:p>
        </p:txBody>
      </p:sp>
      <p:sp>
        <p:nvSpPr>
          <p:cNvPr id="25" name="Text 23"/>
          <p:cNvSpPr/>
          <p:nvPr/>
        </p:nvSpPr>
        <p:spPr>
          <a:xfrm>
            <a:off x="457200" y="4005072"/>
            <a:ext cx="1417320" cy="256032"/>
          </a:xfrm>
          <a:prstGeom prst="rect">
            <a:avLst/>
          </a:prstGeom>
          <a:noFill/>
          <a:ln/>
        </p:spPr>
        <p:txBody>
          <a:bodyPr wrap="square" lIns="0" tIns="0" rIns="0" bIns="0" rtlCol="0" anchor="ctr"/>
          <a:lstStyle/>
          <a:p>
            <a:pPr marL="0" indent="0">
              <a:buNone/>
            </a:pPr>
            <a:r>
              <a:rPr lang="en-US" sz="1100" dirty="0">
                <a:solidFill>
                  <a:srgbClr val="5D6D7E"/>
                </a:solidFill>
                <a:latin typeface="Trebuchet MS" pitchFamily="34" charset="0"/>
                <a:ea typeface="Trebuchet MS" pitchFamily="34" charset="-122"/>
                <a:cs typeface="Trebuchet MS" pitchFamily="34" charset="-120"/>
              </a:rPr>
              <a:t>Count rows</a:t>
            </a:r>
            <a:endParaRPr lang="en-US" sz="1100" dirty="0"/>
          </a:p>
        </p:txBody>
      </p:sp>
      <p:sp>
        <p:nvSpPr>
          <p:cNvPr id="26" name="Shape 24"/>
          <p:cNvSpPr/>
          <p:nvPr/>
        </p:nvSpPr>
        <p:spPr>
          <a:xfrm>
            <a:off x="2084832" y="3712464"/>
            <a:ext cx="1600200" cy="658368"/>
          </a:xfrm>
          <a:prstGeom prst="rect">
            <a:avLst/>
          </a:prstGeom>
          <a:solidFill>
            <a:srgbClr val="FFFFFF"/>
          </a:solidFill>
          <a:ln w="12700">
            <a:solidFill>
              <a:srgbClr val="2E86C1"/>
            </a:solidFill>
            <a:prstDash val="solid"/>
          </a:ln>
          <a:effectLst>
            <a:outerShdw blurRad="50800" dist="25400" dir="8100000" algn="bl" rotWithShape="0">
              <a:srgbClr val="000000">
                <a:alpha val="7000"/>
              </a:srgbClr>
            </a:outerShdw>
          </a:effectLst>
        </p:spPr>
      </p:sp>
      <p:sp>
        <p:nvSpPr>
          <p:cNvPr id="27" name="Text 25"/>
          <p:cNvSpPr/>
          <p:nvPr/>
        </p:nvSpPr>
        <p:spPr>
          <a:xfrm>
            <a:off x="2176272" y="3749040"/>
            <a:ext cx="1417320" cy="256032"/>
          </a:xfrm>
          <a:prstGeom prst="rect">
            <a:avLst/>
          </a:prstGeom>
          <a:noFill/>
          <a:ln/>
        </p:spPr>
        <p:txBody>
          <a:bodyPr wrap="square" lIns="0" tIns="0" rIns="0" bIns="0" rtlCol="0" anchor="ctr"/>
          <a:lstStyle/>
          <a:p>
            <a:pPr marL="0" indent="0">
              <a:buNone/>
            </a:pPr>
            <a:r>
              <a:rPr lang="en-US" sz="1200" b="1" dirty="0">
                <a:solidFill>
                  <a:srgbClr val="1A3A5C"/>
                </a:solidFill>
                <a:latin typeface="Consolas" pitchFamily="34" charset="0"/>
                <a:ea typeface="Consolas" pitchFamily="34" charset="-122"/>
                <a:cs typeface="Consolas" pitchFamily="34" charset="-120"/>
              </a:rPr>
              <a:t>SUM()</a:t>
            </a:r>
            <a:endParaRPr lang="en-US" sz="1200" dirty="0"/>
          </a:p>
        </p:txBody>
      </p:sp>
      <p:sp>
        <p:nvSpPr>
          <p:cNvPr id="28" name="Text 26"/>
          <p:cNvSpPr/>
          <p:nvPr/>
        </p:nvSpPr>
        <p:spPr>
          <a:xfrm>
            <a:off x="2176272" y="4005072"/>
            <a:ext cx="1417320" cy="256032"/>
          </a:xfrm>
          <a:prstGeom prst="rect">
            <a:avLst/>
          </a:prstGeom>
          <a:noFill/>
          <a:ln/>
        </p:spPr>
        <p:txBody>
          <a:bodyPr wrap="square" lIns="0" tIns="0" rIns="0" bIns="0" rtlCol="0" anchor="ctr"/>
          <a:lstStyle/>
          <a:p>
            <a:pPr marL="0" indent="0">
              <a:buNone/>
            </a:pPr>
            <a:r>
              <a:rPr lang="en-US" sz="1100" dirty="0">
                <a:solidFill>
                  <a:srgbClr val="5D6D7E"/>
                </a:solidFill>
                <a:latin typeface="Trebuchet MS" pitchFamily="34" charset="0"/>
                <a:ea typeface="Trebuchet MS" pitchFamily="34" charset="-122"/>
                <a:cs typeface="Trebuchet MS" pitchFamily="34" charset="-120"/>
              </a:rPr>
              <a:t>Total value</a:t>
            </a:r>
            <a:endParaRPr lang="en-US" sz="1100" dirty="0"/>
          </a:p>
        </p:txBody>
      </p:sp>
      <p:sp>
        <p:nvSpPr>
          <p:cNvPr id="29" name="Shape 27"/>
          <p:cNvSpPr/>
          <p:nvPr/>
        </p:nvSpPr>
        <p:spPr>
          <a:xfrm>
            <a:off x="3803904" y="3712464"/>
            <a:ext cx="1600200" cy="658368"/>
          </a:xfrm>
          <a:prstGeom prst="rect">
            <a:avLst/>
          </a:prstGeom>
          <a:solidFill>
            <a:srgbClr val="FFFFFF"/>
          </a:solidFill>
          <a:ln w="12700">
            <a:solidFill>
              <a:srgbClr val="2E86C1"/>
            </a:solidFill>
            <a:prstDash val="solid"/>
          </a:ln>
          <a:effectLst>
            <a:outerShdw blurRad="50800" dist="25400" dir="8100000" algn="bl" rotWithShape="0">
              <a:srgbClr val="000000">
                <a:alpha val="7000"/>
              </a:srgbClr>
            </a:outerShdw>
          </a:effectLst>
        </p:spPr>
      </p:sp>
      <p:sp>
        <p:nvSpPr>
          <p:cNvPr id="30" name="Text 28"/>
          <p:cNvSpPr/>
          <p:nvPr/>
        </p:nvSpPr>
        <p:spPr>
          <a:xfrm>
            <a:off x="3895344" y="3749040"/>
            <a:ext cx="1417320" cy="256032"/>
          </a:xfrm>
          <a:prstGeom prst="rect">
            <a:avLst/>
          </a:prstGeom>
          <a:noFill/>
          <a:ln/>
        </p:spPr>
        <p:txBody>
          <a:bodyPr wrap="square" lIns="0" tIns="0" rIns="0" bIns="0" rtlCol="0" anchor="ctr"/>
          <a:lstStyle/>
          <a:p>
            <a:pPr marL="0" indent="0">
              <a:buNone/>
            </a:pPr>
            <a:r>
              <a:rPr lang="en-US" sz="1200" b="1" dirty="0">
                <a:solidFill>
                  <a:srgbClr val="1A3A5C"/>
                </a:solidFill>
                <a:latin typeface="Consolas" pitchFamily="34" charset="0"/>
                <a:ea typeface="Consolas" pitchFamily="34" charset="-122"/>
                <a:cs typeface="Consolas" pitchFamily="34" charset="-120"/>
              </a:rPr>
              <a:t>AVG()</a:t>
            </a:r>
            <a:endParaRPr lang="en-US" sz="1200" dirty="0"/>
          </a:p>
        </p:txBody>
      </p:sp>
      <p:sp>
        <p:nvSpPr>
          <p:cNvPr id="31" name="Text 29"/>
          <p:cNvSpPr/>
          <p:nvPr/>
        </p:nvSpPr>
        <p:spPr>
          <a:xfrm>
            <a:off x="3895344" y="4005072"/>
            <a:ext cx="1417320" cy="256032"/>
          </a:xfrm>
          <a:prstGeom prst="rect">
            <a:avLst/>
          </a:prstGeom>
          <a:noFill/>
          <a:ln/>
        </p:spPr>
        <p:txBody>
          <a:bodyPr wrap="square" lIns="0" tIns="0" rIns="0" bIns="0" rtlCol="0" anchor="ctr"/>
          <a:lstStyle/>
          <a:p>
            <a:pPr marL="0" indent="0">
              <a:buNone/>
            </a:pPr>
            <a:r>
              <a:rPr lang="en-US" sz="1100" dirty="0">
                <a:solidFill>
                  <a:srgbClr val="5D6D7E"/>
                </a:solidFill>
                <a:latin typeface="Trebuchet MS" pitchFamily="34" charset="0"/>
                <a:ea typeface="Trebuchet MS" pitchFamily="34" charset="-122"/>
                <a:cs typeface="Trebuchet MS" pitchFamily="34" charset="-120"/>
              </a:rPr>
              <a:t>Average value</a:t>
            </a:r>
            <a:endParaRPr lang="en-US" sz="1100" dirty="0"/>
          </a:p>
        </p:txBody>
      </p:sp>
      <p:sp>
        <p:nvSpPr>
          <p:cNvPr id="32" name="Shape 30"/>
          <p:cNvSpPr/>
          <p:nvPr/>
        </p:nvSpPr>
        <p:spPr>
          <a:xfrm>
            <a:off x="5522976" y="3712464"/>
            <a:ext cx="1600200" cy="658368"/>
          </a:xfrm>
          <a:prstGeom prst="rect">
            <a:avLst/>
          </a:prstGeom>
          <a:solidFill>
            <a:srgbClr val="FFFFFF"/>
          </a:solidFill>
          <a:ln w="12700">
            <a:solidFill>
              <a:srgbClr val="2E86C1"/>
            </a:solidFill>
            <a:prstDash val="solid"/>
          </a:ln>
          <a:effectLst>
            <a:outerShdw blurRad="50800" dist="25400" dir="8100000" algn="bl" rotWithShape="0">
              <a:srgbClr val="000000">
                <a:alpha val="7000"/>
              </a:srgbClr>
            </a:outerShdw>
          </a:effectLst>
        </p:spPr>
      </p:sp>
      <p:sp>
        <p:nvSpPr>
          <p:cNvPr id="33" name="Text 31"/>
          <p:cNvSpPr/>
          <p:nvPr/>
        </p:nvSpPr>
        <p:spPr>
          <a:xfrm>
            <a:off x="5614416" y="3749040"/>
            <a:ext cx="1417320" cy="256032"/>
          </a:xfrm>
          <a:prstGeom prst="rect">
            <a:avLst/>
          </a:prstGeom>
          <a:noFill/>
          <a:ln/>
        </p:spPr>
        <p:txBody>
          <a:bodyPr wrap="square" lIns="0" tIns="0" rIns="0" bIns="0" rtlCol="0" anchor="ctr"/>
          <a:lstStyle/>
          <a:p>
            <a:pPr marL="0" indent="0">
              <a:buNone/>
            </a:pPr>
            <a:r>
              <a:rPr lang="en-US" sz="1200" b="1" dirty="0">
                <a:solidFill>
                  <a:srgbClr val="1A3A5C"/>
                </a:solidFill>
                <a:latin typeface="Consolas" pitchFamily="34" charset="0"/>
                <a:ea typeface="Consolas" pitchFamily="34" charset="-122"/>
                <a:cs typeface="Consolas" pitchFamily="34" charset="-120"/>
              </a:rPr>
              <a:t>MAX()</a:t>
            </a:r>
            <a:endParaRPr lang="en-US" sz="1200" dirty="0"/>
          </a:p>
        </p:txBody>
      </p:sp>
      <p:sp>
        <p:nvSpPr>
          <p:cNvPr id="34" name="Text 32"/>
          <p:cNvSpPr/>
          <p:nvPr/>
        </p:nvSpPr>
        <p:spPr>
          <a:xfrm>
            <a:off x="5614416" y="4005072"/>
            <a:ext cx="1417320" cy="256032"/>
          </a:xfrm>
          <a:prstGeom prst="rect">
            <a:avLst/>
          </a:prstGeom>
          <a:noFill/>
          <a:ln/>
        </p:spPr>
        <p:txBody>
          <a:bodyPr wrap="square" lIns="0" tIns="0" rIns="0" bIns="0" rtlCol="0" anchor="ctr"/>
          <a:lstStyle/>
          <a:p>
            <a:pPr marL="0" indent="0">
              <a:buNone/>
            </a:pPr>
            <a:r>
              <a:rPr lang="en-US" sz="1100" dirty="0">
                <a:solidFill>
                  <a:srgbClr val="5D6D7E"/>
                </a:solidFill>
                <a:latin typeface="Trebuchet MS" pitchFamily="34" charset="0"/>
                <a:ea typeface="Trebuchet MS" pitchFamily="34" charset="-122"/>
                <a:cs typeface="Trebuchet MS" pitchFamily="34" charset="-120"/>
              </a:rPr>
              <a:t>Highest value</a:t>
            </a:r>
            <a:endParaRPr lang="en-US" sz="1100" dirty="0"/>
          </a:p>
        </p:txBody>
      </p:sp>
      <p:sp>
        <p:nvSpPr>
          <p:cNvPr id="35" name="Shape 33"/>
          <p:cNvSpPr/>
          <p:nvPr/>
        </p:nvSpPr>
        <p:spPr>
          <a:xfrm>
            <a:off x="7242048" y="3712464"/>
            <a:ext cx="1600200" cy="658368"/>
          </a:xfrm>
          <a:prstGeom prst="rect">
            <a:avLst/>
          </a:prstGeom>
          <a:solidFill>
            <a:srgbClr val="FFFFFF"/>
          </a:solidFill>
          <a:ln w="12700">
            <a:solidFill>
              <a:srgbClr val="2E86C1"/>
            </a:solidFill>
            <a:prstDash val="solid"/>
          </a:ln>
          <a:effectLst>
            <a:outerShdw blurRad="50800" dist="25400" dir="8100000" algn="bl" rotWithShape="0">
              <a:srgbClr val="000000">
                <a:alpha val="7000"/>
              </a:srgbClr>
            </a:outerShdw>
          </a:effectLst>
        </p:spPr>
      </p:sp>
      <p:sp>
        <p:nvSpPr>
          <p:cNvPr id="36" name="Text 34"/>
          <p:cNvSpPr/>
          <p:nvPr/>
        </p:nvSpPr>
        <p:spPr>
          <a:xfrm>
            <a:off x="7333488" y="3749040"/>
            <a:ext cx="1417320" cy="256032"/>
          </a:xfrm>
          <a:prstGeom prst="rect">
            <a:avLst/>
          </a:prstGeom>
          <a:noFill/>
          <a:ln/>
        </p:spPr>
        <p:txBody>
          <a:bodyPr wrap="square" lIns="0" tIns="0" rIns="0" bIns="0" rtlCol="0" anchor="ctr"/>
          <a:lstStyle/>
          <a:p>
            <a:pPr marL="0" indent="0">
              <a:buNone/>
            </a:pPr>
            <a:r>
              <a:rPr lang="en-US" sz="1200" b="1" dirty="0">
                <a:solidFill>
                  <a:srgbClr val="1A3A5C"/>
                </a:solidFill>
                <a:latin typeface="Consolas" pitchFamily="34" charset="0"/>
                <a:ea typeface="Consolas" pitchFamily="34" charset="-122"/>
                <a:cs typeface="Consolas" pitchFamily="34" charset="-120"/>
              </a:rPr>
              <a:t>MIN()</a:t>
            </a:r>
            <a:endParaRPr lang="en-US" sz="1200" dirty="0"/>
          </a:p>
        </p:txBody>
      </p:sp>
      <p:sp>
        <p:nvSpPr>
          <p:cNvPr id="37" name="Text 35"/>
          <p:cNvSpPr/>
          <p:nvPr/>
        </p:nvSpPr>
        <p:spPr>
          <a:xfrm>
            <a:off x="7333488" y="4005072"/>
            <a:ext cx="1417320" cy="256032"/>
          </a:xfrm>
          <a:prstGeom prst="rect">
            <a:avLst/>
          </a:prstGeom>
          <a:noFill/>
          <a:ln/>
        </p:spPr>
        <p:txBody>
          <a:bodyPr wrap="square" lIns="0" tIns="0" rIns="0" bIns="0" rtlCol="0" anchor="ctr"/>
          <a:lstStyle/>
          <a:p>
            <a:pPr marL="0" indent="0">
              <a:buNone/>
            </a:pPr>
            <a:r>
              <a:rPr lang="en-US" sz="1100" dirty="0">
                <a:solidFill>
                  <a:srgbClr val="5D6D7E"/>
                </a:solidFill>
                <a:latin typeface="Trebuchet MS" pitchFamily="34" charset="0"/>
                <a:ea typeface="Trebuchet MS" pitchFamily="34" charset="-122"/>
                <a:cs typeface="Trebuchet MS" pitchFamily="34" charset="-120"/>
              </a:rPr>
              <a:t>Lowest value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3A5C"/>
          </a:solidFill>
          <a:ln w="12700">
            <a:solidFill>
              <a:srgbClr val="1A3A5C"/>
            </a:solidFill>
            <a:prstDash val="solid"/>
          </a:ln>
        </p:spPr>
      </p:sp>
      <p:sp>
        <p:nvSpPr>
          <p:cNvPr id="3" name="Shape 1"/>
          <p:cNvSpPr/>
          <p:nvPr/>
        </p:nvSpPr>
        <p:spPr>
          <a:xfrm>
            <a:off x="0" y="73152"/>
            <a:ext cx="9144000" cy="749808"/>
          </a:xfrm>
          <a:prstGeom prst="rect">
            <a:avLst/>
          </a:prstGeom>
          <a:solidFill>
            <a:srgbClr val="1A3A5C"/>
          </a:solidFill>
          <a:ln w="12700">
            <a:solidFill>
              <a:srgbClr val="1A3A5C"/>
            </a:solidFill>
            <a:prstDash val="solid"/>
          </a:ln>
        </p:spPr>
      </p:sp>
      <p:sp>
        <p:nvSpPr>
          <p:cNvPr id="4" name="Text 2"/>
          <p:cNvSpPr/>
          <p:nvPr/>
        </p:nvSpPr>
        <p:spPr>
          <a:xfrm>
            <a:off x="457200" y="118872"/>
            <a:ext cx="7132320" cy="420624"/>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GROUP BY Clause</a:t>
            </a:r>
            <a:endParaRPr lang="en-US" sz="2800" dirty="0"/>
          </a:p>
        </p:txBody>
      </p:sp>
      <p:sp>
        <p:nvSpPr>
          <p:cNvPr id="5" name="Text 3"/>
          <p:cNvSpPr/>
          <p:nvPr/>
        </p:nvSpPr>
        <p:spPr>
          <a:xfrm>
            <a:off x="457200" y="557784"/>
            <a:ext cx="7132320" cy="201168"/>
          </a:xfrm>
          <a:prstGeom prst="rect">
            <a:avLst/>
          </a:prstGeom>
          <a:noFill/>
          <a:ln/>
        </p:spPr>
        <p:txBody>
          <a:bodyPr wrap="square" lIns="0" tIns="0" rIns="0" bIns="0" rtlCol="0" anchor="ctr"/>
          <a:lstStyle/>
          <a:p>
            <a:pPr marL="0" indent="0">
              <a:buNone/>
            </a:pPr>
            <a:r>
              <a:rPr lang="en-US" sz="1100" i="1" dirty="0">
                <a:solidFill>
                  <a:srgbClr val="D6E8F5"/>
                </a:solidFill>
                <a:latin typeface="Georgia" pitchFamily="34" charset="0"/>
                <a:ea typeface="Georgia" pitchFamily="34" charset="-122"/>
                <a:cs typeface="Georgia" pitchFamily="34" charset="-120"/>
              </a:rPr>
              <a:t>Multiple Columns, Combined with WHERE &amp; Key Rules</a:t>
            </a:r>
            <a:endParaRPr lang="en-US" sz="1100" dirty="0"/>
          </a:p>
        </p:txBody>
      </p:sp>
      <p:sp>
        <p:nvSpPr>
          <p:cNvPr id="7" name="Text 5"/>
          <p:cNvSpPr/>
          <p:nvPr/>
        </p:nvSpPr>
        <p:spPr>
          <a:xfrm>
            <a:off x="7973568" y="219456"/>
            <a:ext cx="804672" cy="237744"/>
          </a:xfrm>
          <a:prstGeom prst="rect">
            <a:avLst/>
          </a:prstGeom>
          <a:noFill/>
          <a:ln/>
        </p:spPr>
        <p:txBody>
          <a:bodyPr wrap="square" lIns="0" tIns="0" rIns="0" bIns="0" rtlCol="0" anchor="ctr"/>
          <a:lstStyle/>
          <a:p>
            <a:pPr marL="0" indent="0" algn="ctr">
              <a:buNone/>
            </a:pPr>
            <a:endParaRPr lang="en-US" sz="1000" dirty="0"/>
          </a:p>
        </p:txBody>
      </p:sp>
      <p:sp>
        <p:nvSpPr>
          <p:cNvPr id="8" name="Text 6"/>
          <p:cNvSpPr/>
          <p:nvPr/>
        </p:nvSpPr>
        <p:spPr>
          <a:xfrm>
            <a:off x="365760" y="987552"/>
            <a:ext cx="5029200" cy="201168"/>
          </a:xfrm>
          <a:prstGeom prst="rect">
            <a:avLst/>
          </a:prstGeom>
          <a:noFill/>
          <a:ln/>
        </p:spPr>
        <p:txBody>
          <a:bodyPr wrap="square" lIns="0" tIns="0" rIns="0" bIns="0" rtlCol="0" anchor="ctr"/>
          <a:lstStyle/>
          <a:p>
            <a:pPr marL="0" indent="0">
              <a:buNone/>
            </a:pPr>
            <a:r>
              <a:rPr lang="en-US" sz="950" b="1" kern="0" spc="200" dirty="0">
                <a:solidFill>
                  <a:srgbClr val="1A3A5C"/>
                </a:solidFill>
                <a:latin typeface="Trebuchet MS" pitchFamily="34" charset="0"/>
                <a:ea typeface="Trebuchet MS" pitchFamily="34" charset="-122"/>
                <a:cs typeface="Trebuchet MS" pitchFamily="34" charset="-120"/>
              </a:rPr>
              <a:t>GROUPING BY MULTIPLE COLUMNS</a:t>
            </a:r>
            <a:endParaRPr lang="en-US" sz="950" dirty="0"/>
          </a:p>
        </p:txBody>
      </p:sp>
      <p:sp>
        <p:nvSpPr>
          <p:cNvPr id="9" name="Shape 7"/>
          <p:cNvSpPr/>
          <p:nvPr/>
        </p:nvSpPr>
        <p:spPr>
          <a:xfrm>
            <a:off x="365760" y="1188720"/>
            <a:ext cx="5029200" cy="1325880"/>
          </a:xfrm>
          <a:prstGeom prst="rect">
            <a:avLst/>
          </a:prstGeom>
          <a:solidFill>
            <a:srgbClr val="F4F6F7"/>
          </a:solidFill>
          <a:ln w="12700">
            <a:solidFill>
              <a:srgbClr val="BDC3C7"/>
            </a:solidFill>
            <a:prstDash val="solid"/>
          </a:ln>
        </p:spPr>
      </p:sp>
      <p:sp>
        <p:nvSpPr>
          <p:cNvPr id="10" name="Shape 8"/>
          <p:cNvSpPr/>
          <p:nvPr/>
        </p:nvSpPr>
        <p:spPr>
          <a:xfrm>
            <a:off x="365760" y="1188720"/>
            <a:ext cx="5029200" cy="256032"/>
          </a:xfrm>
          <a:prstGeom prst="rect">
            <a:avLst/>
          </a:prstGeom>
          <a:solidFill>
            <a:srgbClr val="1A3A5C"/>
          </a:solidFill>
          <a:ln w="12700">
            <a:solidFill>
              <a:srgbClr val="1A3A5C"/>
            </a:solidFill>
            <a:prstDash val="solid"/>
          </a:ln>
        </p:spPr>
      </p:sp>
      <p:sp>
        <p:nvSpPr>
          <p:cNvPr id="11" name="Text 9"/>
          <p:cNvSpPr/>
          <p:nvPr/>
        </p:nvSpPr>
        <p:spPr>
          <a:xfrm>
            <a:off x="475488" y="1216152"/>
            <a:ext cx="4846320" cy="201168"/>
          </a:xfrm>
          <a:prstGeom prst="rect">
            <a:avLst/>
          </a:prstGeom>
          <a:noFill/>
          <a:ln/>
        </p:spPr>
        <p:txBody>
          <a:bodyPr wrap="square" lIns="0" tIns="0" rIns="0" bIns="0" rtlCol="0" anchor="ctr"/>
          <a:lstStyle/>
          <a:p>
            <a:pPr marL="0" indent="0">
              <a:buNone/>
            </a:pPr>
            <a:r>
              <a:rPr lang="en-US" sz="950" dirty="0">
                <a:solidFill>
                  <a:srgbClr val="FFFFFF"/>
                </a:solidFill>
                <a:latin typeface="Trebuchet MS" pitchFamily="34" charset="0"/>
                <a:ea typeface="Trebuchet MS" pitchFamily="34" charset="-122"/>
                <a:cs typeface="Trebuchet MS" pitchFamily="34" charset="-120"/>
              </a:rPr>
              <a:t>SQL — Group by Department + Role</a:t>
            </a:r>
            <a:endParaRPr lang="en-US" sz="950" dirty="0"/>
          </a:p>
        </p:txBody>
      </p:sp>
      <p:sp>
        <p:nvSpPr>
          <p:cNvPr id="12" name="Text 10"/>
          <p:cNvSpPr/>
          <p:nvPr/>
        </p:nvSpPr>
        <p:spPr>
          <a:xfrm>
            <a:off x="475488" y="1490472"/>
            <a:ext cx="4846320" cy="941832"/>
          </a:xfrm>
          <a:prstGeom prst="rect">
            <a:avLst/>
          </a:prstGeom>
          <a:noFill/>
          <a:ln/>
        </p:spPr>
        <p:txBody>
          <a:bodyPr wrap="square" lIns="0" tIns="0" rIns="0" bIns="0" rtlCol="0" anchor="ctr"/>
          <a:lstStyle/>
          <a:p>
            <a:pPr marL="0" indent="0">
              <a:buNone/>
            </a:pPr>
            <a:r>
              <a:rPr lang="en-US" sz="1150" dirty="0">
                <a:solidFill>
                  <a:srgbClr val="1A5276"/>
                </a:solidFill>
                <a:latin typeface="Consolas" pitchFamily="34" charset="0"/>
                <a:ea typeface="Consolas" pitchFamily="34" charset="-122"/>
                <a:cs typeface="Consolas" pitchFamily="34" charset="-120"/>
              </a:rPr>
              <a:t>SELECT Department, Role, COUNT(*) AS Total,</a:t>
            </a:r>
            <a:endParaRPr lang="en-US" sz="1150" dirty="0"/>
          </a:p>
          <a:p>
            <a:pPr marL="0" indent="0">
              <a:buNone/>
            </a:pPr>
            <a:r>
              <a:rPr lang="en-US" sz="1150" dirty="0">
                <a:solidFill>
                  <a:srgbClr val="1A5276"/>
                </a:solidFill>
                <a:latin typeface="Consolas" pitchFamily="34" charset="0"/>
                <a:ea typeface="Consolas" pitchFamily="34" charset="-122"/>
                <a:cs typeface="Consolas" pitchFamily="34" charset="-120"/>
              </a:rPr>
              <a:t>       AVG(Salary) AS AvgSalary</a:t>
            </a:r>
            <a:endParaRPr lang="en-US" sz="1150" dirty="0"/>
          </a:p>
          <a:p>
            <a:pPr marL="0" indent="0">
              <a:buNone/>
            </a:pPr>
            <a:r>
              <a:rPr lang="en-US" sz="1150" dirty="0">
                <a:solidFill>
                  <a:srgbClr val="1A5276"/>
                </a:solidFill>
                <a:latin typeface="Consolas" pitchFamily="34" charset="0"/>
                <a:ea typeface="Consolas" pitchFamily="34" charset="-122"/>
                <a:cs typeface="Consolas" pitchFamily="34" charset="-120"/>
              </a:rPr>
              <a:t>FROM Employees</a:t>
            </a:r>
            <a:endParaRPr lang="en-US" sz="1150" dirty="0"/>
          </a:p>
          <a:p>
            <a:pPr marL="0" indent="0">
              <a:buNone/>
            </a:pPr>
            <a:r>
              <a:rPr lang="en-US" sz="1150" dirty="0">
                <a:solidFill>
                  <a:srgbClr val="1A5276"/>
                </a:solidFill>
                <a:latin typeface="Consolas" pitchFamily="34" charset="0"/>
                <a:ea typeface="Consolas" pitchFamily="34" charset="-122"/>
                <a:cs typeface="Consolas" pitchFamily="34" charset="-120"/>
              </a:rPr>
              <a:t>GROUP BY Department, Role;</a:t>
            </a:r>
            <a:endParaRPr lang="en-US" sz="1150" dirty="0"/>
          </a:p>
        </p:txBody>
      </p:sp>
      <p:sp>
        <p:nvSpPr>
          <p:cNvPr id="13" name="Text 11"/>
          <p:cNvSpPr/>
          <p:nvPr/>
        </p:nvSpPr>
        <p:spPr>
          <a:xfrm>
            <a:off x="5577840" y="987552"/>
            <a:ext cx="5029200" cy="201168"/>
          </a:xfrm>
          <a:prstGeom prst="rect">
            <a:avLst/>
          </a:prstGeom>
          <a:noFill/>
          <a:ln/>
        </p:spPr>
        <p:txBody>
          <a:bodyPr wrap="square" lIns="0" tIns="0" rIns="0" bIns="0" rtlCol="0" anchor="ctr"/>
          <a:lstStyle/>
          <a:p>
            <a:pPr marL="0" indent="0">
              <a:buNone/>
            </a:pPr>
            <a:r>
              <a:rPr lang="en-US" sz="950" b="1" kern="0" spc="200" dirty="0">
                <a:solidFill>
                  <a:srgbClr val="1E8449"/>
                </a:solidFill>
                <a:latin typeface="Trebuchet MS" pitchFamily="34" charset="0"/>
                <a:ea typeface="Trebuchet MS" pitchFamily="34" charset="-122"/>
                <a:cs typeface="Trebuchet MS" pitchFamily="34" charset="-120"/>
              </a:rPr>
              <a:t>COMBINED WITH WHERE</a:t>
            </a:r>
            <a:endParaRPr lang="en-US" sz="950" dirty="0"/>
          </a:p>
        </p:txBody>
      </p:sp>
      <p:sp>
        <p:nvSpPr>
          <p:cNvPr id="14" name="Shape 12"/>
          <p:cNvSpPr/>
          <p:nvPr/>
        </p:nvSpPr>
        <p:spPr>
          <a:xfrm>
            <a:off x="5577840" y="1188720"/>
            <a:ext cx="3200400" cy="1325880"/>
          </a:xfrm>
          <a:prstGeom prst="rect">
            <a:avLst/>
          </a:prstGeom>
          <a:solidFill>
            <a:srgbClr val="F4F6F7"/>
          </a:solidFill>
          <a:ln w="12700">
            <a:solidFill>
              <a:srgbClr val="BDC3C7"/>
            </a:solidFill>
            <a:prstDash val="solid"/>
          </a:ln>
        </p:spPr>
      </p:sp>
      <p:sp>
        <p:nvSpPr>
          <p:cNvPr id="15" name="Shape 13"/>
          <p:cNvSpPr/>
          <p:nvPr/>
        </p:nvSpPr>
        <p:spPr>
          <a:xfrm>
            <a:off x="5577840" y="1188720"/>
            <a:ext cx="3200400" cy="256032"/>
          </a:xfrm>
          <a:prstGeom prst="rect">
            <a:avLst/>
          </a:prstGeom>
          <a:solidFill>
            <a:srgbClr val="1E8449"/>
          </a:solidFill>
          <a:ln w="12700">
            <a:solidFill>
              <a:srgbClr val="1E8449"/>
            </a:solidFill>
            <a:prstDash val="solid"/>
          </a:ln>
        </p:spPr>
      </p:sp>
      <p:sp>
        <p:nvSpPr>
          <p:cNvPr id="16" name="Text 14"/>
          <p:cNvSpPr/>
          <p:nvPr/>
        </p:nvSpPr>
        <p:spPr>
          <a:xfrm>
            <a:off x="5687568" y="1216152"/>
            <a:ext cx="3017520" cy="201168"/>
          </a:xfrm>
          <a:prstGeom prst="rect">
            <a:avLst/>
          </a:prstGeom>
          <a:noFill/>
          <a:ln/>
        </p:spPr>
        <p:txBody>
          <a:bodyPr wrap="square" lIns="0" tIns="0" rIns="0" bIns="0" rtlCol="0" anchor="ctr"/>
          <a:lstStyle/>
          <a:p>
            <a:pPr marL="0" indent="0">
              <a:buNone/>
            </a:pPr>
            <a:r>
              <a:rPr lang="en-US" sz="950" dirty="0">
                <a:solidFill>
                  <a:srgbClr val="FFFFFF"/>
                </a:solidFill>
                <a:latin typeface="Trebuchet MS" pitchFamily="34" charset="0"/>
                <a:ea typeface="Trebuchet MS" pitchFamily="34" charset="-122"/>
                <a:cs typeface="Trebuchet MS" pitchFamily="34" charset="-120"/>
              </a:rPr>
              <a:t>SQL — Filter then Group</a:t>
            </a:r>
            <a:endParaRPr lang="en-US" sz="950" dirty="0"/>
          </a:p>
        </p:txBody>
      </p:sp>
      <p:sp>
        <p:nvSpPr>
          <p:cNvPr id="17" name="Text 15"/>
          <p:cNvSpPr/>
          <p:nvPr/>
        </p:nvSpPr>
        <p:spPr>
          <a:xfrm>
            <a:off x="5687568" y="1490472"/>
            <a:ext cx="3017520" cy="941832"/>
          </a:xfrm>
          <a:prstGeom prst="rect">
            <a:avLst/>
          </a:prstGeom>
          <a:noFill/>
          <a:ln/>
        </p:spPr>
        <p:txBody>
          <a:bodyPr wrap="square" lIns="0" tIns="0" rIns="0" bIns="0" rtlCol="0" anchor="ctr"/>
          <a:lstStyle/>
          <a:p>
            <a:pPr marL="0" indent="0">
              <a:buNone/>
            </a:pPr>
            <a:r>
              <a:rPr lang="en-US" sz="1150" dirty="0">
                <a:solidFill>
                  <a:srgbClr val="1E8449"/>
                </a:solidFill>
                <a:latin typeface="Consolas" pitchFamily="34" charset="0"/>
                <a:ea typeface="Consolas" pitchFamily="34" charset="-122"/>
                <a:cs typeface="Consolas" pitchFamily="34" charset="-120"/>
              </a:rPr>
              <a:t>SELECT Department, SUM(Salary)</a:t>
            </a:r>
            <a:endParaRPr lang="en-US" sz="1150" dirty="0"/>
          </a:p>
          <a:p>
            <a:pPr marL="0" indent="0">
              <a:buNone/>
            </a:pPr>
            <a:r>
              <a:rPr lang="en-US" sz="1150" dirty="0">
                <a:solidFill>
                  <a:srgbClr val="1E8449"/>
                </a:solidFill>
                <a:latin typeface="Consolas" pitchFamily="34" charset="0"/>
                <a:ea typeface="Consolas" pitchFamily="34" charset="-122"/>
                <a:cs typeface="Consolas" pitchFamily="34" charset="-120"/>
              </a:rPr>
              <a:t>FROM Employees</a:t>
            </a:r>
            <a:endParaRPr lang="en-US" sz="1150" dirty="0"/>
          </a:p>
          <a:p>
            <a:pPr marL="0" indent="0">
              <a:buNone/>
            </a:pPr>
            <a:r>
              <a:rPr lang="en-US" sz="1150" dirty="0">
                <a:solidFill>
                  <a:srgbClr val="1E8449"/>
                </a:solidFill>
                <a:latin typeface="Consolas" pitchFamily="34" charset="0"/>
                <a:ea typeface="Consolas" pitchFamily="34" charset="-122"/>
                <a:cs typeface="Consolas" pitchFamily="34" charset="-120"/>
              </a:rPr>
              <a:t>WHERE Status = 'Active'</a:t>
            </a:r>
            <a:endParaRPr lang="en-US" sz="1150" dirty="0"/>
          </a:p>
          <a:p>
            <a:pPr marL="0" indent="0">
              <a:buNone/>
            </a:pPr>
            <a:r>
              <a:rPr lang="en-US" sz="1150" dirty="0">
                <a:solidFill>
                  <a:srgbClr val="1E8449"/>
                </a:solidFill>
                <a:latin typeface="Consolas" pitchFamily="34" charset="0"/>
                <a:ea typeface="Consolas" pitchFamily="34" charset="-122"/>
                <a:cs typeface="Consolas" pitchFamily="34" charset="-120"/>
              </a:rPr>
              <a:t>GROUP BY Department;</a:t>
            </a:r>
            <a:endParaRPr lang="en-US" sz="1150" dirty="0"/>
          </a:p>
        </p:txBody>
      </p:sp>
      <p:sp>
        <p:nvSpPr>
          <p:cNvPr id="18" name="Text 16"/>
          <p:cNvSpPr/>
          <p:nvPr/>
        </p:nvSpPr>
        <p:spPr>
          <a:xfrm>
            <a:off x="365760" y="2670048"/>
            <a:ext cx="5029200" cy="201168"/>
          </a:xfrm>
          <a:prstGeom prst="rect">
            <a:avLst/>
          </a:prstGeom>
          <a:noFill/>
          <a:ln/>
        </p:spPr>
        <p:txBody>
          <a:bodyPr wrap="square" lIns="0" tIns="0" rIns="0" bIns="0" rtlCol="0" anchor="ctr"/>
          <a:lstStyle/>
          <a:p>
            <a:pPr marL="0" indent="0">
              <a:buNone/>
            </a:pPr>
            <a:r>
              <a:rPr lang="en-US" sz="950" b="1" kern="0" spc="200" dirty="0">
                <a:solidFill>
                  <a:srgbClr val="D35400"/>
                </a:solidFill>
                <a:latin typeface="Trebuchet MS" pitchFamily="34" charset="0"/>
                <a:ea typeface="Trebuchet MS" pitchFamily="34" charset="-122"/>
                <a:cs typeface="Trebuchet MS" pitchFamily="34" charset="-120"/>
              </a:rPr>
              <a:t>SQL EXECUTION ORDER</a:t>
            </a:r>
            <a:endParaRPr lang="en-US" sz="950" dirty="0"/>
          </a:p>
        </p:txBody>
      </p:sp>
      <p:sp>
        <p:nvSpPr>
          <p:cNvPr id="19" name="Shape 17"/>
          <p:cNvSpPr/>
          <p:nvPr/>
        </p:nvSpPr>
        <p:spPr>
          <a:xfrm>
            <a:off x="365760" y="2871216"/>
            <a:ext cx="1600200" cy="457200"/>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20" name="Text 18"/>
          <p:cNvSpPr/>
          <p:nvPr/>
        </p:nvSpPr>
        <p:spPr>
          <a:xfrm>
            <a:off x="438912" y="2889504"/>
            <a:ext cx="1463040" cy="420624"/>
          </a:xfrm>
          <a:prstGeom prst="rect">
            <a:avLst/>
          </a:prstGeom>
          <a:noFill/>
          <a:ln/>
        </p:spPr>
        <p:txBody>
          <a:bodyPr wrap="square" lIns="0" tIns="0" rIns="0" bIns="0" rtlCol="0" anchor="ctr"/>
          <a:lstStyle/>
          <a:p>
            <a:pPr marL="0" indent="0">
              <a:buNone/>
            </a:pPr>
            <a:r>
              <a:rPr lang="en-US" sz="1050" dirty="0">
                <a:solidFill>
                  <a:srgbClr val="5D6D7E"/>
                </a:solidFill>
                <a:latin typeface="Trebuchet MS" pitchFamily="34" charset="0"/>
                <a:ea typeface="Trebuchet MS" pitchFamily="34" charset="-122"/>
                <a:cs typeface="Trebuchet MS" pitchFamily="34" charset="-120"/>
              </a:rPr>
              <a:t>① FROM</a:t>
            </a:r>
            <a:endParaRPr lang="en-US" sz="1050" dirty="0"/>
          </a:p>
        </p:txBody>
      </p:sp>
      <p:sp>
        <p:nvSpPr>
          <p:cNvPr id="21" name="Shape 19"/>
          <p:cNvSpPr/>
          <p:nvPr/>
        </p:nvSpPr>
        <p:spPr>
          <a:xfrm>
            <a:off x="2084832" y="2871216"/>
            <a:ext cx="1600200" cy="457200"/>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22" name="Text 20"/>
          <p:cNvSpPr/>
          <p:nvPr/>
        </p:nvSpPr>
        <p:spPr>
          <a:xfrm>
            <a:off x="2157984" y="2889504"/>
            <a:ext cx="1463040" cy="420624"/>
          </a:xfrm>
          <a:prstGeom prst="rect">
            <a:avLst/>
          </a:prstGeom>
          <a:noFill/>
          <a:ln/>
        </p:spPr>
        <p:txBody>
          <a:bodyPr wrap="square" lIns="0" tIns="0" rIns="0" bIns="0" rtlCol="0" anchor="ctr"/>
          <a:lstStyle/>
          <a:p>
            <a:pPr marL="0" indent="0">
              <a:buNone/>
            </a:pPr>
            <a:r>
              <a:rPr lang="en-US" sz="1050" dirty="0">
                <a:solidFill>
                  <a:srgbClr val="5D6D7E"/>
                </a:solidFill>
                <a:latin typeface="Trebuchet MS" pitchFamily="34" charset="0"/>
                <a:ea typeface="Trebuchet MS" pitchFamily="34" charset="-122"/>
                <a:cs typeface="Trebuchet MS" pitchFamily="34" charset="-120"/>
              </a:rPr>
              <a:t>② WHERE</a:t>
            </a:r>
            <a:endParaRPr lang="en-US" sz="1050" dirty="0"/>
          </a:p>
        </p:txBody>
      </p:sp>
      <p:sp>
        <p:nvSpPr>
          <p:cNvPr id="23" name="Shape 21"/>
          <p:cNvSpPr/>
          <p:nvPr/>
        </p:nvSpPr>
        <p:spPr>
          <a:xfrm>
            <a:off x="3803904" y="2871216"/>
            <a:ext cx="1600200" cy="457200"/>
          </a:xfrm>
          <a:prstGeom prst="rect">
            <a:avLst/>
          </a:prstGeom>
          <a:solidFill>
            <a:srgbClr val="D35400"/>
          </a:solidFill>
          <a:ln w="12700">
            <a:solidFill>
              <a:srgbClr val="D35400"/>
            </a:solidFill>
            <a:prstDash val="solid"/>
          </a:ln>
          <a:effectLst>
            <a:outerShdw blurRad="50800" dist="25400" dir="8100000" algn="bl" rotWithShape="0">
              <a:srgbClr val="000000">
                <a:alpha val="7000"/>
              </a:srgbClr>
            </a:outerShdw>
          </a:effectLst>
        </p:spPr>
      </p:sp>
      <p:sp>
        <p:nvSpPr>
          <p:cNvPr id="24" name="Text 22"/>
          <p:cNvSpPr/>
          <p:nvPr/>
        </p:nvSpPr>
        <p:spPr>
          <a:xfrm>
            <a:off x="3877056" y="2889504"/>
            <a:ext cx="1463040" cy="420624"/>
          </a:xfrm>
          <a:prstGeom prst="rect">
            <a:avLst/>
          </a:prstGeom>
          <a:noFill/>
          <a:ln/>
        </p:spPr>
        <p:txBody>
          <a:bodyPr wrap="square" lIns="0" tIns="0" rIns="0" bIns="0" rtlCol="0" anchor="ctr"/>
          <a:lstStyle/>
          <a:p>
            <a:pPr marL="0" indent="0">
              <a:buNone/>
            </a:pPr>
            <a:r>
              <a:rPr lang="en-US" sz="1050" b="1" dirty="0">
                <a:solidFill>
                  <a:srgbClr val="FFFFFF"/>
                </a:solidFill>
                <a:latin typeface="Trebuchet MS" pitchFamily="34" charset="0"/>
                <a:ea typeface="Trebuchet MS" pitchFamily="34" charset="-122"/>
                <a:cs typeface="Trebuchet MS" pitchFamily="34" charset="-120"/>
              </a:rPr>
              <a:t>③ GROUP BY</a:t>
            </a:r>
            <a:endParaRPr lang="en-US" sz="1050" dirty="0"/>
          </a:p>
        </p:txBody>
      </p:sp>
      <p:sp>
        <p:nvSpPr>
          <p:cNvPr id="25" name="Shape 23"/>
          <p:cNvSpPr/>
          <p:nvPr/>
        </p:nvSpPr>
        <p:spPr>
          <a:xfrm>
            <a:off x="5522976" y="2871216"/>
            <a:ext cx="1600200" cy="457200"/>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26" name="Text 24"/>
          <p:cNvSpPr/>
          <p:nvPr/>
        </p:nvSpPr>
        <p:spPr>
          <a:xfrm>
            <a:off x="5596128" y="2889504"/>
            <a:ext cx="1463040" cy="420624"/>
          </a:xfrm>
          <a:prstGeom prst="rect">
            <a:avLst/>
          </a:prstGeom>
          <a:noFill/>
          <a:ln/>
        </p:spPr>
        <p:txBody>
          <a:bodyPr wrap="square" lIns="0" tIns="0" rIns="0" bIns="0" rtlCol="0" anchor="ctr"/>
          <a:lstStyle/>
          <a:p>
            <a:pPr marL="0" indent="0">
              <a:buNone/>
            </a:pPr>
            <a:r>
              <a:rPr lang="en-US" sz="1050" dirty="0">
                <a:solidFill>
                  <a:srgbClr val="5D6D7E"/>
                </a:solidFill>
                <a:latin typeface="Trebuchet MS" pitchFamily="34" charset="0"/>
                <a:ea typeface="Trebuchet MS" pitchFamily="34" charset="-122"/>
                <a:cs typeface="Trebuchet MS" pitchFamily="34" charset="-120"/>
              </a:rPr>
              <a:t>④ SELECT</a:t>
            </a:r>
            <a:endParaRPr lang="en-US" sz="1050" dirty="0"/>
          </a:p>
        </p:txBody>
      </p:sp>
      <p:sp>
        <p:nvSpPr>
          <p:cNvPr id="27" name="Shape 25"/>
          <p:cNvSpPr/>
          <p:nvPr/>
        </p:nvSpPr>
        <p:spPr>
          <a:xfrm>
            <a:off x="7242048" y="2871216"/>
            <a:ext cx="1600200" cy="457200"/>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28" name="Text 26"/>
          <p:cNvSpPr/>
          <p:nvPr/>
        </p:nvSpPr>
        <p:spPr>
          <a:xfrm>
            <a:off x="7315200" y="2889504"/>
            <a:ext cx="1463040" cy="420624"/>
          </a:xfrm>
          <a:prstGeom prst="rect">
            <a:avLst/>
          </a:prstGeom>
          <a:noFill/>
          <a:ln/>
        </p:spPr>
        <p:txBody>
          <a:bodyPr wrap="square" lIns="0" tIns="0" rIns="0" bIns="0" rtlCol="0" anchor="ctr"/>
          <a:lstStyle/>
          <a:p>
            <a:pPr marL="0" indent="0">
              <a:buNone/>
            </a:pPr>
            <a:r>
              <a:rPr lang="en-US" sz="1050" dirty="0">
                <a:solidFill>
                  <a:srgbClr val="5D6D7E"/>
                </a:solidFill>
                <a:latin typeface="Trebuchet MS" pitchFamily="34" charset="0"/>
                <a:ea typeface="Trebuchet MS" pitchFamily="34" charset="-122"/>
                <a:cs typeface="Trebuchet MS" pitchFamily="34" charset="-120"/>
              </a:rPr>
              <a:t>⑤ ORDER BY</a:t>
            </a:r>
            <a:endParaRPr lang="en-US" sz="1050" dirty="0"/>
          </a:p>
        </p:txBody>
      </p:sp>
      <p:sp>
        <p:nvSpPr>
          <p:cNvPr id="29" name="Text 27"/>
          <p:cNvSpPr/>
          <p:nvPr/>
        </p:nvSpPr>
        <p:spPr>
          <a:xfrm>
            <a:off x="365760" y="3493008"/>
            <a:ext cx="5029200" cy="201168"/>
          </a:xfrm>
          <a:prstGeom prst="rect">
            <a:avLst/>
          </a:prstGeom>
          <a:noFill/>
          <a:ln/>
        </p:spPr>
        <p:txBody>
          <a:bodyPr wrap="square" lIns="0" tIns="0" rIns="0" bIns="0" rtlCol="0" anchor="ctr"/>
          <a:lstStyle/>
          <a:p>
            <a:pPr marL="0" indent="0">
              <a:buNone/>
            </a:pPr>
            <a:r>
              <a:rPr lang="en-US" sz="950" b="1" kern="0" spc="200" dirty="0">
                <a:solidFill>
                  <a:srgbClr val="1A3A5C"/>
                </a:solidFill>
                <a:latin typeface="Trebuchet MS" pitchFamily="34" charset="0"/>
                <a:ea typeface="Trebuchet MS" pitchFamily="34" charset="-122"/>
                <a:cs typeface="Trebuchet MS" pitchFamily="34" charset="-120"/>
              </a:rPr>
              <a:t>KEY RULES</a:t>
            </a:r>
            <a:endParaRPr lang="en-US" sz="950" dirty="0"/>
          </a:p>
        </p:txBody>
      </p:sp>
      <p:sp>
        <p:nvSpPr>
          <p:cNvPr id="30" name="Shape 28"/>
          <p:cNvSpPr/>
          <p:nvPr/>
        </p:nvSpPr>
        <p:spPr>
          <a:xfrm>
            <a:off x="365760" y="3694176"/>
            <a:ext cx="8412480" cy="320040"/>
          </a:xfrm>
          <a:prstGeom prst="rect">
            <a:avLst/>
          </a:prstGeom>
          <a:solidFill>
            <a:srgbClr val="FFFFFF"/>
          </a:solidFill>
          <a:ln w="6350">
            <a:solidFill>
              <a:srgbClr val="BDC3C7"/>
            </a:solidFill>
            <a:prstDash val="solid"/>
          </a:ln>
        </p:spPr>
      </p:sp>
      <p:sp>
        <p:nvSpPr>
          <p:cNvPr id="31" name="Shape 29"/>
          <p:cNvSpPr/>
          <p:nvPr/>
        </p:nvSpPr>
        <p:spPr>
          <a:xfrm>
            <a:off x="365760" y="3694176"/>
            <a:ext cx="54864" cy="320040"/>
          </a:xfrm>
          <a:prstGeom prst="rect">
            <a:avLst/>
          </a:prstGeom>
          <a:solidFill>
            <a:srgbClr val="2E86C1"/>
          </a:solidFill>
          <a:ln w="12700">
            <a:solidFill>
              <a:srgbClr val="2E86C1"/>
            </a:solidFill>
            <a:prstDash val="solid"/>
          </a:ln>
        </p:spPr>
      </p:sp>
      <p:sp>
        <p:nvSpPr>
          <p:cNvPr id="32" name="Text 30"/>
          <p:cNvSpPr/>
          <p:nvPr/>
        </p:nvSpPr>
        <p:spPr>
          <a:xfrm>
            <a:off x="548640" y="3730752"/>
            <a:ext cx="8138160" cy="246888"/>
          </a:xfrm>
          <a:prstGeom prst="rect">
            <a:avLst/>
          </a:prstGeom>
          <a:noFill/>
          <a:ln/>
        </p:spPr>
        <p:txBody>
          <a:bodyPr wrap="square" lIns="0" tIns="0" rIns="0" bIns="0" rtlCol="0" anchor="ctr"/>
          <a:lstStyle/>
          <a:p>
            <a:pPr marL="0" indent="0">
              <a:buNone/>
            </a:pPr>
            <a:r>
              <a:rPr lang="en-US" sz="1150" dirty="0">
                <a:solidFill>
                  <a:srgbClr val="2C3E50"/>
                </a:solidFill>
                <a:latin typeface="Trebuchet MS" pitchFamily="34" charset="0"/>
                <a:ea typeface="Trebuchet MS" pitchFamily="34" charset="-122"/>
                <a:cs typeface="Trebuchet MS" pitchFamily="34" charset="-120"/>
              </a:rPr>
              <a:t>Every non-aggregated column in SELECT must appear in GROUP BY.</a:t>
            </a:r>
            <a:endParaRPr lang="en-US" sz="1150" dirty="0"/>
          </a:p>
        </p:txBody>
      </p:sp>
      <p:sp>
        <p:nvSpPr>
          <p:cNvPr id="33" name="Shape 31"/>
          <p:cNvSpPr/>
          <p:nvPr/>
        </p:nvSpPr>
        <p:spPr>
          <a:xfrm>
            <a:off x="365760" y="4041648"/>
            <a:ext cx="8412480" cy="320040"/>
          </a:xfrm>
          <a:prstGeom prst="rect">
            <a:avLst/>
          </a:prstGeom>
          <a:solidFill>
            <a:srgbClr val="FFFFFF"/>
          </a:solidFill>
          <a:ln w="6350">
            <a:solidFill>
              <a:srgbClr val="BDC3C7"/>
            </a:solidFill>
            <a:prstDash val="solid"/>
          </a:ln>
        </p:spPr>
      </p:sp>
      <p:sp>
        <p:nvSpPr>
          <p:cNvPr id="34" name="Shape 32"/>
          <p:cNvSpPr/>
          <p:nvPr/>
        </p:nvSpPr>
        <p:spPr>
          <a:xfrm>
            <a:off x="365760" y="4041648"/>
            <a:ext cx="54864" cy="320040"/>
          </a:xfrm>
          <a:prstGeom prst="rect">
            <a:avLst/>
          </a:prstGeom>
          <a:solidFill>
            <a:srgbClr val="D35400"/>
          </a:solidFill>
          <a:ln w="12700">
            <a:solidFill>
              <a:srgbClr val="D35400"/>
            </a:solidFill>
            <a:prstDash val="solid"/>
          </a:ln>
        </p:spPr>
      </p:sp>
      <p:sp>
        <p:nvSpPr>
          <p:cNvPr id="35" name="Text 33"/>
          <p:cNvSpPr/>
          <p:nvPr/>
        </p:nvSpPr>
        <p:spPr>
          <a:xfrm>
            <a:off x="548640" y="4078224"/>
            <a:ext cx="8138160" cy="246888"/>
          </a:xfrm>
          <a:prstGeom prst="rect">
            <a:avLst/>
          </a:prstGeom>
          <a:noFill/>
          <a:ln/>
        </p:spPr>
        <p:txBody>
          <a:bodyPr wrap="square" lIns="0" tIns="0" rIns="0" bIns="0" rtlCol="0" anchor="ctr"/>
          <a:lstStyle/>
          <a:p>
            <a:pPr marL="0" indent="0">
              <a:buNone/>
            </a:pPr>
            <a:r>
              <a:rPr lang="en-US" sz="1150" dirty="0">
                <a:solidFill>
                  <a:srgbClr val="2C3E50"/>
                </a:solidFill>
                <a:latin typeface="Trebuchet MS" pitchFamily="34" charset="0"/>
                <a:ea typeface="Trebuchet MS" pitchFamily="34" charset="-122"/>
                <a:cs typeface="Trebuchet MS" pitchFamily="34" charset="-120"/>
              </a:rPr>
              <a:t>Use HAVING — not WHERE — to filter on aggregate results.</a:t>
            </a:r>
            <a:endParaRPr lang="en-US" sz="1150" dirty="0"/>
          </a:p>
        </p:txBody>
      </p:sp>
      <p:sp>
        <p:nvSpPr>
          <p:cNvPr id="36" name="Shape 34"/>
          <p:cNvSpPr/>
          <p:nvPr/>
        </p:nvSpPr>
        <p:spPr>
          <a:xfrm>
            <a:off x="365760" y="4389120"/>
            <a:ext cx="8412480" cy="320040"/>
          </a:xfrm>
          <a:prstGeom prst="rect">
            <a:avLst/>
          </a:prstGeom>
          <a:solidFill>
            <a:srgbClr val="FFFFFF"/>
          </a:solidFill>
          <a:ln w="6350">
            <a:solidFill>
              <a:srgbClr val="BDC3C7"/>
            </a:solidFill>
            <a:prstDash val="solid"/>
          </a:ln>
        </p:spPr>
      </p:sp>
      <p:sp>
        <p:nvSpPr>
          <p:cNvPr id="37" name="Shape 35"/>
          <p:cNvSpPr/>
          <p:nvPr/>
        </p:nvSpPr>
        <p:spPr>
          <a:xfrm>
            <a:off x="365760" y="4389120"/>
            <a:ext cx="54864" cy="320040"/>
          </a:xfrm>
          <a:prstGeom prst="rect">
            <a:avLst/>
          </a:prstGeom>
          <a:solidFill>
            <a:srgbClr val="1E8449"/>
          </a:solidFill>
          <a:ln w="12700">
            <a:solidFill>
              <a:srgbClr val="1E8449"/>
            </a:solidFill>
            <a:prstDash val="solid"/>
          </a:ln>
        </p:spPr>
      </p:sp>
      <p:sp>
        <p:nvSpPr>
          <p:cNvPr id="38" name="Text 36"/>
          <p:cNvSpPr/>
          <p:nvPr/>
        </p:nvSpPr>
        <p:spPr>
          <a:xfrm>
            <a:off x="548640" y="4425696"/>
            <a:ext cx="8138160" cy="246888"/>
          </a:xfrm>
          <a:prstGeom prst="rect">
            <a:avLst/>
          </a:prstGeom>
          <a:noFill/>
          <a:ln/>
        </p:spPr>
        <p:txBody>
          <a:bodyPr wrap="square" lIns="0" tIns="0" rIns="0" bIns="0" rtlCol="0" anchor="ctr"/>
          <a:lstStyle/>
          <a:p>
            <a:pPr marL="0" indent="0">
              <a:buNone/>
            </a:pPr>
            <a:r>
              <a:rPr lang="en-US" sz="1150" dirty="0">
                <a:solidFill>
                  <a:srgbClr val="2C3E50"/>
                </a:solidFill>
                <a:latin typeface="Trebuchet MS" pitchFamily="34" charset="0"/>
                <a:ea typeface="Trebuchet MS" pitchFamily="34" charset="-122"/>
                <a:cs typeface="Trebuchet MS" pitchFamily="34" charset="-120"/>
              </a:rPr>
              <a:t>GROUP BY processes rows AFTER WHERE filters them.</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3A5C"/>
          </a:solidFill>
          <a:ln w="12700">
            <a:solidFill>
              <a:srgbClr val="1A3A5C"/>
            </a:solidFill>
            <a:prstDash val="solid"/>
          </a:ln>
        </p:spPr>
      </p:sp>
      <p:sp>
        <p:nvSpPr>
          <p:cNvPr id="3" name="Shape 1"/>
          <p:cNvSpPr/>
          <p:nvPr/>
        </p:nvSpPr>
        <p:spPr>
          <a:xfrm>
            <a:off x="0" y="73152"/>
            <a:ext cx="9144000" cy="749808"/>
          </a:xfrm>
          <a:prstGeom prst="rect">
            <a:avLst/>
          </a:prstGeom>
          <a:solidFill>
            <a:srgbClr val="1A3A5C"/>
          </a:solidFill>
          <a:ln w="12700">
            <a:solidFill>
              <a:srgbClr val="1A3A5C"/>
            </a:solidFill>
            <a:prstDash val="solid"/>
          </a:ln>
        </p:spPr>
      </p:sp>
      <p:sp>
        <p:nvSpPr>
          <p:cNvPr id="4" name="Text 2"/>
          <p:cNvSpPr/>
          <p:nvPr/>
        </p:nvSpPr>
        <p:spPr>
          <a:xfrm>
            <a:off x="457200" y="118872"/>
            <a:ext cx="7132320" cy="420624"/>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HAVING Clause</a:t>
            </a:r>
            <a:endParaRPr lang="en-US" sz="2800" dirty="0"/>
          </a:p>
        </p:txBody>
      </p:sp>
      <p:sp>
        <p:nvSpPr>
          <p:cNvPr id="5" name="Text 3"/>
          <p:cNvSpPr/>
          <p:nvPr/>
        </p:nvSpPr>
        <p:spPr>
          <a:xfrm>
            <a:off x="457200" y="557784"/>
            <a:ext cx="7132320" cy="201168"/>
          </a:xfrm>
          <a:prstGeom prst="rect">
            <a:avLst/>
          </a:prstGeom>
          <a:noFill/>
          <a:ln/>
        </p:spPr>
        <p:txBody>
          <a:bodyPr wrap="square" lIns="0" tIns="0" rIns="0" bIns="0" rtlCol="0" anchor="ctr"/>
          <a:lstStyle/>
          <a:p>
            <a:pPr marL="0" indent="0">
              <a:buNone/>
            </a:pPr>
            <a:r>
              <a:rPr lang="en-US" sz="1100" i="1" dirty="0">
                <a:solidFill>
                  <a:srgbClr val="D6E8F5"/>
                </a:solidFill>
                <a:latin typeface="Georgia" pitchFamily="34" charset="0"/>
                <a:ea typeface="Georgia" pitchFamily="34" charset="-122"/>
                <a:cs typeface="Georgia" pitchFamily="34" charset="-120"/>
              </a:rPr>
              <a:t>Definition, Syntax &amp; Examples</a:t>
            </a:r>
            <a:endParaRPr lang="en-US" sz="1100" dirty="0"/>
          </a:p>
        </p:txBody>
      </p:sp>
      <p:sp>
        <p:nvSpPr>
          <p:cNvPr id="7" name="Text 5"/>
          <p:cNvSpPr/>
          <p:nvPr/>
        </p:nvSpPr>
        <p:spPr>
          <a:xfrm>
            <a:off x="7973568" y="219456"/>
            <a:ext cx="804672" cy="237744"/>
          </a:xfrm>
          <a:prstGeom prst="rect">
            <a:avLst/>
          </a:prstGeom>
          <a:noFill/>
          <a:ln/>
        </p:spPr>
        <p:txBody>
          <a:bodyPr wrap="square" lIns="0" tIns="0" rIns="0" bIns="0" rtlCol="0" anchor="ctr"/>
          <a:lstStyle/>
          <a:p>
            <a:pPr marL="0" indent="0" algn="ctr">
              <a:buNone/>
            </a:pPr>
            <a:endParaRPr lang="en-US" sz="1000" dirty="0"/>
          </a:p>
        </p:txBody>
      </p:sp>
      <p:sp>
        <p:nvSpPr>
          <p:cNvPr id="8" name="Text 6"/>
          <p:cNvSpPr/>
          <p:nvPr/>
        </p:nvSpPr>
        <p:spPr>
          <a:xfrm>
            <a:off x="365760" y="987552"/>
            <a:ext cx="5029200" cy="201168"/>
          </a:xfrm>
          <a:prstGeom prst="rect">
            <a:avLst/>
          </a:prstGeom>
          <a:noFill/>
          <a:ln/>
        </p:spPr>
        <p:txBody>
          <a:bodyPr wrap="square" lIns="0" tIns="0" rIns="0" bIns="0" rtlCol="0" anchor="ctr"/>
          <a:lstStyle/>
          <a:p>
            <a:pPr marL="0" indent="0">
              <a:buNone/>
            </a:pPr>
            <a:r>
              <a:rPr lang="en-US" sz="950" b="1" kern="0" spc="200" dirty="0">
                <a:solidFill>
                  <a:srgbClr val="2E86C1"/>
                </a:solidFill>
                <a:latin typeface="Trebuchet MS" pitchFamily="34" charset="0"/>
                <a:ea typeface="Trebuchet MS" pitchFamily="34" charset="-122"/>
                <a:cs typeface="Trebuchet MS" pitchFamily="34" charset="-120"/>
              </a:rPr>
              <a:t>DEFINITION</a:t>
            </a:r>
            <a:endParaRPr lang="en-US" sz="950" dirty="0"/>
          </a:p>
        </p:txBody>
      </p:sp>
      <p:sp>
        <p:nvSpPr>
          <p:cNvPr id="9" name="Shape 7"/>
          <p:cNvSpPr/>
          <p:nvPr/>
        </p:nvSpPr>
        <p:spPr>
          <a:xfrm>
            <a:off x="365760" y="987552"/>
            <a:ext cx="8412480" cy="804672"/>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10" name="Shape 8"/>
          <p:cNvSpPr/>
          <p:nvPr/>
        </p:nvSpPr>
        <p:spPr>
          <a:xfrm>
            <a:off x="365760" y="987552"/>
            <a:ext cx="54864" cy="804672"/>
          </a:xfrm>
          <a:prstGeom prst="rect">
            <a:avLst/>
          </a:prstGeom>
          <a:solidFill>
            <a:srgbClr val="2E86C1"/>
          </a:solidFill>
          <a:ln w="12700">
            <a:solidFill>
              <a:srgbClr val="2E86C1"/>
            </a:solidFill>
            <a:prstDash val="solid"/>
          </a:ln>
        </p:spPr>
      </p:sp>
      <p:sp>
        <p:nvSpPr>
          <p:cNvPr id="11" name="Text 9"/>
          <p:cNvSpPr/>
          <p:nvPr/>
        </p:nvSpPr>
        <p:spPr>
          <a:xfrm>
            <a:off x="548640" y="1042416"/>
            <a:ext cx="8092440" cy="694944"/>
          </a:xfrm>
          <a:prstGeom prst="rect">
            <a:avLst/>
          </a:prstGeom>
          <a:noFill/>
          <a:ln/>
        </p:spPr>
        <p:txBody>
          <a:bodyPr wrap="square" lIns="0" tIns="0" rIns="0" bIns="0" rtlCol="0" anchor="ctr"/>
          <a:lstStyle/>
          <a:p>
            <a:pPr marL="0" indent="0">
              <a:buNone/>
            </a:pPr>
            <a:r>
              <a:rPr lang="en-US" sz="1300" dirty="0">
                <a:solidFill>
                  <a:srgbClr val="2C3E50"/>
                </a:solidFill>
                <a:latin typeface="Trebuchet MS" pitchFamily="34" charset="0"/>
                <a:ea typeface="Trebuchet MS" pitchFamily="34" charset="-122"/>
                <a:cs typeface="Trebuchet MS" pitchFamily="34" charset="-120"/>
              </a:rPr>
              <a:t>HAVING filters grouped records after GROUP BY. Unlike WHERE (which filters rows), HAVING filters entire groups — the only way to apply conditions on aggregate function results.</a:t>
            </a:r>
            <a:endParaRPr lang="en-US" sz="1300" dirty="0"/>
          </a:p>
        </p:txBody>
      </p:sp>
      <p:sp>
        <p:nvSpPr>
          <p:cNvPr id="12" name="Text 10"/>
          <p:cNvSpPr/>
          <p:nvPr/>
        </p:nvSpPr>
        <p:spPr>
          <a:xfrm>
            <a:off x="365760" y="1938528"/>
            <a:ext cx="5029200" cy="201168"/>
          </a:xfrm>
          <a:prstGeom prst="rect">
            <a:avLst/>
          </a:prstGeom>
          <a:noFill/>
          <a:ln/>
        </p:spPr>
        <p:txBody>
          <a:bodyPr wrap="square" lIns="0" tIns="0" rIns="0" bIns="0" rtlCol="0" anchor="ctr"/>
          <a:lstStyle/>
          <a:p>
            <a:pPr marL="0" indent="0">
              <a:buNone/>
            </a:pPr>
            <a:r>
              <a:rPr lang="en-US" sz="950" b="1" kern="0" spc="200" dirty="0">
                <a:solidFill>
                  <a:srgbClr val="2E86C1"/>
                </a:solidFill>
                <a:latin typeface="Trebuchet MS" pitchFamily="34" charset="0"/>
                <a:ea typeface="Trebuchet MS" pitchFamily="34" charset="-122"/>
                <a:cs typeface="Trebuchet MS" pitchFamily="34" charset="-120"/>
              </a:rPr>
              <a:t>SYNTAX</a:t>
            </a:r>
            <a:endParaRPr lang="en-US" sz="950" dirty="0"/>
          </a:p>
        </p:txBody>
      </p:sp>
      <p:sp>
        <p:nvSpPr>
          <p:cNvPr id="13" name="Shape 11"/>
          <p:cNvSpPr/>
          <p:nvPr/>
        </p:nvSpPr>
        <p:spPr>
          <a:xfrm>
            <a:off x="365760" y="2148840"/>
            <a:ext cx="3931920" cy="1261872"/>
          </a:xfrm>
          <a:prstGeom prst="rect">
            <a:avLst/>
          </a:prstGeom>
          <a:solidFill>
            <a:srgbClr val="F4F6F7"/>
          </a:solidFill>
          <a:ln w="12700">
            <a:solidFill>
              <a:srgbClr val="BDC3C7"/>
            </a:solidFill>
            <a:prstDash val="solid"/>
          </a:ln>
        </p:spPr>
      </p:sp>
      <p:sp>
        <p:nvSpPr>
          <p:cNvPr id="14" name="Shape 12"/>
          <p:cNvSpPr/>
          <p:nvPr/>
        </p:nvSpPr>
        <p:spPr>
          <a:xfrm>
            <a:off x="365760" y="2148840"/>
            <a:ext cx="3931920" cy="256032"/>
          </a:xfrm>
          <a:prstGeom prst="rect">
            <a:avLst/>
          </a:prstGeom>
          <a:solidFill>
            <a:srgbClr val="1A3A5C"/>
          </a:solidFill>
          <a:ln w="12700">
            <a:solidFill>
              <a:srgbClr val="1A3A5C"/>
            </a:solidFill>
            <a:prstDash val="solid"/>
          </a:ln>
        </p:spPr>
      </p:sp>
      <p:sp>
        <p:nvSpPr>
          <p:cNvPr id="15" name="Text 13"/>
          <p:cNvSpPr/>
          <p:nvPr/>
        </p:nvSpPr>
        <p:spPr>
          <a:xfrm>
            <a:off x="475488" y="2176272"/>
            <a:ext cx="3749040" cy="201168"/>
          </a:xfrm>
          <a:prstGeom prst="rect">
            <a:avLst/>
          </a:prstGeom>
          <a:noFill/>
          <a:ln/>
        </p:spPr>
        <p:txBody>
          <a:bodyPr wrap="square" lIns="0" tIns="0" rIns="0" bIns="0" rtlCol="0" anchor="ctr"/>
          <a:lstStyle/>
          <a:p>
            <a:pPr marL="0" indent="0">
              <a:buNone/>
            </a:pPr>
            <a:r>
              <a:rPr lang="en-US" sz="950" dirty="0">
                <a:solidFill>
                  <a:srgbClr val="FFFFFF"/>
                </a:solidFill>
                <a:latin typeface="Trebuchet MS" pitchFamily="34" charset="0"/>
                <a:ea typeface="Trebuchet MS" pitchFamily="34" charset="-122"/>
                <a:cs typeface="Trebuchet MS" pitchFamily="34" charset="-120"/>
              </a:rPr>
              <a:t>SQL — Syntax</a:t>
            </a:r>
            <a:endParaRPr lang="en-US" sz="950" dirty="0"/>
          </a:p>
        </p:txBody>
      </p:sp>
      <p:sp>
        <p:nvSpPr>
          <p:cNvPr id="16" name="Text 14"/>
          <p:cNvSpPr/>
          <p:nvPr/>
        </p:nvSpPr>
        <p:spPr>
          <a:xfrm>
            <a:off x="475488" y="2450592"/>
            <a:ext cx="3749040" cy="877824"/>
          </a:xfrm>
          <a:prstGeom prst="rect">
            <a:avLst/>
          </a:prstGeom>
          <a:noFill/>
          <a:ln/>
        </p:spPr>
        <p:txBody>
          <a:bodyPr wrap="square" lIns="0" tIns="0" rIns="0" bIns="0" rtlCol="0" anchor="ctr"/>
          <a:lstStyle/>
          <a:p>
            <a:pPr marL="0" indent="0">
              <a:buNone/>
            </a:pPr>
            <a:r>
              <a:rPr lang="en-US" sz="1150" dirty="0">
                <a:solidFill>
                  <a:srgbClr val="1A5276"/>
                </a:solidFill>
                <a:latin typeface="Consolas" pitchFamily="34" charset="0"/>
                <a:ea typeface="Consolas" pitchFamily="34" charset="-122"/>
                <a:cs typeface="Consolas" pitchFamily="34" charset="-120"/>
              </a:rPr>
              <a:t>SELECT col, AGG_FUNC(col)</a:t>
            </a:r>
            <a:endParaRPr lang="en-US" sz="1150" dirty="0"/>
          </a:p>
          <a:p>
            <a:pPr marL="0" indent="0">
              <a:buNone/>
            </a:pPr>
            <a:r>
              <a:rPr lang="en-US" sz="1150" dirty="0">
                <a:solidFill>
                  <a:srgbClr val="1A5276"/>
                </a:solidFill>
                <a:latin typeface="Consolas" pitchFamily="34" charset="0"/>
                <a:ea typeface="Consolas" pitchFamily="34" charset="-122"/>
                <a:cs typeface="Consolas" pitchFamily="34" charset="-120"/>
              </a:rPr>
              <a:t>FROM table_name</a:t>
            </a:r>
            <a:endParaRPr lang="en-US" sz="1150" dirty="0"/>
          </a:p>
          <a:p>
            <a:pPr marL="0" indent="0">
              <a:buNone/>
            </a:pPr>
            <a:r>
              <a:rPr lang="en-US" sz="1150" dirty="0">
                <a:solidFill>
                  <a:srgbClr val="1A5276"/>
                </a:solidFill>
                <a:latin typeface="Consolas" pitchFamily="34" charset="0"/>
                <a:ea typeface="Consolas" pitchFamily="34" charset="-122"/>
                <a:cs typeface="Consolas" pitchFamily="34" charset="-120"/>
              </a:rPr>
              <a:t>GROUP BY column</a:t>
            </a:r>
            <a:endParaRPr lang="en-US" sz="1150" dirty="0"/>
          </a:p>
          <a:p>
            <a:pPr marL="0" indent="0">
              <a:buNone/>
            </a:pPr>
            <a:r>
              <a:rPr lang="en-US" sz="1150" dirty="0">
                <a:solidFill>
                  <a:srgbClr val="1A5276"/>
                </a:solidFill>
                <a:latin typeface="Consolas" pitchFamily="34" charset="0"/>
                <a:ea typeface="Consolas" pitchFamily="34" charset="-122"/>
                <a:cs typeface="Consolas" pitchFamily="34" charset="-120"/>
              </a:rPr>
              <a:t>HAVING condition;</a:t>
            </a:r>
            <a:endParaRPr lang="en-US" sz="1150" dirty="0"/>
          </a:p>
        </p:txBody>
      </p:sp>
      <p:sp>
        <p:nvSpPr>
          <p:cNvPr id="17" name="Text 15"/>
          <p:cNvSpPr/>
          <p:nvPr/>
        </p:nvSpPr>
        <p:spPr>
          <a:xfrm>
            <a:off x="4572000" y="1938528"/>
            <a:ext cx="5029200" cy="201168"/>
          </a:xfrm>
          <a:prstGeom prst="rect">
            <a:avLst/>
          </a:prstGeom>
          <a:noFill/>
          <a:ln/>
        </p:spPr>
        <p:txBody>
          <a:bodyPr wrap="square" lIns="0" tIns="0" rIns="0" bIns="0" rtlCol="0" anchor="ctr"/>
          <a:lstStyle/>
          <a:p>
            <a:pPr marL="0" indent="0">
              <a:buNone/>
            </a:pPr>
            <a:r>
              <a:rPr lang="en-US" sz="950" b="1" kern="0" spc="200" dirty="0">
                <a:solidFill>
                  <a:srgbClr val="1E8449"/>
                </a:solidFill>
                <a:latin typeface="Trebuchet MS" pitchFamily="34" charset="0"/>
                <a:ea typeface="Trebuchet MS" pitchFamily="34" charset="-122"/>
                <a:cs typeface="Trebuchet MS" pitchFamily="34" charset="-120"/>
              </a:rPr>
              <a:t>EXAMPLE</a:t>
            </a:r>
            <a:endParaRPr lang="en-US" sz="950" dirty="0"/>
          </a:p>
        </p:txBody>
      </p:sp>
      <p:sp>
        <p:nvSpPr>
          <p:cNvPr id="18" name="Shape 16"/>
          <p:cNvSpPr/>
          <p:nvPr/>
        </p:nvSpPr>
        <p:spPr>
          <a:xfrm>
            <a:off x="4572000" y="2148840"/>
            <a:ext cx="4206240" cy="1261872"/>
          </a:xfrm>
          <a:prstGeom prst="rect">
            <a:avLst/>
          </a:prstGeom>
          <a:solidFill>
            <a:srgbClr val="F4F6F7"/>
          </a:solidFill>
          <a:ln w="12700">
            <a:solidFill>
              <a:srgbClr val="BDC3C7"/>
            </a:solidFill>
            <a:prstDash val="solid"/>
          </a:ln>
        </p:spPr>
      </p:sp>
      <p:sp>
        <p:nvSpPr>
          <p:cNvPr id="19" name="Shape 17"/>
          <p:cNvSpPr/>
          <p:nvPr/>
        </p:nvSpPr>
        <p:spPr>
          <a:xfrm>
            <a:off x="4572000" y="2148840"/>
            <a:ext cx="4206240" cy="256032"/>
          </a:xfrm>
          <a:prstGeom prst="rect">
            <a:avLst/>
          </a:prstGeom>
          <a:solidFill>
            <a:srgbClr val="1E8449"/>
          </a:solidFill>
          <a:ln w="12700">
            <a:solidFill>
              <a:srgbClr val="1E8449"/>
            </a:solidFill>
            <a:prstDash val="solid"/>
          </a:ln>
        </p:spPr>
      </p:sp>
      <p:sp>
        <p:nvSpPr>
          <p:cNvPr id="20" name="Text 18"/>
          <p:cNvSpPr/>
          <p:nvPr/>
        </p:nvSpPr>
        <p:spPr>
          <a:xfrm>
            <a:off x="4681728" y="2176272"/>
            <a:ext cx="4023360" cy="201168"/>
          </a:xfrm>
          <a:prstGeom prst="rect">
            <a:avLst/>
          </a:prstGeom>
          <a:noFill/>
          <a:ln/>
        </p:spPr>
        <p:txBody>
          <a:bodyPr wrap="square" lIns="0" tIns="0" rIns="0" bIns="0" rtlCol="0" anchor="ctr"/>
          <a:lstStyle/>
          <a:p>
            <a:pPr marL="0" indent="0">
              <a:buNone/>
            </a:pPr>
            <a:r>
              <a:rPr lang="en-US" sz="950" dirty="0">
                <a:solidFill>
                  <a:srgbClr val="FFFFFF"/>
                </a:solidFill>
                <a:latin typeface="Trebuchet MS" pitchFamily="34" charset="0"/>
                <a:ea typeface="Trebuchet MS" pitchFamily="34" charset="-122"/>
                <a:cs typeface="Trebuchet MS" pitchFamily="34" charset="-120"/>
              </a:rPr>
              <a:t>SQL — Departments with more than 5 staff</a:t>
            </a:r>
            <a:endParaRPr lang="en-US" sz="950" dirty="0"/>
          </a:p>
        </p:txBody>
      </p:sp>
      <p:sp>
        <p:nvSpPr>
          <p:cNvPr id="21" name="Text 19"/>
          <p:cNvSpPr/>
          <p:nvPr/>
        </p:nvSpPr>
        <p:spPr>
          <a:xfrm>
            <a:off x="4681728" y="2450592"/>
            <a:ext cx="4023360" cy="877824"/>
          </a:xfrm>
          <a:prstGeom prst="rect">
            <a:avLst/>
          </a:prstGeom>
          <a:noFill/>
          <a:ln/>
        </p:spPr>
        <p:txBody>
          <a:bodyPr wrap="square" lIns="0" tIns="0" rIns="0" bIns="0" rtlCol="0" anchor="ctr"/>
          <a:lstStyle/>
          <a:p>
            <a:pPr marL="0" indent="0">
              <a:buNone/>
            </a:pPr>
            <a:r>
              <a:rPr lang="en-US" sz="1150" dirty="0">
                <a:solidFill>
                  <a:srgbClr val="1E8449"/>
                </a:solidFill>
                <a:latin typeface="Consolas" pitchFamily="34" charset="0"/>
                <a:ea typeface="Consolas" pitchFamily="34" charset="-122"/>
                <a:cs typeface="Consolas" pitchFamily="34" charset="-120"/>
              </a:rPr>
              <a:t>SELECT Department, COUNT(*) AS Total</a:t>
            </a:r>
            <a:endParaRPr lang="en-US" sz="1150" dirty="0"/>
          </a:p>
          <a:p>
            <a:pPr marL="0" indent="0">
              <a:buNone/>
            </a:pPr>
            <a:r>
              <a:rPr lang="en-US" sz="1150" dirty="0">
                <a:solidFill>
                  <a:srgbClr val="1E8449"/>
                </a:solidFill>
                <a:latin typeface="Consolas" pitchFamily="34" charset="0"/>
                <a:ea typeface="Consolas" pitchFamily="34" charset="-122"/>
                <a:cs typeface="Consolas" pitchFamily="34" charset="-120"/>
              </a:rPr>
              <a:t>FROM Employees</a:t>
            </a:r>
            <a:endParaRPr lang="en-US" sz="1150" dirty="0"/>
          </a:p>
          <a:p>
            <a:pPr marL="0" indent="0">
              <a:buNone/>
            </a:pPr>
            <a:r>
              <a:rPr lang="en-US" sz="1150" dirty="0">
                <a:solidFill>
                  <a:srgbClr val="1E8449"/>
                </a:solidFill>
                <a:latin typeface="Consolas" pitchFamily="34" charset="0"/>
                <a:ea typeface="Consolas" pitchFamily="34" charset="-122"/>
                <a:cs typeface="Consolas" pitchFamily="34" charset="-120"/>
              </a:rPr>
              <a:t>GROUP BY Department</a:t>
            </a:r>
            <a:endParaRPr lang="en-US" sz="1150" dirty="0"/>
          </a:p>
          <a:p>
            <a:pPr marL="0" indent="0">
              <a:buNone/>
            </a:pPr>
            <a:r>
              <a:rPr lang="en-US" sz="1150" dirty="0">
                <a:solidFill>
                  <a:srgbClr val="1E8449"/>
                </a:solidFill>
                <a:latin typeface="Consolas" pitchFamily="34" charset="0"/>
                <a:ea typeface="Consolas" pitchFamily="34" charset="-122"/>
                <a:cs typeface="Consolas" pitchFamily="34" charset="-120"/>
              </a:rPr>
              <a:t>HAVING COUNT(*) &gt; 5;</a:t>
            </a:r>
            <a:endParaRPr lang="en-US" sz="1150" dirty="0"/>
          </a:p>
        </p:txBody>
      </p:sp>
      <p:sp>
        <p:nvSpPr>
          <p:cNvPr id="22" name="Text 20"/>
          <p:cNvSpPr/>
          <p:nvPr/>
        </p:nvSpPr>
        <p:spPr>
          <a:xfrm>
            <a:off x="365760" y="3584448"/>
            <a:ext cx="5029200" cy="201168"/>
          </a:xfrm>
          <a:prstGeom prst="rect">
            <a:avLst/>
          </a:prstGeom>
          <a:noFill/>
          <a:ln/>
        </p:spPr>
        <p:txBody>
          <a:bodyPr wrap="square" lIns="0" tIns="0" rIns="0" bIns="0" rtlCol="0" anchor="ctr"/>
          <a:lstStyle/>
          <a:p>
            <a:pPr marL="0" indent="0">
              <a:buNone/>
            </a:pPr>
            <a:r>
              <a:rPr lang="en-US" sz="950" b="1" kern="0" spc="200" dirty="0">
                <a:solidFill>
                  <a:srgbClr val="2E86C1"/>
                </a:solidFill>
                <a:latin typeface="Trebuchet MS" pitchFamily="34" charset="0"/>
                <a:ea typeface="Trebuchet MS" pitchFamily="34" charset="-122"/>
                <a:cs typeface="Trebuchet MS" pitchFamily="34" charset="-120"/>
              </a:rPr>
              <a:t>QUERY EXECUTION FLOW</a:t>
            </a:r>
            <a:endParaRPr lang="en-US" sz="950" dirty="0"/>
          </a:p>
        </p:txBody>
      </p:sp>
      <p:sp>
        <p:nvSpPr>
          <p:cNvPr id="23" name="Shape 21"/>
          <p:cNvSpPr/>
          <p:nvPr/>
        </p:nvSpPr>
        <p:spPr>
          <a:xfrm>
            <a:off x="365760" y="3785616"/>
            <a:ext cx="1307592" cy="457200"/>
          </a:xfrm>
          <a:prstGeom prst="rect">
            <a:avLst/>
          </a:prstGeom>
          <a:solidFill>
            <a:srgbClr val="ECF0F1"/>
          </a:solidFill>
          <a:ln w="12700">
            <a:solidFill>
              <a:srgbClr val="BDC3C7"/>
            </a:solidFill>
            <a:prstDash val="solid"/>
          </a:ln>
        </p:spPr>
      </p:sp>
      <p:sp>
        <p:nvSpPr>
          <p:cNvPr id="24" name="Text 22"/>
          <p:cNvSpPr/>
          <p:nvPr/>
        </p:nvSpPr>
        <p:spPr>
          <a:xfrm>
            <a:off x="365760" y="3785616"/>
            <a:ext cx="1307592" cy="457200"/>
          </a:xfrm>
          <a:prstGeom prst="rect">
            <a:avLst/>
          </a:prstGeom>
          <a:noFill/>
          <a:ln/>
        </p:spPr>
        <p:txBody>
          <a:bodyPr wrap="square" lIns="0" tIns="0" rIns="0" bIns="0" rtlCol="0" anchor="ctr"/>
          <a:lstStyle/>
          <a:p>
            <a:pPr marL="0" indent="0" algn="ctr">
              <a:buNone/>
            </a:pPr>
            <a:r>
              <a:rPr lang="en-US" sz="1050" dirty="0">
                <a:solidFill>
                  <a:srgbClr val="5D6D7E"/>
                </a:solidFill>
                <a:latin typeface="Trebuchet MS" pitchFamily="34" charset="0"/>
                <a:ea typeface="Trebuchet MS" pitchFamily="34" charset="-122"/>
                <a:cs typeface="Trebuchet MS" pitchFamily="34" charset="-120"/>
              </a:rPr>
              <a:t>FROM</a:t>
            </a:r>
            <a:endParaRPr lang="en-US" sz="1050" dirty="0"/>
          </a:p>
        </p:txBody>
      </p:sp>
      <p:sp>
        <p:nvSpPr>
          <p:cNvPr id="25" name="Shape 23"/>
          <p:cNvSpPr/>
          <p:nvPr/>
        </p:nvSpPr>
        <p:spPr>
          <a:xfrm>
            <a:off x="1801368" y="3785616"/>
            <a:ext cx="1307592" cy="457200"/>
          </a:xfrm>
          <a:prstGeom prst="rect">
            <a:avLst/>
          </a:prstGeom>
          <a:solidFill>
            <a:srgbClr val="ECF0F1"/>
          </a:solidFill>
          <a:ln w="12700">
            <a:solidFill>
              <a:srgbClr val="BDC3C7"/>
            </a:solidFill>
            <a:prstDash val="solid"/>
          </a:ln>
        </p:spPr>
      </p:sp>
      <p:sp>
        <p:nvSpPr>
          <p:cNvPr id="26" name="Text 24"/>
          <p:cNvSpPr/>
          <p:nvPr/>
        </p:nvSpPr>
        <p:spPr>
          <a:xfrm>
            <a:off x="1801368" y="3785616"/>
            <a:ext cx="1307592" cy="457200"/>
          </a:xfrm>
          <a:prstGeom prst="rect">
            <a:avLst/>
          </a:prstGeom>
          <a:noFill/>
          <a:ln/>
        </p:spPr>
        <p:txBody>
          <a:bodyPr wrap="square" lIns="0" tIns="0" rIns="0" bIns="0" rtlCol="0" anchor="ctr"/>
          <a:lstStyle/>
          <a:p>
            <a:pPr marL="0" indent="0" algn="ctr">
              <a:buNone/>
            </a:pPr>
            <a:r>
              <a:rPr lang="en-US" sz="1050" dirty="0">
                <a:solidFill>
                  <a:srgbClr val="5D6D7E"/>
                </a:solidFill>
                <a:latin typeface="Trebuchet MS" pitchFamily="34" charset="0"/>
                <a:ea typeface="Trebuchet MS" pitchFamily="34" charset="-122"/>
                <a:cs typeface="Trebuchet MS" pitchFamily="34" charset="-120"/>
              </a:rPr>
              <a:t>WHERE</a:t>
            </a:r>
            <a:endParaRPr lang="en-US" sz="1050" dirty="0"/>
          </a:p>
        </p:txBody>
      </p:sp>
      <p:sp>
        <p:nvSpPr>
          <p:cNvPr id="27" name="Shape 25"/>
          <p:cNvSpPr/>
          <p:nvPr/>
        </p:nvSpPr>
        <p:spPr>
          <a:xfrm>
            <a:off x="3236976" y="3785616"/>
            <a:ext cx="1307592" cy="457200"/>
          </a:xfrm>
          <a:prstGeom prst="rect">
            <a:avLst/>
          </a:prstGeom>
          <a:solidFill>
            <a:srgbClr val="ECF0F1"/>
          </a:solidFill>
          <a:ln w="12700">
            <a:solidFill>
              <a:srgbClr val="BDC3C7"/>
            </a:solidFill>
            <a:prstDash val="solid"/>
          </a:ln>
        </p:spPr>
      </p:sp>
      <p:sp>
        <p:nvSpPr>
          <p:cNvPr id="28" name="Text 26"/>
          <p:cNvSpPr/>
          <p:nvPr/>
        </p:nvSpPr>
        <p:spPr>
          <a:xfrm>
            <a:off x="3236976" y="3785616"/>
            <a:ext cx="1307592" cy="457200"/>
          </a:xfrm>
          <a:prstGeom prst="rect">
            <a:avLst/>
          </a:prstGeom>
          <a:noFill/>
          <a:ln/>
        </p:spPr>
        <p:txBody>
          <a:bodyPr wrap="square" lIns="0" tIns="0" rIns="0" bIns="0" rtlCol="0" anchor="ctr"/>
          <a:lstStyle/>
          <a:p>
            <a:pPr marL="0" indent="0" algn="ctr">
              <a:buNone/>
            </a:pPr>
            <a:r>
              <a:rPr lang="en-US" sz="1050" dirty="0">
                <a:solidFill>
                  <a:srgbClr val="5D6D7E"/>
                </a:solidFill>
                <a:latin typeface="Trebuchet MS" pitchFamily="34" charset="0"/>
                <a:ea typeface="Trebuchet MS" pitchFamily="34" charset="-122"/>
                <a:cs typeface="Trebuchet MS" pitchFamily="34" charset="-120"/>
              </a:rPr>
              <a:t>GROUP BY</a:t>
            </a:r>
            <a:endParaRPr lang="en-US" sz="1050" dirty="0"/>
          </a:p>
        </p:txBody>
      </p:sp>
      <p:sp>
        <p:nvSpPr>
          <p:cNvPr id="29" name="Shape 27"/>
          <p:cNvSpPr/>
          <p:nvPr/>
        </p:nvSpPr>
        <p:spPr>
          <a:xfrm>
            <a:off x="4672584" y="3785616"/>
            <a:ext cx="1307592" cy="457200"/>
          </a:xfrm>
          <a:prstGeom prst="rect">
            <a:avLst/>
          </a:prstGeom>
          <a:solidFill>
            <a:srgbClr val="2E86C1"/>
          </a:solidFill>
          <a:ln w="12700">
            <a:solidFill>
              <a:srgbClr val="2E86C1"/>
            </a:solidFill>
            <a:prstDash val="solid"/>
          </a:ln>
        </p:spPr>
      </p:sp>
      <p:sp>
        <p:nvSpPr>
          <p:cNvPr id="30" name="Text 28"/>
          <p:cNvSpPr/>
          <p:nvPr/>
        </p:nvSpPr>
        <p:spPr>
          <a:xfrm>
            <a:off x="4672584" y="3785616"/>
            <a:ext cx="1307592"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Trebuchet MS" pitchFamily="34" charset="0"/>
                <a:ea typeface="Trebuchet MS" pitchFamily="34" charset="-122"/>
                <a:cs typeface="Trebuchet MS" pitchFamily="34" charset="-120"/>
              </a:rPr>
              <a:t>HAVING</a:t>
            </a:r>
            <a:endParaRPr lang="en-US" sz="1050" dirty="0"/>
          </a:p>
        </p:txBody>
      </p:sp>
      <p:sp>
        <p:nvSpPr>
          <p:cNvPr id="31" name="Shape 29"/>
          <p:cNvSpPr/>
          <p:nvPr/>
        </p:nvSpPr>
        <p:spPr>
          <a:xfrm>
            <a:off x="6108192" y="3785616"/>
            <a:ext cx="1307592" cy="457200"/>
          </a:xfrm>
          <a:prstGeom prst="rect">
            <a:avLst/>
          </a:prstGeom>
          <a:solidFill>
            <a:srgbClr val="ECF0F1"/>
          </a:solidFill>
          <a:ln w="12700">
            <a:solidFill>
              <a:srgbClr val="BDC3C7"/>
            </a:solidFill>
            <a:prstDash val="solid"/>
          </a:ln>
        </p:spPr>
      </p:sp>
      <p:sp>
        <p:nvSpPr>
          <p:cNvPr id="32" name="Text 30"/>
          <p:cNvSpPr/>
          <p:nvPr/>
        </p:nvSpPr>
        <p:spPr>
          <a:xfrm>
            <a:off x="6108192" y="3785616"/>
            <a:ext cx="1307592" cy="457200"/>
          </a:xfrm>
          <a:prstGeom prst="rect">
            <a:avLst/>
          </a:prstGeom>
          <a:noFill/>
          <a:ln/>
        </p:spPr>
        <p:txBody>
          <a:bodyPr wrap="square" lIns="0" tIns="0" rIns="0" bIns="0" rtlCol="0" anchor="ctr"/>
          <a:lstStyle/>
          <a:p>
            <a:pPr marL="0" indent="0" algn="ctr">
              <a:buNone/>
            </a:pPr>
            <a:r>
              <a:rPr lang="en-US" sz="1050" dirty="0">
                <a:solidFill>
                  <a:srgbClr val="5D6D7E"/>
                </a:solidFill>
                <a:latin typeface="Trebuchet MS" pitchFamily="34" charset="0"/>
                <a:ea typeface="Trebuchet MS" pitchFamily="34" charset="-122"/>
                <a:cs typeface="Trebuchet MS" pitchFamily="34" charset="-120"/>
              </a:rPr>
              <a:t>SELECT</a:t>
            </a:r>
            <a:endParaRPr lang="en-US" sz="1050" dirty="0"/>
          </a:p>
        </p:txBody>
      </p:sp>
      <p:sp>
        <p:nvSpPr>
          <p:cNvPr id="33" name="Shape 31"/>
          <p:cNvSpPr/>
          <p:nvPr/>
        </p:nvSpPr>
        <p:spPr>
          <a:xfrm>
            <a:off x="7543800" y="3785616"/>
            <a:ext cx="1307592" cy="457200"/>
          </a:xfrm>
          <a:prstGeom prst="rect">
            <a:avLst/>
          </a:prstGeom>
          <a:solidFill>
            <a:srgbClr val="ECF0F1"/>
          </a:solidFill>
          <a:ln w="12700">
            <a:solidFill>
              <a:srgbClr val="BDC3C7"/>
            </a:solidFill>
            <a:prstDash val="solid"/>
          </a:ln>
        </p:spPr>
      </p:sp>
      <p:sp>
        <p:nvSpPr>
          <p:cNvPr id="34" name="Text 32"/>
          <p:cNvSpPr/>
          <p:nvPr/>
        </p:nvSpPr>
        <p:spPr>
          <a:xfrm>
            <a:off x="7543800" y="3785616"/>
            <a:ext cx="1307592" cy="457200"/>
          </a:xfrm>
          <a:prstGeom prst="rect">
            <a:avLst/>
          </a:prstGeom>
          <a:noFill/>
          <a:ln/>
        </p:spPr>
        <p:txBody>
          <a:bodyPr wrap="square" lIns="0" tIns="0" rIns="0" bIns="0" rtlCol="0" anchor="ctr"/>
          <a:lstStyle/>
          <a:p>
            <a:pPr marL="0" indent="0" algn="ctr">
              <a:buNone/>
            </a:pPr>
            <a:r>
              <a:rPr lang="en-US" sz="1050" dirty="0">
                <a:solidFill>
                  <a:srgbClr val="5D6D7E"/>
                </a:solidFill>
                <a:latin typeface="Trebuchet MS" pitchFamily="34" charset="0"/>
                <a:ea typeface="Trebuchet MS" pitchFamily="34" charset="-122"/>
                <a:cs typeface="Trebuchet MS" pitchFamily="34" charset="-120"/>
              </a:rPr>
              <a:t>ORDER BY</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3A5C"/>
          </a:solidFill>
          <a:ln w="12700">
            <a:solidFill>
              <a:srgbClr val="1A3A5C"/>
            </a:solidFill>
            <a:prstDash val="solid"/>
          </a:ln>
        </p:spPr>
      </p:sp>
      <p:sp>
        <p:nvSpPr>
          <p:cNvPr id="3" name="Shape 1"/>
          <p:cNvSpPr/>
          <p:nvPr/>
        </p:nvSpPr>
        <p:spPr>
          <a:xfrm>
            <a:off x="0" y="73152"/>
            <a:ext cx="9144000" cy="749808"/>
          </a:xfrm>
          <a:prstGeom prst="rect">
            <a:avLst/>
          </a:prstGeom>
          <a:solidFill>
            <a:srgbClr val="1A3A5C"/>
          </a:solidFill>
          <a:ln w="12700">
            <a:solidFill>
              <a:srgbClr val="1A3A5C"/>
            </a:solidFill>
            <a:prstDash val="solid"/>
          </a:ln>
        </p:spPr>
      </p:sp>
      <p:sp>
        <p:nvSpPr>
          <p:cNvPr id="4" name="Text 2"/>
          <p:cNvSpPr/>
          <p:nvPr/>
        </p:nvSpPr>
        <p:spPr>
          <a:xfrm>
            <a:off x="457200" y="118872"/>
            <a:ext cx="7132320" cy="420624"/>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HAVING Clause</a:t>
            </a:r>
            <a:endParaRPr lang="en-US" sz="2800" dirty="0"/>
          </a:p>
        </p:txBody>
      </p:sp>
      <p:sp>
        <p:nvSpPr>
          <p:cNvPr id="5" name="Text 3"/>
          <p:cNvSpPr/>
          <p:nvPr/>
        </p:nvSpPr>
        <p:spPr>
          <a:xfrm>
            <a:off x="457200" y="557784"/>
            <a:ext cx="7132320" cy="201168"/>
          </a:xfrm>
          <a:prstGeom prst="rect">
            <a:avLst/>
          </a:prstGeom>
          <a:noFill/>
          <a:ln/>
        </p:spPr>
        <p:txBody>
          <a:bodyPr wrap="square" lIns="0" tIns="0" rIns="0" bIns="0" rtlCol="0" anchor="ctr"/>
          <a:lstStyle/>
          <a:p>
            <a:pPr marL="0" indent="0">
              <a:buNone/>
            </a:pPr>
            <a:r>
              <a:rPr lang="en-US" sz="1100" i="1" dirty="0">
                <a:solidFill>
                  <a:srgbClr val="D6E8F5"/>
                </a:solidFill>
                <a:latin typeface="Georgia" pitchFamily="34" charset="0"/>
                <a:ea typeface="Georgia" pitchFamily="34" charset="-122"/>
                <a:cs typeface="Georgia" pitchFamily="34" charset="-120"/>
              </a:rPr>
              <a:t>WHERE vs HAVING &amp; Advanced Examples</a:t>
            </a:r>
            <a:endParaRPr lang="en-US" sz="1100" dirty="0"/>
          </a:p>
        </p:txBody>
      </p:sp>
      <p:sp>
        <p:nvSpPr>
          <p:cNvPr id="7" name="Text 5"/>
          <p:cNvSpPr/>
          <p:nvPr/>
        </p:nvSpPr>
        <p:spPr>
          <a:xfrm>
            <a:off x="7973568" y="219456"/>
            <a:ext cx="804672" cy="237744"/>
          </a:xfrm>
          <a:prstGeom prst="rect">
            <a:avLst/>
          </a:prstGeom>
          <a:noFill/>
          <a:ln/>
        </p:spPr>
        <p:txBody>
          <a:bodyPr wrap="square" lIns="0" tIns="0" rIns="0" bIns="0" rtlCol="0" anchor="ctr"/>
          <a:lstStyle/>
          <a:p>
            <a:pPr marL="0" indent="0" algn="ctr">
              <a:buNone/>
            </a:pPr>
            <a:endParaRPr lang="en-US" sz="1000" dirty="0"/>
          </a:p>
        </p:txBody>
      </p:sp>
      <p:sp>
        <p:nvSpPr>
          <p:cNvPr id="8" name="Text 6"/>
          <p:cNvSpPr/>
          <p:nvPr/>
        </p:nvSpPr>
        <p:spPr>
          <a:xfrm>
            <a:off x="365760" y="987552"/>
            <a:ext cx="5029200" cy="201168"/>
          </a:xfrm>
          <a:prstGeom prst="rect">
            <a:avLst/>
          </a:prstGeom>
          <a:noFill/>
          <a:ln/>
        </p:spPr>
        <p:txBody>
          <a:bodyPr wrap="square" lIns="0" tIns="0" rIns="0" bIns="0" rtlCol="0" anchor="ctr"/>
          <a:lstStyle/>
          <a:p>
            <a:pPr marL="0" indent="0">
              <a:buNone/>
            </a:pPr>
            <a:r>
              <a:rPr lang="en-US" sz="950" b="1" kern="0" spc="200" dirty="0">
                <a:solidFill>
                  <a:srgbClr val="1A3A5C"/>
                </a:solidFill>
                <a:latin typeface="Trebuchet MS" pitchFamily="34" charset="0"/>
                <a:ea typeface="Trebuchet MS" pitchFamily="34" charset="-122"/>
                <a:cs typeface="Trebuchet MS" pitchFamily="34" charset="-120"/>
              </a:rPr>
              <a:t>WHERE vs HAVING — KEY DIFFERENCES</a:t>
            </a:r>
            <a:endParaRPr lang="en-US" sz="950" dirty="0"/>
          </a:p>
        </p:txBody>
      </p:sp>
      <p:sp>
        <p:nvSpPr>
          <p:cNvPr id="9" name="Shape 7"/>
          <p:cNvSpPr/>
          <p:nvPr/>
        </p:nvSpPr>
        <p:spPr>
          <a:xfrm>
            <a:off x="365760" y="1188720"/>
            <a:ext cx="8412480" cy="402336"/>
          </a:xfrm>
          <a:prstGeom prst="rect">
            <a:avLst/>
          </a:prstGeom>
          <a:solidFill>
            <a:srgbClr val="1A3A5C"/>
          </a:solidFill>
          <a:ln w="6350">
            <a:solidFill>
              <a:srgbClr val="BDC3C7"/>
            </a:solidFill>
            <a:prstDash val="solid"/>
          </a:ln>
        </p:spPr>
      </p:sp>
      <p:sp>
        <p:nvSpPr>
          <p:cNvPr id="10" name="Text 8"/>
          <p:cNvSpPr/>
          <p:nvPr/>
        </p:nvSpPr>
        <p:spPr>
          <a:xfrm>
            <a:off x="475488" y="1271016"/>
            <a:ext cx="2103120" cy="237744"/>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Feature</a:t>
            </a:r>
            <a:endParaRPr lang="en-US" sz="1100" dirty="0"/>
          </a:p>
        </p:txBody>
      </p:sp>
      <p:sp>
        <p:nvSpPr>
          <p:cNvPr id="11" name="Text 9"/>
          <p:cNvSpPr/>
          <p:nvPr/>
        </p:nvSpPr>
        <p:spPr>
          <a:xfrm>
            <a:off x="2834640" y="1271016"/>
            <a:ext cx="2468880" cy="237744"/>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WHERE</a:t>
            </a:r>
            <a:endParaRPr lang="en-US" sz="1100" dirty="0"/>
          </a:p>
        </p:txBody>
      </p:sp>
      <p:sp>
        <p:nvSpPr>
          <p:cNvPr id="12" name="Text 10"/>
          <p:cNvSpPr/>
          <p:nvPr/>
        </p:nvSpPr>
        <p:spPr>
          <a:xfrm>
            <a:off x="5532120" y="1271016"/>
            <a:ext cx="3017520" cy="237744"/>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HAVING</a:t>
            </a:r>
            <a:endParaRPr lang="en-US" sz="1100" dirty="0"/>
          </a:p>
        </p:txBody>
      </p:sp>
      <p:sp>
        <p:nvSpPr>
          <p:cNvPr id="13" name="Shape 11"/>
          <p:cNvSpPr/>
          <p:nvPr/>
        </p:nvSpPr>
        <p:spPr>
          <a:xfrm>
            <a:off x="365760" y="1609344"/>
            <a:ext cx="8412480" cy="402336"/>
          </a:xfrm>
          <a:prstGeom prst="rect">
            <a:avLst/>
          </a:prstGeom>
          <a:solidFill>
            <a:srgbClr val="ECF0F1"/>
          </a:solidFill>
          <a:ln w="6350">
            <a:solidFill>
              <a:srgbClr val="BDC3C7"/>
            </a:solidFill>
            <a:prstDash val="solid"/>
          </a:ln>
        </p:spPr>
      </p:sp>
      <p:sp>
        <p:nvSpPr>
          <p:cNvPr id="14" name="Shape 12"/>
          <p:cNvSpPr/>
          <p:nvPr/>
        </p:nvSpPr>
        <p:spPr>
          <a:xfrm>
            <a:off x="365760" y="1609344"/>
            <a:ext cx="54864" cy="402336"/>
          </a:xfrm>
          <a:prstGeom prst="rect">
            <a:avLst/>
          </a:prstGeom>
          <a:solidFill>
            <a:srgbClr val="2E86C1"/>
          </a:solidFill>
          <a:ln w="12700">
            <a:solidFill>
              <a:srgbClr val="2E86C1"/>
            </a:solidFill>
            <a:prstDash val="solid"/>
          </a:ln>
        </p:spPr>
      </p:sp>
      <p:sp>
        <p:nvSpPr>
          <p:cNvPr id="15" name="Text 13"/>
          <p:cNvSpPr/>
          <p:nvPr/>
        </p:nvSpPr>
        <p:spPr>
          <a:xfrm>
            <a:off x="475488" y="1691640"/>
            <a:ext cx="2103120" cy="237744"/>
          </a:xfrm>
          <a:prstGeom prst="rect">
            <a:avLst/>
          </a:prstGeom>
          <a:noFill/>
          <a:ln/>
        </p:spPr>
        <p:txBody>
          <a:bodyPr wrap="square" lIns="0" tIns="0" rIns="0" bIns="0" rtlCol="0" anchor="ctr"/>
          <a:lstStyle/>
          <a:p>
            <a:pPr marL="0" indent="0">
              <a:buNone/>
            </a:pPr>
            <a:r>
              <a:rPr lang="en-US" sz="1100" b="1" dirty="0">
                <a:solidFill>
                  <a:srgbClr val="1A3A5C"/>
                </a:solidFill>
                <a:latin typeface="Trebuchet MS" pitchFamily="34" charset="0"/>
                <a:ea typeface="Trebuchet MS" pitchFamily="34" charset="-122"/>
                <a:cs typeface="Trebuchet MS" pitchFamily="34" charset="-120"/>
              </a:rPr>
              <a:t>Filters</a:t>
            </a:r>
            <a:endParaRPr lang="en-US" sz="1100" dirty="0"/>
          </a:p>
        </p:txBody>
      </p:sp>
      <p:sp>
        <p:nvSpPr>
          <p:cNvPr id="16" name="Text 14"/>
          <p:cNvSpPr/>
          <p:nvPr/>
        </p:nvSpPr>
        <p:spPr>
          <a:xfrm>
            <a:off x="2834640" y="1691640"/>
            <a:ext cx="2468880" cy="237744"/>
          </a:xfrm>
          <a:prstGeom prst="rect">
            <a:avLst/>
          </a:prstGeom>
          <a:noFill/>
          <a:ln/>
        </p:spPr>
        <p:txBody>
          <a:bodyPr wrap="square" lIns="0" tIns="0" rIns="0" bIns="0" rtlCol="0" anchor="ctr"/>
          <a:lstStyle/>
          <a:p>
            <a:pPr marL="0" indent="0">
              <a:buNone/>
            </a:pPr>
            <a:r>
              <a:rPr lang="en-US" sz="1100" dirty="0">
                <a:solidFill>
                  <a:srgbClr val="2C3E50"/>
                </a:solidFill>
                <a:latin typeface="Trebuchet MS" pitchFamily="34" charset="0"/>
                <a:ea typeface="Trebuchet MS" pitchFamily="34" charset="-122"/>
                <a:cs typeface="Trebuchet MS" pitchFamily="34" charset="-120"/>
              </a:rPr>
              <a:t>Individual rows</a:t>
            </a:r>
            <a:endParaRPr lang="en-US" sz="1100" dirty="0"/>
          </a:p>
        </p:txBody>
      </p:sp>
      <p:sp>
        <p:nvSpPr>
          <p:cNvPr id="17" name="Text 15"/>
          <p:cNvSpPr/>
          <p:nvPr/>
        </p:nvSpPr>
        <p:spPr>
          <a:xfrm>
            <a:off x="5532120" y="1691640"/>
            <a:ext cx="3017520" cy="237744"/>
          </a:xfrm>
          <a:prstGeom prst="rect">
            <a:avLst/>
          </a:prstGeom>
          <a:noFill/>
          <a:ln/>
        </p:spPr>
        <p:txBody>
          <a:bodyPr wrap="square" lIns="0" tIns="0" rIns="0" bIns="0" rtlCol="0" anchor="ctr"/>
          <a:lstStyle/>
          <a:p>
            <a:pPr marL="0" indent="0">
              <a:buNone/>
            </a:pPr>
            <a:r>
              <a:rPr lang="en-US" sz="1100" dirty="0">
                <a:solidFill>
                  <a:srgbClr val="2C3E50"/>
                </a:solidFill>
                <a:latin typeface="Trebuchet MS" pitchFamily="34" charset="0"/>
                <a:ea typeface="Trebuchet MS" pitchFamily="34" charset="-122"/>
                <a:cs typeface="Trebuchet MS" pitchFamily="34" charset="-120"/>
              </a:rPr>
              <a:t>Groups of rows</a:t>
            </a:r>
            <a:endParaRPr lang="en-US" sz="1100" dirty="0"/>
          </a:p>
        </p:txBody>
      </p:sp>
      <p:sp>
        <p:nvSpPr>
          <p:cNvPr id="18" name="Shape 16"/>
          <p:cNvSpPr/>
          <p:nvPr/>
        </p:nvSpPr>
        <p:spPr>
          <a:xfrm>
            <a:off x="365760" y="2029968"/>
            <a:ext cx="8412480" cy="402336"/>
          </a:xfrm>
          <a:prstGeom prst="rect">
            <a:avLst/>
          </a:prstGeom>
          <a:solidFill>
            <a:srgbClr val="FFFFFF"/>
          </a:solidFill>
          <a:ln w="6350">
            <a:solidFill>
              <a:srgbClr val="BDC3C7"/>
            </a:solidFill>
            <a:prstDash val="solid"/>
          </a:ln>
        </p:spPr>
      </p:sp>
      <p:sp>
        <p:nvSpPr>
          <p:cNvPr id="19" name="Shape 17"/>
          <p:cNvSpPr/>
          <p:nvPr/>
        </p:nvSpPr>
        <p:spPr>
          <a:xfrm>
            <a:off x="365760" y="2029968"/>
            <a:ext cx="54864" cy="402336"/>
          </a:xfrm>
          <a:prstGeom prst="rect">
            <a:avLst/>
          </a:prstGeom>
          <a:solidFill>
            <a:srgbClr val="2E86C1"/>
          </a:solidFill>
          <a:ln w="12700">
            <a:solidFill>
              <a:srgbClr val="2E86C1"/>
            </a:solidFill>
            <a:prstDash val="solid"/>
          </a:ln>
        </p:spPr>
      </p:sp>
      <p:sp>
        <p:nvSpPr>
          <p:cNvPr id="20" name="Text 18"/>
          <p:cNvSpPr/>
          <p:nvPr/>
        </p:nvSpPr>
        <p:spPr>
          <a:xfrm>
            <a:off x="475488" y="2112264"/>
            <a:ext cx="2103120" cy="237744"/>
          </a:xfrm>
          <a:prstGeom prst="rect">
            <a:avLst/>
          </a:prstGeom>
          <a:noFill/>
          <a:ln/>
        </p:spPr>
        <p:txBody>
          <a:bodyPr wrap="square" lIns="0" tIns="0" rIns="0" bIns="0" rtlCol="0" anchor="ctr"/>
          <a:lstStyle/>
          <a:p>
            <a:pPr marL="0" indent="0">
              <a:buNone/>
            </a:pPr>
            <a:r>
              <a:rPr lang="en-US" sz="1100" b="1" dirty="0">
                <a:solidFill>
                  <a:srgbClr val="1A3A5C"/>
                </a:solidFill>
                <a:latin typeface="Trebuchet MS" pitchFamily="34" charset="0"/>
                <a:ea typeface="Trebuchet MS" pitchFamily="34" charset="-122"/>
                <a:cs typeface="Trebuchet MS" pitchFamily="34" charset="-120"/>
              </a:rPr>
              <a:t>Works with</a:t>
            </a:r>
            <a:endParaRPr lang="en-US" sz="1100" dirty="0"/>
          </a:p>
        </p:txBody>
      </p:sp>
      <p:sp>
        <p:nvSpPr>
          <p:cNvPr id="21" name="Text 19"/>
          <p:cNvSpPr/>
          <p:nvPr/>
        </p:nvSpPr>
        <p:spPr>
          <a:xfrm>
            <a:off x="2834640" y="2112264"/>
            <a:ext cx="2468880" cy="237744"/>
          </a:xfrm>
          <a:prstGeom prst="rect">
            <a:avLst/>
          </a:prstGeom>
          <a:noFill/>
          <a:ln/>
        </p:spPr>
        <p:txBody>
          <a:bodyPr wrap="square" lIns="0" tIns="0" rIns="0" bIns="0" rtlCol="0" anchor="ctr"/>
          <a:lstStyle/>
          <a:p>
            <a:pPr marL="0" indent="0">
              <a:buNone/>
            </a:pPr>
            <a:r>
              <a:rPr lang="en-US" sz="1100" dirty="0">
                <a:solidFill>
                  <a:srgbClr val="2C3E50"/>
                </a:solidFill>
                <a:latin typeface="Trebuchet MS" pitchFamily="34" charset="0"/>
                <a:ea typeface="Trebuchet MS" pitchFamily="34" charset="-122"/>
                <a:cs typeface="Trebuchet MS" pitchFamily="34" charset="-120"/>
              </a:rPr>
              <a:t>Column values</a:t>
            </a:r>
            <a:endParaRPr lang="en-US" sz="1100" dirty="0"/>
          </a:p>
        </p:txBody>
      </p:sp>
      <p:sp>
        <p:nvSpPr>
          <p:cNvPr id="22" name="Text 20"/>
          <p:cNvSpPr/>
          <p:nvPr/>
        </p:nvSpPr>
        <p:spPr>
          <a:xfrm>
            <a:off x="5532120" y="2112264"/>
            <a:ext cx="3017520" cy="237744"/>
          </a:xfrm>
          <a:prstGeom prst="rect">
            <a:avLst/>
          </a:prstGeom>
          <a:noFill/>
          <a:ln/>
        </p:spPr>
        <p:txBody>
          <a:bodyPr wrap="square" lIns="0" tIns="0" rIns="0" bIns="0" rtlCol="0" anchor="ctr"/>
          <a:lstStyle/>
          <a:p>
            <a:pPr marL="0" indent="0">
              <a:buNone/>
            </a:pPr>
            <a:r>
              <a:rPr lang="en-US" sz="1100" dirty="0">
                <a:solidFill>
                  <a:srgbClr val="2C3E50"/>
                </a:solidFill>
                <a:latin typeface="Trebuchet MS" pitchFamily="34" charset="0"/>
                <a:ea typeface="Trebuchet MS" pitchFamily="34" charset="-122"/>
                <a:cs typeface="Trebuchet MS" pitchFamily="34" charset="-120"/>
              </a:rPr>
              <a:t>Aggregate functions</a:t>
            </a:r>
            <a:endParaRPr lang="en-US" sz="1100" dirty="0"/>
          </a:p>
        </p:txBody>
      </p:sp>
      <p:sp>
        <p:nvSpPr>
          <p:cNvPr id="23" name="Shape 21"/>
          <p:cNvSpPr/>
          <p:nvPr/>
        </p:nvSpPr>
        <p:spPr>
          <a:xfrm>
            <a:off x="365760" y="2450592"/>
            <a:ext cx="8412480" cy="402336"/>
          </a:xfrm>
          <a:prstGeom prst="rect">
            <a:avLst/>
          </a:prstGeom>
          <a:solidFill>
            <a:srgbClr val="ECF0F1"/>
          </a:solidFill>
          <a:ln w="6350">
            <a:solidFill>
              <a:srgbClr val="BDC3C7"/>
            </a:solidFill>
            <a:prstDash val="solid"/>
          </a:ln>
        </p:spPr>
      </p:sp>
      <p:sp>
        <p:nvSpPr>
          <p:cNvPr id="24" name="Shape 22"/>
          <p:cNvSpPr/>
          <p:nvPr/>
        </p:nvSpPr>
        <p:spPr>
          <a:xfrm>
            <a:off x="365760" y="2450592"/>
            <a:ext cx="54864" cy="402336"/>
          </a:xfrm>
          <a:prstGeom prst="rect">
            <a:avLst/>
          </a:prstGeom>
          <a:solidFill>
            <a:srgbClr val="2E86C1"/>
          </a:solidFill>
          <a:ln w="12700">
            <a:solidFill>
              <a:srgbClr val="2E86C1"/>
            </a:solidFill>
            <a:prstDash val="solid"/>
          </a:ln>
        </p:spPr>
      </p:sp>
      <p:sp>
        <p:nvSpPr>
          <p:cNvPr id="25" name="Text 23"/>
          <p:cNvSpPr/>
          <p:nvPr/>
        </p:nvSpPr>
        <p:spPr>
          <a:xfrm>
            <a:off x="475488" y="2532888"/>
            <a:ext cx="2103120" cy="237744"/>
          </a:xfrm>
          <a:prstGeom prst="rect">
            <a:avLst/>
          </a:prstGeom>
          <a:noFill/>
          <a:ln/>
        </p:spPr>
        <p:txBody>
          <a:bodyPr wrap="square" lIns="0" tIns="0" rIns="0" bIns="0" rtlCol="0" anchor="ctr"/>
          <a:lstStyle/>
          <a:p>
            <a:pPr marL="0" indent="0">
              <a:buNone/>
            </a:pPr>
            <a:r>
              <a:rPr lang="en-US" sz="1100" b="1" dirty="0">
                <a:solidFill>
                  <a:srgbClr val="1A3A5C"/>
                </a:solidFill>
                <a:latin typeface="Trebuchet MS" pitchFamily="34" charset="0"/>
                <a:ea typeface="Trebuchet MS" pitchFamily="34" charset="-122"/>
                <a:cs typeface="Trebuchet MS" pitchFamily="34" charset="-120"/>
              </a:rPr>
              <a:t>Executed</a:t>
            </a:r>
            <a:endParaRPr lang="en-US" sz="1100" dirty="0"/>
          </a:p>
        </p:txBody>
      </p:sp>
      <p:sp>
        <p:nvSpPr>
          <p:cNvPr id="26" name="Text 24"/>
          <p:cNvSpPr/>
          <p:nvPr/>
        </p:nvSpPr>
        <p:spPr>
          <a:xfrm>
            <a:off x="2834640" y="2532888"/>
            <a:ext cx="2468880" cy="237744"/>
          </a:xfrm>
          <a:prstGeom prst="rect">
            <a:avLst/>
          </a:prstGeom>
          <a:noFill/>
          <a:ln/>
        </p:spPr>
        <p:txBody>
          <a:bodyPr wrap="square" lIns="0" tIns="0" rIns="0" bIns="0" rtlCol="0" anchor="ctr"/>
          <a:lstStyle/>
          <a:p>
            <a:pPr marL="0" indent="0">
              <a:buNone/>
            </a:pPr>
            <a:r>
              <a:rPr lang="en-US" sz="1100" dirty="0">
                <a:solidFill>
                  <a:srgbClr val="2C3E50"/>
                </a:solidFill>
                <a:latin typeface="Trebuchet MS" pitchFamily="34" charset="0"/>
                <a:ea typeface="Trebuchet MS" pitchFamily="34" charset="-122"/>
                <a:cs typeface="Trebuchet MS" pitchFamily="34" charset="-120"/>
              </a:rPr>
              <a:t>Before GROUP BY</a:t>
            </a:r>
            <a:endParaRPr lang="en-US" sz="1100" dirty="0"/>
          </a:p>
        </p:txBody>
      </p:sp>
      <p:sp>
        <p:nvSpPr>
          <p:cNvPr id="27" name="Text 25"/>
          <p:cNvSpPr/>
          <p:nvPr/>
        </p:nvSpPr>
        <p:spPr>
          <a:xfrm>
            <a:off x="5532120" y="2532888"/>
            <a:ext cx="3017520" cy="237744"/>
          </a:xfrm>
          <a:prstGeom prst="rect">
            <a:avLst/>
          </a:prstGeom>
          <a:noFill/>
          <a:ln/>
        </p:spPr>
        <p:txBody>
          <a:bodyPr wrap="square" lIns="0" tIns="0" rIns="0" bIns="0" rtlCol="0" anchor="ctr"/>
          <a:lstStyle/>
          <a:p>
            <a:pPr marL="0" indent="0">
              <a:buNone/>
            </a:pPr>
            <a:r>
              <a:rPr lang="en-US" sz="1100" dirty="0">
                <a:solidFill>
                  <a:srgbClr val="2C3E50"/>
                </a:solidFill>
                <a:latin typeface="Trebuchet MS" pitchFamily="34" charset="0"/>
                <a:ea typeface="Trebuchet MS" pitchFamily="34" charset="-122"/>
                <a:cs typeface="Trebuchet MS" pitchFamily="34" charset="-120"/>
              </a:rPr>
              <a:t>After GROUP BY</a:t>
            </a:r>
            <a:endParaRPr lang="en-US" sz="1100" dirty="0"/>
          </a:p>
        </p:txBody>
      </p:sp>
      <p:sp>
        <p:nvSpPr>
          <p:cNvPr id="28" name="Shape 26"/>
          <p:cNvSpPr/>
          <p:nvPr/>
        </p:nvSpPr>
        <p:spPr>
          <a:xfrm>
            <a:off x="365760" y="2871216"/>
            <a:ext cx="8412480" cy="402336"/>
          </a:xfrm>
          <a:prstGeom prst="rect">
            <a:avLst/>
          </a:prstGeom>
          <a:solidFill>
            <a:srgbClr val="FFFFFF"/>
          </a:solidFill>
          <a:ln w="6350">
            <a:solidFill>
              <a:srgbClr val="BDC3C7"/>
            </a:solidFill>
            <a:prstDash val="solid"/>
          </a:ln>
        </p:spPr>
      </p:sp>
      <p:sp>
        <p:nvSpPr>
          <p:cNvPr id="29" name="Shape 27"/>
          <p:cNvSpPr/>
          <p:nvPr/>
        </p:nvSpPr>
        <p:spPr>
          <a:xfrm>
            <a:off x="365760" y="2871216"/>
            <a:ext cx="54864" cy="402336"/>
          </a:xfrm>
          <a:prstGeom prst="rect">
            <a:avLst/>
          </a:prstGeom>
          <a:solidFill>
            <a:srgbClr val="2E86C1"/>
          </a:solidFill>
          <a:ln w="12700">
            <a:solidFill>
              <a:srgbClr val="2E86C1"/>
            </a:solidFill>
            <a:prstDash val="solid"/>
          </a:ln>
        </p:spPr>
      </p:sp>
      <p:sp>
        <p:nvSpPr>
          <p:cNvPr id="30" name="Text 28"/>
          <p:cNvSpPr/>
          <p:nvPr/>
        </p:nvSpPr>
        <p:spPr>
          <a:xfrm>
            <a:off x="475488" y="2953512"/>
            <a:ext cx="2103120" cy="237744"/>
          </a:xfrm>
          <a:prstGeom prst="rect">
            <a:avLst/>
          </a:prstGeom>
          <a:noFill/>
          <a:ln/>
        </p:spPr>
        <p:txBody>
          <a:bodyPr wrap="square" lIns="0" tIns="0" rIns="0" bIns="0" rtlCol="0" anchor="ctr"/>
          <a:lstStyle/>
          <a:p>
            <a:pPr marL="0" indent="0">
              <a:buNone/>
            </a:pPr>
            <a:r>
              <a:rPr lang="en-US" sz="1100" b="1" dirty="0">
                <a:solidFill>
                  <a:srgbClr val="1A3A5C"/>
                </a:solidFill>
                <a:latin typeface="Trebuchet MS" pitchFamily="34" charset="0"/>
                <a:ea typeface="Trebuchet MS" pitchFamily="34" charset="-122"/>
                <a:cs typeface="Trebuchet MS" pitchFamily="34" charset="-120"/>
              </a:rPr>
              <a:t>Aggregates?</a:t>
            </a:r>
            <a:endParaRPr lang="en-US" sz="1100" dirty="0"/>
          </a:p>
        </p:txBody>
      </p:sp>
      <p:sp>
        <p:nvSpPr>
          <p:cNvPr id="31" name="Text 29"/>
          <p:cNvSpPr/>
          <p:nvPr/>
        </p:nvSpPr>
        <p:spPr>
          <a:xfrm>
            <a:off x="2834640" y="2953512"/>
            <a:ext cx="2468880" cy="237744"/>
          </a:xfrm>
          <a:prstGeom prst="rect">
            <a:avLst/>
          </a:prstGeom>
          <a:noFill/>
          <a:ln/>
        </p:spPr>
        <p:txBody>
          <a:bodyPr wrap="square" lIns="0" tIns="0" rIns="0" bIns="0" rtlCol="0" anchor="ctr"/>
          <a:lstStyle/>
          <a:p>
            <a:pPr marL="0" indent="0">
              <a:buNone/>
            </a:pPr>
            <a:r>
              <a:rPr lang="en-US" sz="1100" dirty="0">
                <a:solidFill>
                  <a:srgbClr val="2C3E50"/>
                </a:solidFill>
                <a:latin typeface="Trebuchet MS" pitchFamily="34" charset="0"/>
                <a:ea typeface="Trebuchet MS" pitchFamily="34" charset="-122"/>
                <a:cs typeface="Trebuchet MS" pitchFamily="34" charset="-120"/>
              </a:rPr>
              <a:t>No</a:t>
            </a:r>
            <a:endParaRPr lang="en-US" sz="1100" dirty="0"/>
          </a:p>
        </p:txBody>
      </p:sp>
      <p:sp>
        <p:nvSpPr>
          <p:cNvPr id="32" name="Text 30"/>
          <p:cNvSpPr/>
          <p:nvPr/>
        </p:nvSpPr>
        <p:spPr>
          <a:xfrm>
            <a:off x="5532120" y="2953512"/>
            <a:ext cx="3017520" cy="237744"/>
          </a:xfrm>
          <a:prstGeom prst="rect">
            <a:avLst/>
          </a:prstGeom>
          <a:noFill/>
          <a:ln/>
        </p:spPr>
        <p:txBody>
          <a:bodyPr wrap="square" lIns="0" tIns="0" rIns="0" bIns="0" rtlCol="0" anchor="ctr"/>
          <a:lstStyle/>
          <a:p>
            <a:pPr marL="0" indent="0">
              <a:buNone/>
            </a:pPr>
            <a:r>
              <a:rPr lang="en-US" sz="1100" dirty="0">
                <a:solidFill>
                  <a:srgbClr val="2C3E50"/>
                </a:solidFill>
                <a:latin typeface="Trebuchet MS" pitchFamily="34" charset="0"/>
                <a:ea typeface="Trebuchet MS" pitchFamily="34" charset="-122"/>
                <a:cs typeface="Trebuchet MS" pitchFamily="34" charset="-120"/>
              </a:rPr>
              <a:t>Yes</a:t>
            </a:r>
            <a:endParaRPr lang="en-US" sz="1100" dirty="0"/>
          </a:p>
        </p:txBody>
      </p:sp>
      <p:sp>
        <p:nvSpPr>
          <p:cNvPr id="33" name="Text 31"/>
          <p:cNvSpPr/>
          <p:nvPr/>
        </p:nvSpPr>
        <p:spPr>
          <a:xfrm>
            <a:off x="365760" y="3346704"/>
            <a:ext cx="5029200" cy="201168"/>
          </a:xfrm>
          <a:prstGeom prst="rect">
            <a:avLst/>
          </a:prstGeom>
          <a:noFill/>
          <a:ln/>
        </p:spPr>
        <p:txBody>
          <a:bodyPr wrap="square" lIns="0" tIns="0" rIns="0" bIns="0" rtlCol="0" anchor="ctr"/>
          <a:lstStyle/>
          <a:p>
            <a:pPr marL="0" indent="0">
              <a:buNone/>
            </a:pPr>
            <a:r>
              <a:rPr lang="en-US" sz="950" b="1" kern="0" spc="200" dirty="0">
                <a:solidFill>
                  <a:srgbClr val="1E8449"/>
                </a:solidFill>
                <a:latin typeface="Trebuchet MS" pitchFamily="34" charset="0"/>
                <a:ea typeface="Trebuchet MS" pitchFamily="34" charset="-122"/>
                <a:cs typeface="Trebuchet MS" pitchFamily="34" charset="-120"/>
              </a:rPr>
              <a:t>ADVANCED EXAMPLES</a:t>
            </a:r>
            <a:endParaRPr lang="en-US" sz="950" dirty="0"/>
          </a:p>
        </p:txBody>
      </p:sp>
      <p:sp>
        <p:nvSpPr>
          <p:cNvPr id="34" name="Shape 32"/>
          <p:cNvSpPr/>
          <p:nvPr/>
        </p:nvSpPr>
        <p:spPr>
          <a:xfrm>
            <a:off x="365760" y="3547872"/>
            <a:ext cx="4206240" cy="1298448"/>
          </a:xfrm>
          <a:prstGeom prst="rect">
            <a:avLst/>
          </a:prstGeom>
          <a:solidFill>
            <a:srgbClr val="F4F6F7"/>
          </a:solidFill>
          <a:ln w="12700">
            <a:solidFill>
              <a:srgbClr val="BDC3C7"/>
            </a:solidFill>
            <a:prstDash val="solid"/>
          </a:ln>
        </p:spPr>
      </p:sp>
      <p:sp>
        <p:nvSpPr>
          <p:cNvPr id="35" name="Shape 33"/>
          <p:cNvSpPr/>
          <p:nvPr/>
        </p:nvSpPr>
        <p:spPr>
          <a:xfrm>
            <a:off x="365760" y="3547872"/>
            <a:ext cx="4206240" cy="256032"/>
          </a:xfrm>
          <a:prstGeom prst="rect">
            <a:avLst/>
          </a:prstGeom>
          <a:solidFill>
            <a:srgbClr val="1E8449"/>
          </a:solidFill>
          <a:ln w="12700">
            <a:solidFill>
              <a:srgbClr val="1E8449"/>
            </a:solidFill>
            <a:prstDash val="solid"/>
          </a:ln>
        </p:spPr>
      </p:sp>
      <p:sp>
        <p:nvSpPr>
          <p:cNvPr id="36" name="Text 34"/>
          <p:cNvSpPr/>
          <p:nvPr/>
        </p:nvSpPr>
        <p:spPr>
          <a:xfrm>
            <a:off x="475488" y="3575304"/>
            <a:ext cx="4023360" cy="201168"/>
          </a:xfrm>
          <a:prstGeom prst="rect">
            <a:avLst/>
          </a:prstGeom>
          <a:noFill/>
          <a:ln/>
        </p:spPr>
        <p:txBody>
          <a:bodyPr wrap="square" lIns="0" tIns="0" rIns="0" bIns="0" rtlCol="0" anchor="ctr"/>
          <a:lstStyle/>
          <a:p>
            <a:pPr marL="0" indent="0">
              <a:buNone/>
            </a:pPr>
            <a:r>
              <a:rPr lang="en-US" sz="950" dirty="0">
                <a:solidFill>
                  <a:srgbClr val="FFFFFF"/>
                </a:solidFill>
                <a:latin typeface="Trebuchet MS" pitchFamily="34" charset="0"/>
                <a:ea typeface="Trebuchet MS" pitchFamily="34" charset="-122"/>
                <a:cs typeface="Trebuchet MS" pitchFamily="34" charset="-120"/>
              </a:rPr>
              <a:t>SQL — HAVING with AVG</a:t>
            </a:r>
            <a:endParaRPr lang="en-US" sz="950" dirty="0"/>
          </a:p>
        </p:txBody>
      </p:sp>
      <p:sp>
        <p:nvSpPr>
          <p:cNvPr id="37" name="Text 35"/>
          <p:cNvSpPr/>
          <p:nvPr/>
        </p:nvSpPr>
        <p:spPr>
          <a:xfrm>
            <a:off x="475488" y="3849624"/>
            <a:ext cx="4023360" cy="914400"/>
          </a:xfrm>
          <a:prstGeom prst="rect">
            <a:avLst/>
          </a:prstGeom>
          <a:noFill/>
          <a:ln/>
        </p:spPr>
        <p:txBody>
          <a:bodyPr wrap="square" lIns="0" tIns="0" rIns="0" bIns="0" rtlCol="0" anchor="ctr"/>
          <a:lstStyle/>
          <a:p>
            <a:pPr marL="0" indent="0">
              <a:buNone/>
            </a:pPr>
            <a:r>
              <a:rPr lang="en-US" sz="1150" dirty="0">
                <a:solidFill>
                  <a:srgbClr val="1E8449"/>
                </a:solidFill>
                <a:latin typeface="Consolas" pitchFamily="34" charset="0"/>
                <a:ea typeface="Consolas" pitchFamily="34" charset="-122"/>
                <a:cs typeface="Consolas" pitchFamily="34" charset="-120"/>
              </a:rPr>
              <a:t>SELECT Department, AVG(Salary) AS AvgSal</a:t>
            </a:r>
            <a:endParaRPr lang="en-US" sz="1150" dirty="0"/>
          </a:p>
          <a:p>
            <a:pPr marL="0" indent="0">
              <a:buNone/>
            </a:pPr>
            <a:r>
              <a:rPr lang="en-US" sz="1150" dirty="0">
                <a:solidFill>
                  <a:srgbClr val="1E8449"/>
                </a:solidFill>
                <a:latin typeface="Consolas" pitchFamily="34" charset="0"/>
                <a:ea typeface="Consolas" pitchFamily="34" charset="-122"/>
                <a:cs typeface="Consolas" pitchFamily="34" charset="-120"/>
              </a:rPr>
              <a:t>FROM Employees</a:t>
            </a:r>
            <a:endParaRPr lang="en-US" sz="1150" dirty="0"/>
          </a:p>
          <a:p>
            <a:pPr marL="0" indent="0">
              <a:buNone/>
            </a:pPr>
            <a:r>
              <a:rPr lang="en-US" sz="1150" dirty="0">
                <a:solidFill>
                  <a:srgbClr val="1E8449"/>
                </a:solidFill>
                <a:latin typeface="Consolas" pitchFamily="34" charset="0"/>
                <a:ea typeface="Consolas" pitchFamily="34" charset="-122"/>
                <a:cs typeface="Consolas" pitchFamily="34" charset="-120"/>
              </a:rPr>
              <a:t>GROUP BY Department</a:t>
            </a:r>
            <a:endParaRPr lang="en-US" sz="1150" dirty="0"/>
          </a:p>
          <a:p>
            <a:pPr marL="0" indent="0">
              <a:buNone/>
            </a:pPr>
            <a:r>
              <a:rPr lang="en-US" sz="1150" dirty="0">
                <a:solidFill>
                  <a:srgbClr val="1E8449"/>
                </a:solidFill>
                <a:latin typeface="Consolas" pitchFamily="34" charset="0"/>
                <a:ea typeface="Consolas" pitchFamily="34" charset="-122"/>
                <a:cs typeface="Consolas" pitchFamily="34" charset="-120"/>
              </a:rPr>
              <a:t>HAVING AVG(Salary) &gt; 40000;</a:t>
            </a:r>
            <a:endParaRPr lang="en-US" sz="1150" dirty="0"/>
          </a:p>
        </p:txBody>
      </p:sp>
      <p:sp>
        <p:nvSpPr>
          <p:cNvPr id="38" name="Shape 36"/>
          <p:cNvSpPr/>
          <p:nvPr/>
        </p:nvSpPr>
        <p:spPr>
          <a:xfrm>
            <a:off x="4754880" y="3547872"/>
            <a:ext cx="4023360" cy="1298448"/>
          </a:xfrm>
          <a:prstGeom prst="rect">
            <a:avLst/>
          </a:prstGeom>
          <a:solidFill>
            <a:srgbClr val="F4F6F7"/>
          </a:solidFill>
          <a:ln w="12700">
            <a:solidFill>
              <a:srgbClr val="BDC3C7"/>
            </a:solidFill>
            <a:prstDash val="solid"/>
          </a:ln>
        </p:spPr>
      </p:sp>
      <p:sp>
        <p:nvSpPr>
          <p:cNvPr id="39" name="Shape 37"/>
          <p:cNvSpPr/>
          <p:nvPr/>
        </p:nvSpPr>
        <p:spPr>
          <a:xfrm>
            <a:off x="4754880" y="3547872"/>
            <a:ext cx="4023360" cy="256032"/>
          </a:xfrm>
          <a:prstGeom prst="rect">
            <a:avLst/>
          </a:prstGeom>
          <a:solidFill>
            <a:srgbClr val="1A3A5C"/>
          </a:solidFill>
          <a:ln w="12700">
            <a:solidFill>
              <a:srgbClr val="1A3A5C"/>
            </a:solidFill>
            <a:prstDash val="solid"/>
          </a:ln>
        </p:spPr>
      </p:sp>
      <p:sp>
        <p:nvSpPr>
          <p:cNvPr id="40" name="Text 38"/>
          <p:cNvSpPr/>
          <p:nvPr/>
        </p:nvSpPr>
        <p:spPr>
          <a:xfrm>
            <a:off x="4864608" y="3575304"/>
            <a:ext cx="3840480" cy="201168"/>
          </a:xfrm>
          <a:prstGeom prst="rect">
            <a:avLst/>
          </a:prstGeom>
          <a:noFill/>
          <a:ln/>
        </p:spPr>
        <p:txBody>
          <a:bodyPr wrap="square" lIns="0" tIns="0" rIns="0" bIns="0" rtlCol="0" anchor="ctr"/>
          <a:lstStyle/>
          <a:p>
            <a:pPr marL="0" indent="0">
              <a:buNone/>
            </a:pPr>
            <a:r>
              <a:rPr lang="en-US" sz="950" dirty="0">
                <a:solidFill>
                  <a:srgbClr val="FFFFFF"/>
                </a:solidFill>
                <a:latin typeface="Trebuchet MS" pitchFamily="34" charset="0"/>
                <a:ea typeface="Trebuchet MS" pitchFamily="34" charset="-122"/>
                <a:cs typeface="Trebuchet MS" pitchFamily="34" charset="-120"/>
              </a:rPr>
              <a:t>SQL — HAVING with multiple conditions</a:t>
            </a:r>
            <a:endParaRPr lang="en-US" sz="950" dirty="0"/>
          </a:p>
        </p:txBody>
      </p:sp>
      <p:sp>
        <p:nvSpPr>
          <p:cNvPr id="41" name="Text 39"/>
          <p:cNvSpPr/>
          <p:nvPr/>
        </p:nvSpPr>
        <p:spPr>
          <a:xfrm>
            <a:off x="4864608" y="3849624"/>
            <a:ext cx="3840480" cy="914400"/>
          </a:xfrm>
          <a:prstGeom prst="rect">
            <a:avLst/>
          </a:prstGeom>
          <a:noFill/>
          <a:ln/>
        </p:spPr>
        <p:txBody>
          <a:bodyPr wrap="square" lIns="0" tIns="0" rIns="0" bIns="0" rtlCol="0" anchor="ctr"/>
          <a:lstStyle/>
          <a:p>
            <a:pPr marL="0" indent="0">
              <a:buNone/>
            </a:pPr>
            <a:r>
              <a:rPr lang="en-US" sz="1150" dirty="0">
                <a:solidFill>
                  <a:srgbClr val="1A5276"/>
                </a:solidFill>
                <a:latin typeface="Consolas" pitchFamily="34" charset="0"/>
                <a:ea typeface="Consolas" pitchFamily="34" charset="-122"/>
                <a:cs typeface="Consolas" pitchFamily="34" charset="-120"/>
              </a:rPr>
              <a:t>SELECT Dept, COUNT(*) AS Total</a:t>
            </a:r>
            <a:endParaRPr lang="en-US" sz="1150" dirty="0"/>
          </a:p>
          <a:p>
            <a:pPr marL="0" indent="0">
              <a:buNone/>
            </a:pPr>
            <a:r>
              <a:rPr lang="en-US" sz="1150" dirty="0">
                <a:solidFill>
                  <a:srgbClr val="1A5276"/>
                </a:solidFill>
                <a:latin typeface="Consolas" pitchFamily="34" charset="0"/>
                <a:ea typeface="Consolas" pitchFamily="34" charset="-122"/>
                <a:cs typeface="Consolas" pitchFamily="34" charset="-120"/>
              </a:rPr>
              <a:t>FROM Employees GROUP BY Dept</a:t>
            </a:r>
            <a:endParaRPr lang="en-US" sz="1150" dirty="0"/>
          </a:p>
          <a:p>
            <a:pPr marL="0" indent="0">
              <a:buNone/>
            </a:pPr>
            <a:r>
              <a:rPr lang="en-US" sz="1150" dirty="0">
                <a:solidFill>
                  <a:srgbClr val="1A5276"/>
                </a:solidFill>
                <a:latin typeface="Consolas" pitchFamily="34" charset="0"/>
                <a:ea typeface="Consolas" pitchFamily="34" charset="-122"/>
                <a:cs typeface="Consolas" pitchFamily="34" charset="-120"/>
              </a:rPr>
              <a:t>HAVING COUNT(*) &gt; 3</a:t>
            </a:r>
            <a:endParaRPr lang="en-US" sz="1150" dirty="0"/>
          </a:p>
          <a:p>
            <a:pPr marL="0" indent="0">
              <a:buNone/>
            </a:pPr>
            <a:r>
              <a:rPr lang="en-US" sz="1150" dirty="0">
                <a:solidFill>
                  <a:srgbClr val="1A5276"/>
                </a:solidFill>
                <a:latin typeface="Consolas" pitchFamily="34" charset="0"/>
                <a:ea typeface="Consolas" pitchFamily="34" charset="-122"/>
                <a:cs typeface="Consolas" pitchFamily="34" charset="-120"/>
              </a:rPr>
              <a:t>   AND MAX(Salary) &lt; 80000;</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3A5C"/>
          </a:solidFill>
          <a:ln w="12700">
            <a:solidFill>
              <a:srgbClr val="1A3A5C"/>
            </a:solidFill>
            <a:prstDash val="solid"/>
          </a:ln>
        </p:spPr>
      </p:sp>
      <p:sp>
        <p:nvSpPr>
          <p:cNvPr id="3" name="Shape 1"/>
          <p:cNvSpPr/>
          <p:nvPr/>
        </p:nvSpPr>
        <p:spPr>
          <a:xfrm>
            <a:off x="0" y="73152"/>
            <a:ext cx="9144000" cy="749808"/>
          </a:xfrm>
          <a:prstGeom prst="rect">
            <a:avLst/>
          </a:prstGeom>
          <a:solidFill>
            <a:srgbClr val="1A3A5C"/>
          </a:solidFill>
          <a:ln w="12700">
            <a:solidFill>
              <a:srgbClr val="1A3A5C"/>
            </a:solidFill>
            <a:prstDash val="solid"/>
          </a:ln>
        </p:spPr>
      </p:sp>
      <p:sp>
        <p:nvSpPr>
          <p:cNvPr id="4" name="Text 2"/>
          <p:cNvSpPr/>
          <p:nvPr/>
        </p:nvSpPr>
        <p:spPr>
          <a:xfrm>
            <a:off x="457200" y="118872"/>
            <a:ext cx="7132320" cy="420624"/>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ORDER BY Clause</a:t>
            </a:r>
            <a:endParaRPr lang="en-US" sz="2800" dirty="0"/>
          </a:p>
        </p:txBody>
      </p:sp>
      <p:sp>
        <p:nvSpPr>
          <p:cNvPr id="5" name="Text 3"/>
          <p:cNvSpPr/>
          <p:nvPr/>
        </p:nvSpPr>
        <p:spPr>
          <a:xfrm>
            <a:off x="457200" y="557784"/>
            <a:ext cx="7132320" cy="201168"/>
          </a:xfrm>
          <a:prstGeom prst="rect">
            <a:avLst/>
          </a:prstGeom>
          <a:noFill/>
          <a:ln/>
        </p:spPr>
        <p:txBody>
          <a:bodyPr wrap="square" lIns="0" tIns="0" rIns="0" bIns="0" rtlCol="0" anchor="ctr"/>
          <a:lstStyle/>
          <a:p>
            <a:pPr marL="0" indent="0">
              <a:buNone/>
            </a:pPr>
            <a:r>
              <a:rPr lang="en-US" sz="1100" i="1" dirty="0">
                <a:solidFill>
                  <a:srgbClr val="D6E8F5"/>
                </a:solidFill>
                <a:latin typeface="Georgia" pitchFamily="34" charset="0"/>
                <a:ea typeface="Georgia" pitchFamily="34" charset="-122"/>
                <a:cs typeface="Georgia" pitchFamily="34" charset="-120"/>
              </a:rPr>
              <a:t>Definition, Syntax &amp; ASC / DESC</a:t>
            </a:r>
            <a:endParaRPr lang="en-US" sz="1100" dirty="0"/>
          </a:p>
        </p:txBody>
      </p:sp>
      <p:sp>
        <p:nvSpPr>
          <p:cNvPr id="7" name="Text 5"/>
          <p:cNvSpPr/>
          <p:nvPr/>
        </p:nvSpPr>
        <p:spPr>
          <a:xfrm>
            <a:off x="7973568" y="219456"/>
            <a:ext cx="804672" cy="237744"/>
          </a:xfrm>
          <a:prstGeom prst="rect">
            <a:avLst/>
          </a:prstGeom>
          <a:noFill/>
          <a:ln/>
        </p:spPr>
        <p:txBody>
          <a:bodyPr wrap="square" lIns="0" tIns="0" rIns="0" bIns="0" rtlCol="0" anchor="ctr"/>
          <a:lstStyle/>
          <a:p>
            <a:pPr marL="0" indent="0" algn="ctr">
              <a:buNone/>
            </a:pPr>
            <a:endParaRPr lang="en-US" sz="1000" dirty="0"/>
          </a:p>
        </p:txBody>
      </p:sp>
      <p:sp>
        <p:nvSpPr>
          <p:cNvPr id="8" name="Text 6"/>
          <p:cNvSpPr/>
          <p:nvPr/>
        </p:nvSpPr>
        <p:spPr>
          <a:xfrm>
            <a:off x="365760" y="987552"/>
            <a:ext cx="5029200" cy="201168"/>
          </a:xfrm>
          <a:prstGeom prst="rect">
            <a:avLst/>
          </a:prstGeom>
          <a:noFill/>
          <a:ln/>
        </p:spPr>
        <p:txBody>
          <a:bodyPr wrap="square" lIns="0" tIns="0" rIns="0" bIns="0" rtlCol="0" anchor="ctr"/>
          <a:lstStyle/>
          <a:p>
            <a:pPr marL="0" indent="0">
              <a:buNone/>
            </a:pPr>
            <a:r>
              <a:rPr lang="en-US" sz="950" b="1" kern="0" spc="200" dirty="0">
                <a:solidFill>
                  <a:srgbClr val="2E86C1"/>
                </a:solidFill>
                <a:latin typeface="Trebuchet MS" pitchFamily="34" charset="0"/>
                <a:ea typeface="Trebuchet MS" pitchFamily="34" charset="-122"/>
                <a:cs typeface="Trebuchet MS" pitchFamily="34" charset="-120"/>
              </a:rPr>
              <a:t>DEFINITION</a:t>
            </a:r>
            <a:endParaRPr lang="en-US" sz="950" dirty="0"/>
          </a:p>
        </p:txBody>
      </p:sp>
      <p:sp>
        <p:nvSpPr>
          <p:cNvPr id="9" name="Shape 7"/>
          <p:cNvSpPr/>
          <p:nvPr/>
        </p:nvSpPr>
        <p:spPr>
          <a:xfrm>
            <a:off x="365760" y="987552"/>
            <a:ext cx="8412480" cy="804672"/>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10" name="Shape 8"/>
          <p:cNvSpPr/>
          <p:nvPr/>
        </p:nvSpPr>
        <p:spPr>
          <a:xfrm>
            <a:off x="365760" y="987552"/>
            <a:ext cx="54864" cy="804672"/>
          </a:xfrm>
          <a:prstGeom prst="rect">
            <a:avLst/>
          </a:prstGeom>
          <a:solidFill>
            <a:srgbClr val="2E86C1"/>
          </a:solidFill>
          <a:ln w="12700">
            <a:solidFill>
              <a:srgbClr val="2E86C1"/>
            </a:solidFill>
            <a:prstDash val="solid"/>
          </a:ln>
        </p:spPr>
      </p:sp>
      <p:sp>
        <p:nvSpPr>
          <p:cNvPr id="11" name="Text 9"/>
          <p:cNvSpPr/>
          <p:nvPr/>
        </p:nvSpPr>
        <p:spPr>
          <a:xfrm>
            <a:off x="548640" y="1042416"/>
            <a:ext cx="8092440" cy="694944"/>
          </a:xfrm>
          <a:prstGeom prst="rect">
            <a:avLst/>
          </a:prstGeom>
          <a:noFill/>
          <a:ln/>
        </p:spPr>
        <p:txBody>
          <a:bodyPr wrap="square" lIns="0" tIns="0" rIns="0" bIns="0" rtlCol="0" anchor="ctr"/>
          <a:lstStyle/>
          <a:p>
            <a:pPr marL="0" indent="0">
              <a:buNone/>
            </a:pPr>
            <a:r>
              <a:rPr lang="en-US" sz="1300" dirty="0">
                <a:solidFill>
                  <a:srgbClr val="2C3E50"/>
                </a:solidFill>
                <a:latin typeface="Trebuchet MS" pitchFamily="34" charset="0"/>
                <a:ea typeface="Trebuchet MS" pitchFamily="34" charset="-122"/>
                <a:cs typeface="Trebuchet MS" pitchFamily="34" charset="-120"/>
              </a:rPr>
              <a:t>ORDER BY sorts the result set in ascending (ASC) or descending (DESC) order based on one or more columns. ASC is the default. It is always the last step in SQL query execution.</a:t>
            </a:r>
            <a:endParaRPr lang="en-US" sz="1300" dirty="0"/>
          </a:p>
        </p:txBody>
      </p:sp>
      <p:sp>
        <p:nvSpPr>
          <p:cNvPr id="12" name="Text 10"/>
          <p:cNvSpPr/>
          <p:nvPr/>
        </p:nvSpPr>
        <p:spPr>
          <a:xfrm>
            <a:off x="365760" y="1938528"/>
            <a:ext cx="5029200" cy="201168"/>
          </a:xfrm>
          <a:prstGeom prst="rect">
            <a:avLst/>
          </a:prstGeom>
          <a:noFill/>
          <a:ln/>
        </p:spPr>
        <p:txBody>
          <a:bodyPr wrap="square" lIns="0" tIns="0" rIns="0" bIns="0" rtlCol="0" anchor="ctr"/>
          <a:lstStyle/>
          <a:p>
            <a:pPr marL="0" indent="0">
              <a:buNone/>
            </a:pPr>
            <a:r>
              <a:rPr lang="en-US" sz="950" b="1" kern="0" spc="200" dirty="0">
                <a:solidFill>
                  <a:srgbClr val="2E86C1"/>
                </a:solidFill>
                <a:latin typeface="Trebuchet MS" pitchFamily="34" charset="0"/>
                <a:ea typeface="Trebuchet MS" pitchFamily="34" charset="-122"/>
                <a:cs typeface="Trebuchet MS" pitchFamily="34" charset="-120"/>
              </a:rPr>
              <a:t>SYNTAX</a:t>
            </a:r>
            <a:endParaRPr lang="en-US" sz="950" dirty="0"/>
          </a:p>
        </p:txBody>
      </p:sp>
      <p:sp>
        <p:nvSpPr>
          <p:cNvPr id="13" name="Shape 11"/>
          <p:cNvSpPr/>
          <p:nvPr/>
        </p:nvSpPr>
        <p:spPr>
          <a:xfrm>
            <a:off x="365760" y="2148840"/>
            <a:ext cx="3931920" cy="1207008"/>
          </a:xfrm>
          <a:prstGeom prst="rect">
            <a:avLst/>
          </a:prstGeom>
          <a:solidFill>
            <a:srgbClr val="F4F6F7"/>
          </a:solidFill>
          <a:ln w="12700">
            <a:solidFill>
              <a:srgbClr val="BDC3C7"/>
            </a:solidFill>
            <a:prstDash val="solid"/>
          </a:ln>
        </p:spPr>
      </p:sp>
      <p:sp>
        <p:nvSpPr>
          <p:cNvPr id="14" name="Shape 12"/>
          <p:cNvSpPr/>
          <p:nvPr/>
        </p:nvSpPr>
        <p:spPr>
          <a:xfrm>
            <a:off x="365760" y="2148840"/>
            <a:ext cx="3931920" cy="256032"/>
          </a:xfrm>
          <a:prstGeom prst="rect">
            <a:avLst/>
          </a:prstGeom>
          <a:solidFill>
            <a:srgbClr val="1A3A5C"/>
          </a:solidFill>
          <a:ln w="12700">
            <a:solidFill>
              <a:srgbClr val="1A3A5C"/>
            </a:solidFill>
            <a:prstDash val="solid"/>
          </a:ln>
        </p:spPr>
      </p:sp>
      <p:sp>
        <p:nvSpPr>
          <p:cNvPr id="15" name="Text 13"/>
          <p:cNvSpPr/>
          <p:nvPr/>
        </p:nvSpPr>
        <p:spPr>
          <a:xfrm>
            <a:off x="475488" y="2176272"/>
            <a:ext cx="3749040" cy="201168"/>
          </a:xfrm>
          <a:prstGeom prst="rect">
            <a:avLst/>
          </a:prstGeom>
          <a:noFill/>
          <a:ln/>
        </p:spPr>
        <p:txBody>
          <a:bodyPr wrap="square" lIns="0" tIns="0" rIns="0" bIns="0" rtlCol="0" anchor="ctr"/>
          <a:lstStyle/>
          <a:p>
            <a:pPr marL="0" indent="0">
              <a:buNone/>
            </a:pPr>
            <a:r>
              <a:rPr lang="en-US" sz="950" dirty="0">
                <a:solidFill>
                  <a:srgbClr val="FFFFFF"/>
                </a:solidFill>
                <a:latin typeface="Trebuchet MS" pitchFamily="34" charset="0"/>
                <a:ea typeface="Trebuchet MS" pitchFamily="34" charset="-122"/>
                <a:cs typeface="Trebuchet MS" pitchFamily="34" charset="-120"/>
              </a:rPr>
              <a:t>SQL — Syntax</a:t>
            </a:r>
            <a:endParaRPr lang="en-US" sz="950" dirty="0"/>
          </a:p>
        </p:txBody>
      </p:sp>
      <p:sp>
        <p:nvSpPr>
          <p:cNvPr id="16" name="Text 14"/>
          <p:cNvSpPr/>
          <p:nvPr/>
        </p:nvSpPr>
        <p:spPr>
          <a:xfrm>
            <a:off x="475488" y="2450592"/>
            <a:ext cx="3749040" cy="822960"/>
          </a:xfrm>
          <a:prstGeom prst="rect">
            <a:avLst/>
          </a:prstGeom>
          <a:noFill/>
          <a:ln/>
        </p:spPr>
        <p:txBody>
          <a:bodyPr wrap="square" lIns="0" tIns="0" rIns="0" bIns="0" rtlCol="0" anchor="ctr"/>
          <a:lstStyle/>
          <a:p>
            <a:pPr marL="0" indent="0">
              <a:buNone/>
            </a:pPr>
            <a:r>
              <a:rPr lang="en-US" sz="1150" dirty="0">
                <a:solidFill>
                  <a:srgbClr val="1A5276"/>
                </a:solidFill>
                <a:latin typeface="Consolas" pitchFamily="34" charset="0"/>
                <a:ea typeface="Consolas" pitchFamily="34" charset="-122"/>
                <a:cs typeface="Consolas" pitchFamily="34" charset="-120"/>
              </a:rPr>
              <a:t>SELECT column1, column2</a:t>
            </a:r>
            <a:endParaRPr lang="en-US" sz="1150" dirty="0"/>
          </a:p>
          <a:p>
            <a:pPr marL="0" indent="0">
              <a:buNone/>
            </a:pPr>
            <a:r>
              <a:rPr lang="en-US" sz="1150" dirty="0">
                <a:solidFill>
                  <a:srgbClr val="1A5276"/>
                </a:solidFill>
                <a:latin typeface="Consolas" pitchFamily="34" charset="0"/>
                <a:ea typeface="Consolas" pitchFamily="34" charset="-122"/>
                <a:cs typeface="Consolas" pitchFamily="34" charset="-120"/>
              </a:rPr>
              <a:t>FROM table_name</a:t>
            </a:r>
            <a:endParaRPr lang="en-US" sz="1150" dirty="0"/>
          </a:p>
          <a:p>
            <a:pPr marL="0" indent="0">
              <a:buNone/>
            </a:pPr>
            <a:r>
              <a:rPr lang="en-US" sz="1150" dirty="0">
                <a:solidFill>
                  <a:srgbClr val="1A5276"/>
                </a:solidFill>
                <a:latin typeface="Consolas" pitchFamily="34" charset="0"/>
                <a:ea typeface="Consolas" pitchFamily="34" charset="-122"/>
                <a:cs typeface="Consolas" pitchFamily="34" charset="-120"/>
              </a:rPr>
              <a:t>ORDER BY col1 ASC,</a:t>
            </a:r>
            <a:endParaRPr lang="en-US" sz="1150" dirty="0"/>
          </a:p>
          <a:p>
            <a:pPr marL="0" indent="0">
              <a:buNone/>
            </a:pPr>
            <a:r>
              <a:rPr lang="en-US" sz="1150" dirty="0">
                <a:solidFill>
                  <a:srgbClr val="1A5276"/>
                </a:solidFill>
                <a:latin typeface="Consolas" pitchFamily="34" charset="0"/>
                <a:ea typeface="Consolas" pitchFamily="34" charset="-122"/>
                <a:cs typeface="Consolas" pitchFamily="34" charset="-120"/>
              </a:rPr>
              <a:t>         col2 DESC;</a:t>
            </a:r>
            <a:endParaRPr lang="en-US" sz="1150" dirty="0"/>
          </a:p>
        </p:txBody>
      </p:sp>
      <p:sp>
        <p:nvSpPr>
          <p:cNvPr id="17" name="Text 15"/>
          <p:cNvSpPr/>
          <p:nvPr/>
        </p:nvSpPr>
        <p:spPr>
          <a:xfrm>
            <a:off x="4572000" y="1938528"/>
            <a:ext cx="5029200" cy="201168"/>
          </a:xfrm>
          <a:prstGeom prst="rect">
            <a:avLst/>
          </a:prstGeom>
          <a:noFill/>
          <a:ln/>
        </p:spPr>
        <p:txBody>
          <a:bodyPr wrap="square" lIns="0" tIns="0" rIns="0" bIns="0" rtlCol="0" anchor="ctr"/>
          <a:lstStyle/>
          <a:p>
            <a:pPr marL="0" indent="0">
              <a:buNone/>
            </a:pPr>
            <a:r>
              <a:rPr lang="en-US" sz="950" b="1" kern="0" spc="200" dirty="0">
                <a:solidFill>
                  <a:srgbClr val="1E8449"/>
                </a:solidFill>
                <a:latin typeface="Trebuchet MS" pitchFamily="34" charset="0"/>
                <a:ea typeface="Trebuchet MS" pitchFamily="34" charset="-122"/>
                <a:cs typeface="Trebuchet MS" pitchFamily="34" charset="-120"/>
              </a:rPr>
              <a:t>EXAMPLE</a:t>
            </a:r>
            <a:endParaRPr lang="en-US" sz="950" dirty="0"/>
          </a:p>
        </p:txBody>
      </p:sp>
      <p:sp>
        <p:nvSpPr>
          <p:cNvPr id="18" name="Shape 16"/>
          <p:cNvSpPr/>
          <p:nvPr/>
        </p:nvSpPr>
        <p:spPr>
          <a:xfrm>
            <a:off x="4572000" y="2148840"/>
            <a:ext cx="4206240" cy="1207008"/>
          </a:xfrm>
          <a:prstGeom prst="rect">
            <a:avLst/>
          </a:prstGeom>
          <a:solidFill>
            <a:srgbClr val="F4F6F7"/>
          </a:solidFill>
          <a:ln w="12700">
            <a:solidFill>
              <a:srgbClr val="BDC3C7"/>
            </a:solidFill>
            <a:prstDash val="solid"/>
          </a:ln>
        </p:spPr>
      </p:sp>
      <p:sp>
        <p:nvSpPr>
          <p:cNvPr id="19" name="Shape 17"/>
          <p:cNvSpPr/>
          <p:nvPr/>
        </p:nvSpPr>
        <p:spPr>
          <a:xfrm>
            <a:off x="4572000" y="2148840"/>
            <a:ext cx="4206240" cy="256032"/>
          </a:xfrm>
          <a:prstGeom prst="rect">
            <a:avLst/>
          </a:prstGeom>
          <a:solidFill>
            <a:srgbClr val="1E8449"/>
          </a:solidFill>
          <a:ln w="12700">
            <a:solidFill>
              <a:srgbClr val="1E8449"/>
            </a:solidFill>
            <a:prstDash val="solid"/>
          </a:ln>
        </p:spPr>
      </p:sp>
      <p:sp>
        <p:nvSpPr>
          <p:cNvPr id="20" name="Text 18"/>
          <p:cNvSpPr/>
          <p:nvPr/>
        </p:nvSpPr>
        <p:spPr>
          <a:xfrm>
            <a:off x="4681728" y="2176272"/>
            <a:ext cx="4023360" cy="201168"/>
          </a:xfrm>
          <a:prstGeom prst="rect">
            <a:avLst/>
          </a:prstGeom>
          <a:noFill/>
          <a:ln/>
        </p:spPr>
        <p:txBody>
          <a:bodyPr wrap="square" lIns="0" tIns="0" rIns="0" bIns="0" rtlCol="0" anchor="ctr"/>
          <a:lstStyle/>
          <a:p>
            <a:pPr marL="0" indent="0">
              <a:buNone/>
            </a:pPr>
            <a:r>
              <a:rPr lang="en-US" sz="950" dirty="0">
                <a:solidFill>
                  <a:srgbClr val="FFFFFF"/>
                </a:solidFill>
                <a:latin typeface="Trebuchet MS" pitchFamily="34" charset="0"/>
                <a:ea typeface="Trebuchet MS" pitchFamily="34" charset="-122"/>
                <a:cs typeface="Trebuchet MS" pitchFamily="34" charset="-120"/>
              </a:rPr>
              <a:t>SQL — Sort by salary, highest first</a:t>
            </a:r>
            <a:endParaRPr lang="en-US" sz="950" dirty="0"/>
          </a:p>
        </p:txBody>
      </p:sp>
      <p:sp>
        <p:nvSpPr>
          <p:cNvPr id="21" name="Text 19"/>
          <p:cNvSpPr/>
          <p:nvPr/>
        </p:nvSpPr>
        <p:spPr>
          <a:xfrm>
            <a:off x="4681728" y="2450592"/>
            <a:ext cx="4023360" cy="822960"/>
          </a:xfrm>
          <a:prstGeom prst="rect">
            <a:avLst/>
          </a:prstGeom>
          <a:noFill/>
          <a:ln/>
        </p:spPr>
        <p:txBody>
          <a:bodyPr wrap="square" lIns="0" tIns="0" rIns="0" bIns="0" rtlCol="0" anchor="ctr"/>
          <a:lstStyle/>
          <a:p>
            <a:pPr marL="0" indent="0">
              <a:buNone/>
            </a:pPr>
            <a:r>
              <a:rPr lang="en-US" sz="1150" dirty="0">
                <a:solidFill>
                  <a:srgbClr val="1E8449"/>
                </a:solidFill>
                <a:latin typeface="Consolas" pitchFamily="34" charset="0"/>
                <a:ea typeface="Consolas" pitchFamily="34" charset="-122"/>
                <a:cs typeface="Consolas" pitchFamily="34" charset="-120"/>
              </a:rPr>
              <a:t>SELECT Name, Salary</a:t>
            </a:r>
            <a:endParaRPr lang="en-US" sz="1150" dirty="0"/>
          </a:p>
          <a:p>
            <a:pPr marL="0" indent="0">
              <a:buNone/>
            </a:pPr>
            <a:r>
              <a:rPr lang="en-US" sz="1150" dirty="0">
                <a:solidFill>
                  <a:srgbClr val="1E8449"/>
                </a:solidFill>
                <a:latin typeface="Consolas" pitchFamily="34" charset="0"/>
                <a:ea typeface="Consolas" pitchFamily="34" charset="-122"/>
                <a:cs typeface="Consolas" pitchFamily="34" charset="-120"/>
              </a:rPr>
              <a:t>FROM Employees</a:t>
            </a:r>
            <a:endParaRPr lang="en-US" sz="1150" dirty="0"/>
          </a:p>
          <a:p>
            <a:pPr marL="0" indent="0">
              <a:buNone/>
            </a:pPr>
            <a:r>
              <a:rPr lang="en-US" sz="1150" dirty="0">
                <a:solidFill>
                  <a:srgbClr val="1E8449"/>
                </a:solidFill>
                <a:latin typeface="Consolas" pitchFamily="34" charset="0"/>
                <a:ea typeface="Consolas" pitchFamily="34" charset="-122"/>
                <a:cs typeface="Consolas" pitchFamily="34" charset="-120"/>
              </a:rPr>
              <a:t>ORDER BY Salary DESC;</a:t>
            </a:r>
            <a:endParaRPr lang="en-US" sz="1150" dirty="0"/>
          </a:p>
        </p:txBody>
      </p:sp>
      <p:sp>
        <p:nvSpPr>
          <p:cNvPr id="22" name="Text 20"/>
          <p:cNvSpPr/>
          <p:nvPr/>
        </p:nvSpPr>
        <p:spPr>
          <a:xfrm>
            <a:off x="365760" y="3511296"/>
            <a:ext cx="5029200" cy="201168"/>
          </a:xfrm>
          <a:prstGeom prst="rect">
            <a:avLst/>
          </a:prstGeom>
          <a:noFill/>
          <a:ln/>
        </p:spPr>
        <p:txBody>
          <a:bodyPr wrap="square" lIns="0" tIns="0" rIns="0" bIns="0" rtlCol="0" anchor="ctr"/>
          <a:lstStyle/>
          <a:p>
            <a:pPr marL="0" indent="0">
              <a:buNone/>
            </a:pPr>
            <a:r>
              <a:rPr lang="en-US" sz="950" b="1" kern="0" spc="200" dirty="0">
                <a:solidFill>
                  <a:srgbClr val="2E86C1"/>
                </a:solidFill>
                <a:latin typeface="Trebuchet MS" pitchFamily="34" charset="0"/>
                <a:ea typeface="Trebuchet MS" pitchFamily="34" charset="-122"/>
                <a:cs typeface="Trebuchet MS" pitchFamily="34" charset="-120"/>
              </a:rPr>
              <a:t>ASC vs DESC</a:t>
            </a:r>
            <a:endParaRPr lang="en-US" sz="950" dirty="0"/>
          </a:p>
        </p:txBody>
      </p:sp>
      <p:sp>
        <p:nvSpPr>
          <p:cNvPr id="23" name="Shape 21"/>
          <p:cNvSpPr/>
          <p:nvPr/>
        </p:nvSpPr>
        <p:spPr>
          <a:xfrm>
            <a:off x="365760" y="3712464"/>
            <a:ext cx="4206240" cy="713232"/>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24" name="Shape 22"/>
          <p:cNvSpPr/>
          <p:nvPr/>
        </p:nvSpPr>
        <p:spPr>
          <a:xfrm>
            <a:off x="365760" y="3712464"/>
            <a:ext cx="54864" cy="713232"/>
          </a:xfrm>
          <a:prstGeom prst="rect">
            <a:avLst/>
          </a:prstGeom>
          <a:solidFill>
            <a:srgbClr val="2E86C1"/>
          </a:solidFill>
          <a:ln w="12700">
            <a:solidFill>
              <a:srgbClr val="2E86C1"/>
            </a:solidFill>
            <a:prstDash val="solid"/>
          </a:ln>
        </p:spPr>
      </p:sp>
      <p:sp>
        <p:nvSpPr>
          <p:cNvPr id="25" name="Text 23"/>
          <p:cNvSpPr/>
          <p:nvPr/>
        </p:nvSpPr>
        <p:spPr>
          <a:xfrm>
            <a:off x="548640" y="3749040"/>
            <a:ext cx="3840480" cy="237744"/>
          </a:xfrm>
          <a:prstGeom prst="rect">
            <a:avLst/>
          </a:prstGeom>
          <a:noFill/>
          <a:ln/>
        </p:spPr>
        <p:txBody>
          <a:bodyPr wrap="square" lIns="0" tIns="0" rIns="0" bIns="0" rtlCol="0" anchor="ctr"/>
          <a:lstStyle/>
          <a:p>
            <a:pPr marL="0" indent="0">
              <a:buNone/>
            </a:pPr>
            <a:r>
              <a:rPr lang="en-US" sz="1300" b="1" dirty="0">
                <a:solidFill>
                  <a:srgbClr val="1A3A5C"/>
                </a:solidFill>
                <a:latin typeface="Trebuchet MS" pitchFamily="34" charset="0"/>
                <a:ea typeface="Trebuchet MS" pitchFamily="34" charset="-122"/>
                <a:cs typeface="Trebuchet MS" pitchFamily="34" charset="-120"/>
              </a:rPr>
              <a:t>ASC (Ascending)</a:t>
            </a:r>
            <a:endParaRPr lang="en-US" sz="1300" dirty="0"/>
          </a:p>
        </p:txBody>
      </p:sp>
      <p:sp>
        <p:nvSpPr>
          <p:cNvPr id="26" name="Text 24"/>
          <p:cNvSpPr/>
          <p:nvPr/>
        </p:nvSpPr>
        <p:spPr>
          <a:xfrm>
            <a:off x="548640" y="3986784"/>
            <a:ext cx="3840480" cy="365760"/>
          </a:xfrm>
          <a:prstGeom prst="rect">
            <a:avLst/>
          </a:prstGeom>
          <a:noFill/>
          <a:ln/>
        </p:spPr>
        <p:txBody>
          <a:bodyPr wrap="square" lIns="0" tIns="0" rIns="0" bIns="0" rtlCol="0" anchor="ctr"/>
          <a:lstStyle/>
          <a:p>
            <a:pPr marL="0" indent="0">
              <a:buNone/>
            </a:pPr>
            <a:r>
              <a:rPr lang="en-US" sz="1150" dirty="0">
                <a:solidFill>
                  <a:srgbClr val="5D6D7E"/>
                </a:solidFill>
                <a:latin typeface="Trebuchet MS" pitchFamily="34" charset="0"/>
                <a:ea typeface="Trebuchet MS" pitchFamily="34" charset="-122"/>
                <a:cs typeface="Trebuchet MS" pitchFamily="34" charset="-120"/>
              </a:rPr>
              <a:t>Default. Sorts smallest → largest:  1, 2, 3... or A, B, C...</a:t>
            </a:r>
            <a:endParaRPr lang="en-US" sz="1150" dirty="0"/>
          </a:p>
        </p:txBody>
      </p:sp>
      <p:sp>
        <p:nvSpPr>
          <p:cNvPr id="27" name="Shape 25"/>
          <p:cNvSpPr/>
          <p:nvPr/>
        </p:nvSpPr>
        <p:spPr>
          <a:xfrm>
            <a:off x="4754880" y="3712464"/>
            <a:ext cx="4023360" cy="713232"/>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28" name="Shape 26"/>
          <p:cNvSpPr/>
          <p:nvPr/>
        </p:nvSpPr>
        <p:spPr>
          <a:xfrm>
            <a:off x="4754880" y="3712464"/>
            <a:ext cx="54864" cy="713232"/>
          </a:xfrm>
          <a:prstGeom prst="rect">
            <a:avLst/>
          </a:prstGeom>
          <a:solidFill>
            <a:srgbClr val="D35400"/>
          </a:solidFill>
          <a:ln w="12700">
            <a:solidFill>
              <a:srgbClr val="D35400"/>
            </a:solidFill>
            <a:prstDash val="solid"/>
          </a:ln>
        </p:spPr>
      </p:sp>
      <p:sp>
        <p:nvSpPr>
          <p:cNvPr id="29" name="Text 27"/>
          <p:cNvSpPr/>
          <p:nvPr/>
        </p:nvSpPr>
        <p:spPr>
          <a:xfrm>
            <a:off x="4937760" y="3749040"/>
            <a:ext cx="3657600" cy="237744"/>
          </a:xfrm>
          <a:prstGeom prst="rect">
            <a:avLst/>
          </a:prstGeom>
          <a:noFill/>
          <a:ln/>
        </p:spPr>
        <p:txBody>
          <a:bodyPr wrap="square" lIns="0" tIns="0" rIns="0" bIns="0" rtlCol="0" anchor="ctr"/>
          <a:lstStyle/>
          <a:p>
            <a:pPr marL="0" indent="0">
              <a:buNone/>
            </a:pPr>
            <a:r>
              <a:rPr lang="en-US" sz="1300" b="1" dirty="0">
                <a:solidFill>
                  <a:srgbClr val="1A3A5C"/>
                </a:solidFill>
                <a:latin typeface="Trebuchet MS" pitchFamily="34" charset="0"/>
                <a:ea typeface="Trebuchet MS" pitchFamily="34" charset="-122"/>
                <a:cs typeface="Trebuchet MS" pitchFamily="34" charset="-120"/>
              </a:rPr>
              <a:t>DESC (Descending)</a:t>
            </a:r>
            <a:endParaRPr lang="en-US" sz="1300" dirty="0"/>
          </a:p>
        </p:txBody>
      </p:sp>
      <p:sp>
        <p:nvSpPr>
          <p:cNvPr id="30" name="Text 28"/>
          <p:cNvSpPr/>
          <p:nvPr/>
        </p:nvSpPr>
        <p:spPr>
          <a:xfrm>
            <a:off x="4937760" y="3986784"/>
            <a:ext cx="3657600" cy="365760"/>
          </a:xfrm>
          <a:prstGeom prst="rect">
            <a:avLst/>
          </a:prstGeom>
          <a:noFill/>
          <a:ln/>
        </p:spPr>
        <p:txBody>
          <a:bodyPr wrap="square" lIns="0" tIns="0" rIns="0" bIns="0" rtlCol="0" anchor="ctr"/>
          <a:lstStyle/>
          <a:p>
            <a:pPr marL="0" indent="0">
              <a:buNone/>
            </a:pPr>
            <a:r>
              <a:rPr lang="en-US" sz="1150" dirty="0">
                <a:solidFill>
                  <a:srgbClr val="5D6D7E"/>
                </a:solidFill>
                <a:latin typeface="Trebuchet MS" pitchFamily="34" charset="0"/>
                <a:ea typeface="Trebuchet MS" pitchFamily="34" charset="-122"/>
                <a:cs typeface="Trebuchet MS" pitchFamily="34" charset="-120"/>
              </a:rPr>
              <a:t>Sorts largest → smallest:  100, 50, 10... or Z, Y, X...</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3A5C"/>
          </a:solidFill>
          <a:ln w="12700">
            <a:solidFill>
              <a:srgbClr val="1A3A5C"/>
            </a:solidFill>
            <a:prstDash val="solid"/>
          </a:ln>
        </p:spPr>
      </p:sp>
      <p:sp>
        <p:nvSpPr>
          <p:cNvPr id="3" name="Shape 1"/>
          <p:cNvSpPr/>
          <p:nvPr/>
        </p:nvSpPr>
        <p:spPr>
          <a:xfrm>
            <a:off x="0" y="73152"/>
            <a:ext cx="9144000" cy="749808"/>
          </a:xfrm>
          <a:prstGeom prst="rect">
            <a:avLst/>
          </a:prstGeom>
          <a:solidFill>
            <a:srgbClr val="1A3A5C"/>
          </a:solidFill>
          <a:ln w="12700">
            <a:solidFill>
              <a:srgbClr val="1A3A5C"/>
            </a:solidFill>
            <a:prstDash val="solid"/>
          </a:ln>
        </p:spPr>
      </p:sp>
      <p:sp>
        <p:nvSpPr>
          <p:cNvPr id="4" name="Text 2"/>
          <p:cNvSpPr/>
          <p:nvPr/>
        </p:nvSpPr>
        <p:spPr>
          <a:xfrm>
            <a:off x="457200" y="118872"/>
            <a:ext cx="7132320" cy="420624"/>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ORDER BY Clause</a:t>
            </a:r>
            <a:endParaRPr lang="en-US" sz="2800" dirty="0"/>
          </a:p>
        </p:txBody>
      </p:sp>
      <p:sp>
        <p:nvSpPr>
          <p:cNvPr id="5" name="Text 3"/>
          <p:cNvSpPr/>
          <p:nvPr/>
        </p:nvSpPr>
        <p:spPr>
          <a:xfrm>
            <a:off x="457200" y="557784"/>
            <a:ext cx="7132320" cy="201168"/>
          </a:xfrm>
          <a:prstGeom prst="rect">
            <a:avLst/>
          </a:prstGeom>
          <a:noFill/>
          <a:ln/>
        </p:spPr>
        <p:txBody>
          <a:bodyPr wrap="square" lIns="0" tIns="0" rIns="0" bIns="0" rtlCol="0" anchor="ctr"/>
          <a:lstStyle/>
          <a:p>
            <a:pPr marL="0" indent="0">
              <a:buNone/>
            </a:pPr>
            <a:r>
              <a:rPr lang="en-US" sz="1100" i="1" dirty="0">
                <a:solidFill>
                  <a:srgbClr val="D6E8F5"/>
                </a:solidFill>
                <a:latin typeface="Georgia" pitchFamily="34" charset="0"/>
                <a:ea typeface="Georgia" pitchFamily="34" charset="-122"/>
                <a:cs typeface="Georgia" pitchFamily="34" charset="-120"/>
              </a:rPr>
              <a:t>Multiple Columns, Combined Clauses &amp; Key Rules</a:t>
            </a:r>
            <a:endParaRPr lang="en-US" sz="1100" dirty="0"/>
          </a:p>
        </p:txBody>
      </p:sp>
      <p:sp>
        <p:nvSpPr>
          <p:cNvPr id="7" name="Text 5"/>
          <p:cNvSpPr/>
          <p:nvPr/>
        </p:nvSpPr>
        <p:spPr>
          <a:xfrm>
            <a:off x="7973568" y="219456"/>
            <a:ext cx="804672" cy="237744"/>
          </a:xfrm>
          <a:prstGeom prst="rect">
            <a:avLst/>
          </a:prstGeom>
          <a:noFill/>
          <a:ln/>
        </p:spPr>
        <p:txBody>
          <a:bodyPr wrap="square" lIns="0" tIns="0" rIns="0" bIns="0" rtlCol="0" anchor="ctr"/>
          <a:lstStyle/>
          <a:p>
            <a:pPr marL="0" indent="0" algn="ctr">
              <a:buNone/>
            </a:pPr>
            <a:endParaRPr lang="en-US" sz="1000" dirty="0"/>
          </a:p>
        </p:txBody>
      </p:sp>
      <p:sp>
        <p:nvSpPr>
          <p:cNvPr id="8" name="Text 6"/>
          <p:cNvSpPr/>
          <p:nvPr/>
        </p:nvSpPr>
        <p:spPr>
          <a:xfrm>
            <a:off x="365760" y="987552"/>
            <a:ext cx="5029200" cy="201168"/>
          </a:xfrm>
          <a:prstGeom prst="rect">
            <a:avLst/>
          </a:prstGeom>
          <a:noFill/>
          <a:ln/>
        </p:spPr>
        <p:txBody>
          <a:bodyPr wrap="square" lIns="0" tIns="0" rIns="0" bIns="0" rtlCol="0" anchor="ctr"/>
          <a:lstStyle/>
          <a:p>
            <a:pPr marL="0" indent="0">
              <a:buNone/>
            </a:pPr>
            <a:r>
              <a:rPr lang="en-US" sz="950" b="1" kern="0" spc="200" dirty="0">
                <a:solidFill>
                  <a:srgbClr val="1A3A5C"/>
                </a:solidFill>
                <a:latin typeface="Trebuchet MS" pitchFamily="34" charset="0"/>
                <a:ea typeface="Trebuchet MS" pitchFamily="34" charset="-122"/>
                <a:cs typeface="Trebuchet MS" pitchFamily="34" charset="-120"/>
              </a:rPr>
              <a:t>SORT BY MULTIPLE COLUMNS</a:t>
            </a:r>
            <a:endParaRPr lang="en-US" sz="950" dirty="0"/>
          </a:p>
        </p:txBody>
      </p:sp>
      <p:sp>
        <p:nvSpPr>
          <p:cNvPr id="9" name="Shape 7"/>
          <p:cNvSpPr/>
          <p:nvPr/>
        </p:nvSpPr>
        <p:spPr>
          <a:xfrm>
            <a:off x="365760" y="1188720"/>
            <a:ext cx="5029200" cy="1325880"/>
          </a:xfrm>
          <a:prstGeom prst="rect">
            <a:avLst/>
          </a:prstGeom>
          <a:solidFill>
            <a:srgbClr val="F4F6F7"/>
          </a:solidFill>
          <a:ln w="12700">
            <a:solidFill>
              <a:srgbClr val="BDC3C7"/>
            </a:solidFill>
            <a:prstDash val="solid"/>
          </a:ln>
        </p:spPr>
      </p:sp>
      <p:sp>
        <p:nvSpPr>
          <p:cNvPr id="10" name="Shape 8"/>
          <p:cNvSpPr/>
          <p:nvPr/>
        </p:nvSpPr>
        <p:spPr>
          <a:xfrm>
            <a:off x="365760" y="1188720"/>
            <a:ext cx="5029200" cy="256032"/>
          </a:xfrm>
          <a:prstGeom prst="rect">
            <a:avLst/>
          </a:prstGeom>
          <a:solidFill>
            <a:srgbClr val="1A3A5C"/>
          </a:solidFill>
          <a:ln w="12700">
            <a:solidFill>
              <a:srgbClr val="1A3A5C"/>
            </a:solidFill>
            <a:prstDash val="solid"/>
          </a:ln>
        </p:spPr>
      </p:sp>
      <p:sp>
        <p:nvSpPr>
          <p:cNvPr id="11" name="Text 9"/>
          <p:cNvSpPr/>
          <p:nvPr/>
        </p:nvSpPr>
        <p:spPr>
          <a:xfrm>
            <a:off x="475488" y="1216152"/>
            <a:ext cx="4846320" cy="201168"/>
          </a:xfrm>
          <a:prstGeom prst="rect">
            <a:avLst/>
          </a:prstGeom>
          <a:noFill/>
          <a:ln/>
        </p:spPr>
        <p:txBody>
          <a:bodyPr wrap="square" lIns="0" tIns="0" rIns="0" bIns="0" rtlCol="0" anchor="ctr"/>
          <a:lstStyle/>
          <a:p>
            <a:pPr marL="0" indent="0">
              <a:buNone/>
            </a:pPr>
            <a:r>
              <a:rPr lang="en-US" sz="950" dirty="0">
                <a:solidFill>
                  <a:srgbClr val="FFFFFF"/>
                </a:solidFill>
                <a:latin typeface="Trebuchet MS" pitchFamily="34" charset="0"/>
                <a:ea typeface="Trebuchet MS" pitchFamily="34" charset="-122"/>
                <a:cs typeface="Trebuchet MS" pitchFamily="34" charset="-120"/>
              </a:rPr>
              <a:t>SQL — Primary + Secondary sort</a:t>
            </a:r>
            <a:endParaRPr lang="en-US" sz="950" dirty="0"/>
          </a:p>
        </p:txBody>
      </p:sp>
      <p:sp>
        <p:nvSpPr>
          <p:cNvPr id="12" name="Text 10"/>
          <p:cNvSpPr/>
          <p:nvPr/>
        </p:nvSpPr>
        <p:spPr>
          <a:xfrm>
            <a:off x="475488" y="1490472"/>
            <a:ext cx="4846320" cy="941832"/>
          </a:xfrm>
          <a:prstGeom prst="rect">
            <a:avLst/>
          </a:prstGeom>
          <a:noFill/>
          <a:ln/>
        </p:spPr>
        <p:txBody>
          <a:bodyPr wrap="square" lIns="0" tIns="0" rIns="0" bIns="0" rtlCol="0" anchor="ctr"/>
          <a:lstStyle/>
          <a:p>
            <a:pPr marL="0" indent="0">
              <a:buNone/>
            </a:pPr>
            <a:r>
              <a:rPr lang="en-US" sz="1150" dirty="0">
                <a:solidFill>
                  <a:srgbClr val="1A5276"/>
                </a:solidFill>
                <a:latin typeface="Consolas" pitchFamily="34" charset="0"/>
                <a:ea typeface="Consolas" pitchFamily="34" charset="-122"/>
                <a:cs typeface="Consolas" pitchFamily="34" charset="-120"/>
              </a:rPr>
              <a:t>SELECT Name, Department, Salary</a:t>
            </a:r>
            <a:endParaRPr lang="en-US" sz="1150" dirty="0"/>
          </a:p>
          <a:p>
            <a:pPr marL="0" indent="0">
              <a:buNone/>
            </a:pPr>
            <a:r>
              <a:rPr lang="en-US" sz="1150" dirty="0">
                <a:solidFill>
                  <a:srgbClr val="1A5276"/>
                </a:solidFill>
                <a:latin typeface="Consolas" pitchFamily="34" charset="0"/>
                <a:ea typeface="Consolas" pitchFamily="34" charset="-122"/>
                <a:cs typeface="Consolas" pitchFamily="34" charset="-120"/>
              </a:rPr>
              <a:t>FROM Employees</a:t>
            </a:r>
            <a:endParaRPr lang="en-US" sz="1150" dirty="0"/>
          </a:p>
          <a:p>
            <a:pPr marL="0" indent="0">
              <a:buNone/>
            </a:pPr>
            <a:r>
              <a:rPr lang="en-US" sz="1150" dirty="0">
                <a:solidFill>
                  <a:srgbClr val="1A5276"/>
                </a:solidFill>
                <a:latin typeface="Consolas" pitchFamily="34" charset="0"/>
                <a:ea typeface="Consolas" pitchFamily="34" charset="-122"/>
                <a:cs typeface="Consolas" pitchFamily="34" charset="-120"/>
              </a:rPr>
              <a:t>ORDER BY Department ASC,</a:t>
            </a:r>
            <a:endParaRPr lang="en-US" sz="1150" dirty="0"/>
          </a:p>
          <a:p>
            <a:pPr marL="0" indent="0">
              <a:buNone/>
            </a:pPr>
            <a:r>
              <a:rPr lang="en-US" sz="1150" dirty="0">
                <a:solidFill>
                  <a:srgbClr val="1A5276"/>
                </a:solidFill>
                <a:latin typeface="Consolas" pitchFamily="34" charset="0"/>
                <a:ea typeface="Consolas" pitchFamily="34" charset="-122"/>
                <a:cs typeface="Consolas" pitchFamily="34" charset="-120"/>
              </a:rPr>
              <a:t>         Salary DESC;</a:t>
            </a:r>
            <a:endParaRPr lang="en-US" sz="1150" dirty="0"/>
          </a:p>
        </p:txBody>
      </p:sp>
      <p:sp>
        <p:nvSpPr>
          <p:cNvPr id="13" name="Text 11"/>
          <p:cNvSpPr/>
          <p:nvPr/>
        </p:nvSpPr>
        <p:spPr>
          <a:xfrm>
            <a:off x="5577840" y="987552"/>
            <a:ext cx="5029200" cy="201168"/>
          </a:xfrm>
          <a:prstGeom prst="rect">
            <a:avLst/>
          </a:prstGeom>
          <a:noFill/>
          <a:ln/>
        </p:spPr>
        <p:txBody>
          <a:bodyPr wrap="square" lIns="0" tIns="0" rIns="0" bIns="0" rtlCol="0" anchor="ctr"/>
          <a:lstStyle/>
          <a:p>
            <a:pPr marL="0" indent="0">
              <a:buNone/>
            </a:pPr>
            <a:r>
              <a:rPr lang="en-US" sz="950" b="1" kern="0" spc="200" dirty="0">
                <a:solidFill>
                  <a:srgbClr val="1E8449"/>
                </a:solidFill>
                <a:latin typeface="Trebuchet MS" pitchFamily="34" charset="0"/>
                <a:ea typeface="Trebuchet MS" pitchFamily="34" charset="-122"/>
                <a:cs typeface="Trebuchet MS" pitchFamily="34" charset="-120"/>
              </a:rPr>
              <a:t>COMBINED WITH WHERE + GROUP BY</a:t>
            </a:r>
            <a:endParaRPr lang="en-US" sz="950" dirty="0"/>
          </a:p>
        </p:txBody>
      </p:sp>
      <p:sp>
        <p:nvSpPr>
          <p:cNvPr id="14" name="Shape 12"/>
          <p:cNvSpPr/>
          <p:nvPr/>
        </p:nvSpPr>
        <p:spPr>
          <a:xfrm>
            <a:off x="5577840" y="1188720"/>
            <a:ext cx="3200400" cy="1325880"/>
          </a:xfrm>
          <a:prstGeom prst="rect">
            <a:avLst/>
          </a:prstGeom>
          <a:solidFill>
            <a:srgbClr val="F4F6F7"/>
          </a:solidFill>
          <a:ln w="12700">
            <a:solidFill>
              <a:srgbClr val="BDC3C7"/>
            </a:solidFill>
            <a:prstDash val="solid"/>
          </a:ln>
        </p:spPr>
      </p:sp>
      <p:sp>
        <p:nvSpPr>
          <p:cNvPr id="15" name="Shape 13"/>
          <p:cNvSpPr/>
          <p:nvPr/>
        </p:nvSpPr>
        <p:spPr>
          <a:xfrm>
            <a:off x="5577840" y="1188720"/>
            <a:ext cx="3200400" cy="256032"/>
          </a:xfrm>
          <a:prstGeom prst="rect">
            <a:avLst/>
          </a:prstGeom>
          <a:solidFill>
            <a:srgbClr val="1E8449"/>
          </a:solidFill>
          <a:ln w="12700">
            <a:solidFill>
              <a:srgbClr val="1E8449"/>
            </a:solidFill>
            <a:prstDash val="solid"/>
          </a:ln>
        </p:spPr>
      </p:sp>
      <p:sp>
        <p:nvSpPr>
          <p:cNvPr id="16" name="Text 14"/>
          <p:cNvSpPr/>
          <p:nvPr/>
        </p:nvSpPr>
        <p:spPr>
          <a:xfrm>
            <a:off x="5687568" y="1216152"/>
            <a:ext cx="3017520" cy="201168"/>
          </a:xfrm>
          <a:prstGeom prst="rect">
            <a:avLst/>
          </a:prstGeom>
          <a:noFill/>
          <a:ln/>
        </p:spPr>
        <p:txBody>
          <a:bodyPr wrap="square" lIns="0" tIns="0" rIns="0" bIns="0" rtlCol="0" anchor="ctr"/>
          <a:lstStyle/>
          <a:p>
            <a:pPr marL="0" indent="0">
              <a:buNone/>
            </a:pPr>
            <a:r>
              <a:rPr lang="en-US" sz="950" dirty="0">
                <a:solidFill>
                  <a:srgbClr val="FFFFFF"/>
                </a:solidFill>
                <a:latin typeface="Trebuchet MS" pitchFamily="34" charset="0"/>
                <a:ea typeface="Trebuchet MS" pitchFamily="34" charset="-122"/>
                <a:cs typeface="Trebuchet MS" pitchFamily="34" charset="-120"/>
              </a:rPr>
              <a:t>SQL — Full clause combination</a:t>
            </a:r>
            <a:endParaRPr lang="en-US" sz="950" dirty="0"/>
          </a:p>
        </p:txBody>
      </p:sp>
      <p:sp>
        <p:nvSpPr>
          <p:cNvPr id="17" name="Text 15"/>
          <p:cNvSpPr/>
          <p:nvPr/>
        </p:nvSpPr>
        <p:spPr>
          <a:xfrm>
            <a:off x="5687568" y="1490472"/>
            <a:ext cx="3017520" cy="941832"/>
          </a:xfrm>
          <a:prstGeom prst="rect">
            <a:avLst/>
          </a:prstGeom>
          <a:noFill/>
          <a:ln/>
        </p:spPr>
        <p:txBody>
          <a:bodyPr wrap="square" lIns="0" tIns="0" rIns="0" bIns="0" rtlCol="0" anchor="ctr"/>
          <a:lstStyle/>
          <a:p>
            <a:pPr marL="0" indent="0">
              <a:buNone/>
            </a:pPr>
            <a:r>
              <a:rPr lang="en-US" sz="1150" dirty="0">
                <a:solidFill>
                  <a:srgbClr val="1E8449"/>
                </a:solidFill>
                <a:latin typeface="Consolas" pitchFamily="34" charset="0"/>
                <a:ea typeface="Consolas" pitchFamily="34" charset="-122"/>
                <a:cs typeface="Consolas" pitchFamily="34" charset="-120"/>
              </a:rPr>
              <a:t>SELECT Dept, AVG(Salary) AS Avg</a:t>
            </a:r>
            <a:endParaRPr lang="en-US" sz="1150" dirty="0"/>
          </a:p>
          <a:p>
            <a:pPr marL="0" indent="0">
              <a:buNone/>
            </a:pPr>
            <a:r>
              <a:rPr lang="en-US" sz="1150" dirty="0">
                <a:solidFill>
                  <a:srgbClr val="1E8449"/>
                </a:solidFill>
                <a:latin typeface="Consolas" pitchFamily="34" charset="0"/>
                <a:ea typeface="Consolas" pitchFamily="34" charset="-122"/>
                <a:cs typeface="Consolas" pitchFamily="34" charset="-120"/>
              </a:rPr>
              <a:t>FROM Employees</a:t>
            </a:r>
            <a:endParaRPr lang="en-US" sz="1150" dirty="0"/>
          </a:p>
          <a:p>
            <a:pPr marL="0" indent="0">
              <a:buNone/>
            </a:pPr>
            <a:r>
              <a:rPr lang="en-US" sz="1150" dirty="0">
                <a:solidFill>
                  <a:srgbClr val="1E8449"/>
                </a:solidFill>
                <a:latin typeface="Consolas" pitchFamily="34" charset="0"/>
                <a:ea typeface="Consolas" pitchFamily="34" charset="-122"/>
                <a:cs typeface="Consolas" pitchFamily="34" charset="-120"/>
              </a:rPr>
              <a:t>WHERE Status = 'Active'</a:t>
            </a:r>
            <a:endParaRPr lang="en-US" sz="1150" dirty="0"/>
          </a:p>
          <a:p>
            <a:pPr marL="0" indent="0">
              <a:buNone/>
            </a:pPr>
            <a:r>
              <a:rPr lang="en-US" sz="1150" dirty="0">
                <a:solidFill>
                  <a:srgbClr val="1E8449"/>
                </a:solidFill>
                <a:latin typeface="Consolas" pitchFamily="34" charset="0"/>
                <a:ea typeface="Consolas" pitchFamily="34" charset="-122"/>
                <a:cs typeface="Consolas" pitchFamily="34" charset="-120"/>
              </a:rPr>
              <a:t>GROUP BY Dept</a:t>
            </a:r>
            <a:endParaRPr lang="en-US" sz="1150" dirty="0"/>
          </a:p>
          <a:p>
            <a:pPr marL="0" indent="0">
              <a:buNone/>
            </a:pPr>
            <a:r>
              <a:rPr lang="en-US" sz="1150" dirty="0">
                <a:solidFill>
                  <a:srgbClr val="1E8449"/>
                </a:solidFill>
                <a:latin typeface="Consolas" pitchFamily="34" charset="0"/>
                <a:ea typeface="Consolas" pitchFamily="34" charset="-122"/>
                <a:cs typeface="Consolas" pitchFamily="34" charset="-120"/>
              </a:rPr>
              <a:t>ORDER BY Avg DESC;</a:t>
            </a:r>
            <a:endParaRPr lang="en-US" sz="1150" dirty="0"/>
          </a:p>
        </p:txBody>
      </p:sp>
      <p:sp>
        <p:nvSpPr>
          <p:cNvPr id="18" name="Text 16"/>
          <p:cNvSpPr/>
          <p:nvPr/>
        </p:nvSpPr>
        <p:spPr>
          <a:xfrm>
            <a:off x="365760" y="2679192"/>
            <a:ext cx="5029200" cy="201168"/>
          </a:xfrm>
          <a:prstGeom prst="rect">
            <a:avLst/>
          </a:prstGeom>
          <a:noFill/>
          <a:ln/>
        </p:spPr>
        <p:txBody>
          <a:bodyPr wrap="square" lIns="0" tIns="0" rIns="0" bIns="0" rtlCol="0" anchor="ctr"/>
          <a:lstStyle/>
          <a:p>
            <a:pPr marL="0" indent="0">
              <a:buNone/>
            </a:pPr>
            <a:r>
              <a:rPr lang="en-US" sz="950" b="1" kern="0" spc="200" dirty="0">
                <a:solidFill>
                  <a:srgbClr val="D35400"/>
                </a:solidFill>
                <a:latin typeface="Trebuchet MS" pitchFamily="34" charset="0"/>
                <a:ea typeface="Trebuchet MS" pitchFamily="34" charset="-122"/>
                <a:cs typeface="Trebuchet MS" pitchFamily="34" charset="-120"/>
              </a:rPr>
              <a:t>ORDER BY COLUMN POSITION (Shorthand)</a:t>
            </a:r>
            <a:endParaRPr lang="en-US" sz="950" dirty="0"/>
          </a:p>
        </p:txBody>
      </p:sp>
      <p:sp>
        <p:nvSpPr>
          <p:cNvPr id="19" name="Shape 17"/>
          <p:cNvSpPr/>
          <p:nvPr/>
        </p:nvSpPr>
        <p:spPr>
          <a:xfrm>
            <a:off x="365760" y="2880360"/>
            <a:ext cx="8412480" cy="932688"/>
          </a:xfrm>
          <a:prstGeom prst="rect">
            <a:avLst/>
          </a:prstGeom>
          <a:solidFill>
            <a:srgbClr val="F4F6F7"/>
          </a:solidFill>
          <a:ln w="12700">
            <a:solidFill>
              <a:srgbClr val="BDC3C7"/>
            </a:solidFill>
            <a:prstDash val="solid"/>
          </a:ln>
        </p:spPr>
      </p:sp>
      <p:sp>
        <p:nvSpPr>
          <p:cNvPr id="20" name="Shape 18"/>
          <p:cNvSpPr/>
          <p:nvPr/>
        </p:nvSpPr>
        <p:spPr>
          <a:xfrm>
            <a:off x="365760" y="2880360"/>
            <a:ext cx="8412480" cy="256032"/>
          </a:xfrm>
          <a:prstGeom prst="rect">
            <a:avLst/>
          </a:prstGeom>
          <a:solidFill>
            <a:srgbClr val="D35400"/>
          </a:solidFill>
          <a:ln w="12700">
            <a:solidFill>
              <a:srgbClr val="D35400"/>
            </a:solidFill>
            <a:prstDash val="solid"/>
          </a:ln>
        </p:spPr>
      </p:sp>
      <p:sp>
        <p:nvSpPr>
          <p:cNvPr id="21" name="Text 19"/>
          <p:cNvSpPr/>
          <p:nvPr/>
        </p:nvSpPr>
        <p:spPr>
          <a:xfrm>
            <a:off x="475488" y="2907792"/>
            <a:ext cx="8229600" cy="201168"/>
          </a:xfrm>
          <a:prstGeom prst="rect">
            <a:avLst/>
          </a:prstGeom>
          <a:noFill/>
          <a:ln/>
        </p:spPr>
        <p:txBody>
          <a:bodyPr wrap="square" lIns="0" tIns="0" rIns="0" bIns="0" rtlCol="0" anchor="ctr"/>
          <a:lstStyle/>
          <a:p>
            <a:pPr marL="0" indent="0">
              <a:buNone/>
            </a:pPr>
            <a:r>
              <a:rPr lang="en-US" sz="950" dirty="0">
                <a:solidFill>
                  <a:srgbClr val="FFFFFF"/>
                </a:solidFill>
                <a:latin typeface="Trebuchet MS" pitchFamily="34" charset="0"/>
                <a:ea typeface="Trebuchet MS" pitchFamily="34" charset="-122"/>
                <a:cs typeface="Trebuchet MS" pitchFamily="34" charset="-120"/>
              </a:rPr>
              <a:t>SQL — Order by column index number</a:t>
            </a:r>
            <a:endParaRPr lang="en-US" sz="950" dirty="0"/>
          </a:p>
        </p:txBody>
      </p:sp>
      <p:sp>
        <p:nvSpPr>
          <p:cNvPr id="22" name="Text 20"/>
          <p:cNvSpPr/>
          <p:nvPr/>
        </p:nvSpPr>
        <p:spPr>
          <a:xfrm>
            <a:off x="475488" y="3182112"/>
            <a:ext cx="8229600" cy="548640"/>
          </a:xfrm>
          <a:prstGeom prst="rect">
            <a:avLst/>
          </a:prstGeom>
          <a:noFill/>
          <a:ln/>
        </p:spPr>
        <p:txBody>
          <a:bodyPr wrap="square" lIns="0" tIns="0" rIns="0" bIns="0" rtlCol="0" anchor="ctr"/>
          <a:lstStyle/>
          <a:p>
            <a:pPr marL="0" indent="0">
              <a:buNone/>
            </a:pPr>
            <a:r>
              <a:rPr lang="en-US" sz="1150" dirty="0">
                <a:solidFill>
                  <a:srgbClr val="1A5276"/>
                </a:solidFill>
                <a:latin typeface="Consolas" pitchFamily="34" charset="0"/>
                <a:ea typeface="Consolas" pitchFamily="34" charset="-122"/>
                <a:cs typeface="Consolas" pitchFamily="34" charset="-120"/>
              </a:rPr>
              <a:t>SELECT Name, Age, Salary FROM Employees</a:t>
            </a:r>
            <a:endParaRPr lang="en-US" sz="1150" dirty="0"/>
          </a:p>
          <a:p>
            <a:pPr marL="0" indent="0">
              <a:buNone/>
            </a:pPr>
            <a:r>
              <a:rPr lang="en-US" sz="1150" dirty="0">
                <a:solidFill>
                  <a:srgbClr val="1A5276"/>
                </a:solidFill>
                <a:latin typeface="Consolas" pitchFamily="34" charset="0"/>
                <a:ea typeface="Consolas" pitchFamily="34" charset="-122"/>
                <a:cs typeface="Consolas" pitchFamily="34" charset="-120"/>
              </a:rPr>
              <a:t>ORDER BY 3 DESC;   -- same as ORDER BY Salary DESC</a:t>
            </a:r>
            <a:endParaRPr lang="en-US" sz="1150" dirty="0"/>
          </a:p>
        </p:txBody>
      </p:sp>
      <p:sp>
        <p:nvSpPr>
          <p:cNvPr id="23" name="Text 21"/>
          <p:cNvSpPr/>
          <p:nvPr/>
        </p:nvSpPr>
        <p:spPr>
          <a:xfrm>
            <a:off x="365760" y="3968496"/>
            <a:ext cx="5029200" cy="201168"/>
          </a:xfrm>
          <a:prstGeom prst="rect">
            <a:avLst/>
          </a:prstGeom>
          <a:noFill/>
          <a:ln/>
        </p:spPr>
        <p:txBody>
          <a:bodyPr wrap="square" lIns="0" tIns="0" rIns="0" bIns="0" rtlCol="0" anchor="ctr"/>
          <a:lstStyle/>
          <a:p>
            <a:pPr marL="0" indent="0">
              <a:buNone/>
            </a:pPr>
            <a:r>
              <a:rPr lang="en-US" sz="950" b="1" kern="0" spc="200" dirty="0">
                <a:solidFill>
                  <a:srgbClr val="1A3A5C"/>
                </a:solidFill>
                <a:latin typeface="Trebuchet MS" pitchFamily="34" charset="0"/>
                <a:ea typeface="Trebuchet MS" pitchFamily="34" charset="-122"/>
                <a:cs typeface="Trebuchet MS" pitchFamily="34" charset="-120"/>
              </a:rPr>
              <a:t>KEY RULES</a:t>
            </a:r>
            <a:endParaRPr lang="en-US" sz="950" dirty="0"/>
          </a:p>
        </p:txBody>
      </p:sp>
      <p:sp>
        <p:nvSpPr>
          <p:cNvPr id="24" name="Shape 22"/>
          <p:cNvSpPr/>
          <p:nvPr/>
        </p:nvSpPr>
        <p:spPr>
          <a:xfrm>
            <a:off x="365760" y="4169664"/>
            <a:ext cx="8412480" cy="320040"/>
          </a:xfrm>
          <a:prstGeom prst="rect">
            <a:avLst/>
          </a:prstGeom>
          <a:solidFill>
            <a:srgbClr val="FFFFFF"/>
          </a:solidFill>
          <a:ln w="6350">
            <a:solidFill>
              <a:srgbClr val="BDC3C7"/>
            </a:solidFill>
            <a:prstDash val="solid"/>
          </a:ln>
        </p:spPr>
      </p:sp>
      <p:sp>
        <p:nvSpPr>
          <p:cNvPr id="25" name="Shape 23"/>
          <p:cNvSpPr/>
          <p:nvPr/>
        </p:nvSpPr>
        <p:spPr>
          <a:xfrm>
            <a:off x="365760" y="4169664"/>
            <a:ext cx="54864" cy="320040"/>
          </a:xfrm>
          <a:prstGeom prst="rect">
            <a:avLst/>
          </a:prstGeom>
          <a:solidFill>
            <a:srgbClr val="2E86C1"/>
          </a:solidFill>
          <a:ln w="12700">
            <a:solidFill>
              <a:srgbClr val="2E86C1"/>
            </a:solidFill>
            <a:prstDash val="solid"/>
          </a:ln>
        </p:spPr>
      </p:sp>
      <p:sp>
        <p:nvSpPr>
          <p:cNvPr id="26" name="Text 24"/>
          <p:cNvSpPr/>
          <p:nvPr/>
        </p:nvSpPr>
        <p:spPr>
          <a:xfrm>
            <a:off x="548640" y="4206240"/>
            <a:ext cx="8138160" cy="246888"/>
          </a:xfrm>
          <a:prstGeom prst="rect">
            <a:avLst/>
          </a:prstGeom>
          <a:noFill/>
          <a:ln/>
        </p:spPr>
        <p:txBody>
          <a:bodyPr wrap="square" lIns="0" tIns="0" rIns="0" bIns="0" rtlCol="0" anchor="ctr"/>
          <a:lstStyle/>
          <a:p>
            <a:pPr marL="0" indent="0">
              <a:buNone/>
            </a:pPr>
            <a:r>
              <a:rPr lang="en-US" sz="1150" dirty="0">
                <a:solidFill>
                  <a:srgbClr val="2C3E50"/>
                </a:solidFill>
                <a:latin typeface="Trebuchet MS" pitchFamily="34" charset="0"/>
                <a:ea typeface="Trebuchet MS" pitchFamily="34" charset="-122"/>
                <a:cs typeface="Trebuchet MS" pitchFamily="34" charset="-120"/>
              </a:rPr>
              <a:t>ORDER BY always executes LAST in SQL query processing.</a:t>
            </a:r>
            <a:endParaRPr lang="en-US" sz="1150" dirty="0"/>
          </a:p>
        </p:txBody>
      </p:sp>
      <p:sp>
        <p:nvSpPr>
          <p:cNvPr id="27" name="Shape 25"/>
          <p:cNvSpPr/>
          <p:nvPr/>
        </p:nvSpPr>
        <p:spPr>
          <a:xfrm>
            <a:off x="365760" y="4517136"/>
            <a:ext cx="8412480" cy="320040"/>
          </a:xfrm>
          <a:prstGeom prst="rect">
            <a:avLst/>
          </a:prstGeom>
          <a:solidFill>
            <a:srgbClr val="FFFFFF"/>
          </a:solidFill>
          <a:ln w="6350">
            <a:solidFill>
              <a:srgbClr val="BDC3C7"/>
            </a:solidFill>
            <a:prstDash val="solid"/>
          </a:ln>
        </p:spPr>
      </p:sp>
      <p:sp>
        <p:nvSpPr>
          <p:cNvPr id="28" name="Shape 26"/>
          <p:cNvSpPr/>
          <p:nvPr/>
        </p:nvSpPr>
        <p:spPr>
          <a:xfrm>
            <a:off x="365760" y="4517136"/>
            <a:ext cx="54864" cy="320040"/>
          </a:xfrm>
          <a:prstGeom prst="rect">
            <a:avLst/>
          </a:prstGeom>
          <a:solidFill>
            <a:srgbClr val="D35400"/>
          </a:solidFill>
          <a:ln w="12700">
            <a:solidFill>
              <a:srgbClr val="D35400"/>
            </a:solidFill>
            <a:prstDash val="solid"/>
          </a:ln>
        </p:spPr>
      </p:sp>
      <p:sp>
        <p:nvSpPr>
          <p:cNvPr id="29" name="Text 27"/>
          <p:cNvSpPr/>
          <p:nvPr/>
        </p:nvSpPr>
        <p:spPr>
          <a:xfrm>
            <a:off x="548640" y="4553712"/>
            <a:ext cx="8138160" cy="246888"/>
          </a:xfrm>
          <a:prstGeom prst="rect">
            <a:avLst/>
          </a:prstGeom>
          <a:noFill/>
          <a:ln/>
        </p:spPr>
        <p:txBody>
          <a:bodyPr wrap="square" lIns="0" tIns="0" rIns="0" bIns="0" rtlCol="0" anchor="ctr"/>
          <a:lstStyle/>
          <a:p>
            <a:pPr marL="0" indent="0">
              <a:buNone/>
            </a:pPr>
            <a:r>
              <a:rPr lang="en-US" sz="1150" dirty="0">
                <a:solidFill>
                  <a:srgbClr val="2C3E50"/>
                </a:solidFill>
                <a:latin typeface="Trebuchet MS" pitchFamily="34" charset="0"/>
                <a:ea typeface="Trebuchet MS" pitchFamily="34" charset="-122"/>
                <a:cs typeface="Trebuchet MS" pitchFamily="34" charset="-120"/>
              </a:rPr>
              <a:t>You can sort by a column that is NOT listed in SELECT.</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3A5C"/>
          </a:solidFill>
          <a:ln w="12700">
            <a:solidFill>
              <a:srgbClr val="1A3A5C"/>
            </a:solidFill>
            <a:prstDash val="solid"/>
          </a:ln>
        </p:spPr>
      </p:sp>
      <p:sp>
        <p:nvSpPr>
          <p:cNvPr id="3" name="Shape 1"/>
          <p:cNvSpPr/>
          <p:nvPr/>
        </p:nvSpPr>
        <p:spPr>
          <a:xfrm>
            <a:off x="0" y="73152"/>
            <a:ext cx="9144000" cy="749808"/>
          </a:xfrm>
          <a:prstGeom prst="rect">
            <a:avLst/>
          </a:prstGeom>
          <a:solidFill>
            <a:srgbClr val="1A3A5C"/>
          </a:solidFill>
          <a:ln w="12700">
            <a:solidFill>
              <a:srgbClr val="1A3A5C"/>
            </a:solidFill>
            <a:prstDash val="solid"/>
          </a:ln>
        </p:spPr>
      </p:sp>
      <p:sp>
        <p:nvSpPr>
          <p:cNvPr id="4" name="Text 2"/>
          <p:cNvSpPr/>
          <p:nvPr/>
        </p:nvSpPr>
        <p:spPr>
          <a:xfrm>
            <a:off x="457200" y="118872"/>
            <a:ext cx="7132320" cy="420624"/>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TOP  &amp;  DISTINCT Clauses</a:t>
            </a:r>
            <a:endParaRPr lang="en-US" sz="2800" dirty="0"/>
          </a:p>
        </p:txBody>
      </p:sp>
      <p:sp>
        <p:nvSpPr>
          <p:cNvPr id="5" name="Text 3"/>
          <p:cNvSpPr/>
          <p:nvPr/>
        </p:nvSpPr>
        <p:spPr>
          <a:xfrm>
            <a:off x="457200" y="557784"/>
            <a:ext cx="7132320" cy="201168"/>
          </a:xfrm>
          <a:prstGeom prst="rect">
            <a:avLst/>
          </a:prstGeom>
          <a:noFill/>
          <a:ln/>
        </p:spPr>
        <p:txBody>
          <a:bodyPr wrap="square" lIns="0" tIns="0" rIns="0" bIns="0" rtlCol="0" anchor="ctr"/>
          <a:lstStyle/>
          <a:p>
            <a:pPr marL="0" indent="0">
              <a:buNone/>
            </a:pPr>
            <a:r>
              <a:rPr lang="en-US" sz="1100" i="1" dirty="0">
                <a:solidFill>
                  <a:srgbClr val="D6E8F5"/>
                </a:solidFill>
                <a:latin typeface="Georgia" pitchFamily="34" charset="0"/>
                <a:ea typeface="Georgia" pitchFamily="34" charset="-122"/>
                <a:cs typeface="Georgia" pitchFamily="34" charset="-120"/>
              </a:rPr>
              <a:t>Limiting Rows  •  Returning Unique Values</a:t>
            </a:r>
            <a:endParaRPr lang="en-US" sz="1100" dirty="0"/>
          </a:p>
        </p:txBody>
      </p:sp>
      <p:sp>
        <p:nvSpPr>
          <p:cNvPr id="7" name="Text 5"/>
          <p:cNvSpPr/>
          <p:nvPr/>
        </p:nvSpPr>
        <p:spPr>
          <a:xfrm>
            <a:off x="7973568" y="219456"/>
            <a:ext cx="804672" cy="237744"/>
          </a:xfrm>
          <a:prstGeom prst="rect">
            <a:avLst/>
          </a:prstGeom>
          <a:noFill/>
          <a:ln/>
        </p:spPr>
        <p:txBody>
          <a:bodyPr wrap="square" lIns="0" tIns="0" rIns="0" bIns="0" rtlCol="0" anchor="ctr"/>
          <a:lstStyle/>
          <a:p>
            <a:pPr marL="0" indent="0" algn="ctr">
              <a:buNone/>
            </a:pPr>
            <a:endParaRPr lang="en-US" sz="1000" dirty="0"/>
          </a:p>
        </p:txBody>
      </p:sp>
      <p:sp>
        <p:nvSpPr>
          <p:cNvPr id="8" name="Shape 6"/>
          <p:cNvSpPr/>
          <p:nvPr/>
        </p:nvSpPr>
        <p:spPr>
          <a:xfrm>
            <a:off x="274320" y="987552"/>
            <a:ext cx="4114800" cy="310896"/>
          </a:xfrm>
          <a:prstGeom prst="rect">
            <a:avLst/>
          </a:prstGeom>
          <a:solidFill>
            <a:srgbClr val="1A3A5C"/>
          </a:solidFill>
          <a:ln w="12700">
            <a:solidFill>
              <a:srgbClr val="1A3A5C"/>
            </a:solidFill>
            <a:prstDash val="solid"/>
          </a:ln>
        </p:spPr>
      </p:sp>
      <p:sp>
        <p:nvSpPr>
          <p:cNvPr id="9" name="Text 7"/>
          <p:cNvSpPr/>
          <p:nvPr/>
        </p:nvSpPr>
        <p:spPr>
          <a:xfrm>
            <a:off x="274320" y="987552"/>
            <a:ext cx="4114800"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TOP</a:t>
            </a:r>
            <a:endParaRPr lang="en-US" sz="1300" dirty="0"/>
          </a:p>
        </p:txBody>
      </p:sp>
      <p:sp>
        <p:nvSpPr>
          <p:cNvPr id="10" name="Shape 8"/>
          <p:cNvSpPr/>
          <p:nvPr/>
        </p:nvSpPr>
        <p:spPr>
          <a:xfrm>
            <a:off x="274320" y="1316736"/>
            <a:ext cx="4114800" cy="548640"/>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11" name="Shape 9"/>
          <p:cNvSpPr/>
          <p:nvPr/>
        </p:nvSpPr>
        <p:spPr>
          <a:xfrm>
            <a:off x="274320" y="1316736"/>
            <a:ext cx="54864" cy="548640"/>
          </a:xfrm>
          <a:prstGeom prst="rect">
            <a:avLst/>
          </a:prstGeom>
          <a:solidFill>
            <a:srgbClr val="2E86C1"/>
          </a:solidFill>
          <a:ln w="12700">
            <a:solidFill>
              <a:srgbClr val="2E86C1"/>
            </a:solidFill>
            <a:prstDash val="solid"/>
          </a:ln>
        </p:spPr>
      </p:sp>
      <p:sp>
        <p:nvSpPr>
          <p:cNvPr id="12" name="Text 10"/>
          <p:cNvSpPr/>
          <p:nvPr/>
        </p:nvSpPr>
        <p:spPr>
          <a:xfrm>
            <a:off x="457200" y="1353312"/>
            <a:ext cx="3794760" cy="475488"/>
          </a:xfrm>
          <a:prstGeom prst="rect">
            <a:avLst/>
          </a:prstGeom>
          <a:noFill/>
          <a:ln/>
        </p:spPr>
        <p:txBody>
          <a:bodyPr wrap="square" lIns="0" tIns="0" rIns="0" bIns="0" rtlCol="0" anchor="ctr"/>
          <a:lstStyle/>
          <a:p>
            <a:pPr marL="0" indent="0">
              <a:buNone/>
            </a:pPr>
            <a:r>
              <a:rPr lang="en-US" sz="1100" dirty="0">
                <a:solidFill>
                  <a:srgbClr val="2C3E50"/>
                </a:solidFill>
                <a:latin typeface="Trebuchet MS" pitchFamily="34" charset="0"/>
                <a:ea typeface="Trebuchet MS" pitchFamily="34" charset="-122"/>
                <a:cs typeface="Trebuchet MS" pitchFamily="34" charset="-120"/>
              </a:rPr>
              <a:t>Limits the number of rows returned. Specific to SQL Server / MS Access (MySQL: LIMIT, Oracle: FETCH FIRST).</a:t>
            </a:r>
            <a:endParaRPr lang="en-US" sz="1100" dirty="0"/>
          </a:p>
        </p:txBody>
      </p:sp>
      <p:sp>
        <p:nvSpPr>
          <p:cNvPr id="13" name="Shape 11"/>
          <p:cNvSpPr/>
          <p:nvPr/>
        </p:nvSpPr>
        <p:spPr>
          <a:xfrm>
            <a:off x="274320" y="1938528"/>
            <a:ext cx="4114800" cy="969264"/>
          </a:xfrm>
          <a:prstGeom prst="rect">
            <a:avLst/>
          </a:prstGeom>
          <a:solidFill>
            <a:srgbClr val="F4F6F7"/>
          </a:solidFill>
          <a:ln w="12700">
            <a:solidFill>
              <a:srgbClr val="BDC3C7"/>
            </a:solidFill>
            <a:prstDash val="solid"/>
          </a:ln>
        </p:spPr>
      </p:sp>
      <p:sp>
        <p:nvSpPr>
          <p:cNvPr id="14" name="Shape 12"/>
          <p:cNvSpPr/>
          <p:nvPr/>
        </p:nvSpPr>
        <p:spPr>
          <a:xfrm>
            <a:off x="274320" y="1938528"/>
            <a:ext cx="4114800" cy="256032"/>
          </a:xfrm>
          <a:prstGeom prst="rect">
            <a:avLst/>
          </a:prstGeom>
          <a:solidFill>
            <a:srgbClr val="1E8449"/>
          </a:solidFill>
          <a:ln w="12700">
            <a:solidFill>
              <a:srgbClr val="1E8449"/>
            </a:solidFill>
            <a:prstDash val="solid"/>
          </a:ln>
        </p:spPr>
      </p:sp>
      <p:sp>
        <p:nvSpPr>
          <p:cNvPr id="15" name="Text 13"/>
          <p:cNvSpPr/>
          <p:nvPr/>
        </p:nvSpPr>
        <p:spPr>
          <a:xfrm>
            <a:off x="384048" y="1965960"/>
            <a:ext cx="3931920" cy="201168"/>
          </a:xfrm>
          <a:prstGeom prst="rect">
            <a:avLst/>
          </a:prstGeom>
          <a:noFill/>
          <a:ln/>
        </p:spPr>
        <p:txBody>
          <a:bodyPr wrap="square" lIns="0" tIns="0" rIns="0" bIns="0" rtlCol="0" anchor="ctr"/>
          <a:lstStyle/>
          <a:p>
            <a:pPr marL="0" indent="0">
              <a:buNone/>
            </a:pPr>
            <a:r>
              <a:rPr lang="en-US" sz="950" dirty="0">
                <a:solidFill>
                  <a:srgbClr val="FFFFFF"/>
                </a:solidFill>
                <a:latin typeface="Trebuchet MS" pitchFamily="34" charset="0"/>
                <a:ea typeface="Trebuchet MS" pitchFamily="34" charset="-122"/>
                <a:cs typeface="Trebuchet MS" pitchFamily="34" charset="-120"/>
              </a:rPr>
              <a:t>SQL — Top 5 highest-paid employees</a:t>
            </a:r>
            <a:endParaRPr lang="en-US" sz="950" dirty="0"/>
          </a:p>
        </p:txBody>
      </p:sp>
      <p:sp>
        <p:nvSpPr>
          <p:cNvPr id="16" name="Text 14"/>
          <p:cNvSpPr/>
          <p:nvPr/>
        </p:nvSpPr>
        <p:spPr>
          <a:xfrm>
            <a:off x="384048" y="2240280"/>
            <a:ext cx="3931920" cy="585216"/>
          </a:xfrm>
          <a:prstGeom prst="rect">
            <a:avLst/>
          </a:prstGeom>
          <a:noFill/>
          <a:ln/>
        </p:spPr>
        <p:txBody>
          <a:bodyPr wrap="square" lIns="0" tIns="0" rIns="0" bIns="0" rtlCol="0" anchor="ctr"/>
          <a:lstStyle/>
          <a:p>
            <a:pPr marL="0" indent="0">
              <a:buNone/>
            </a:pPr>
            <a:r>
              <a:rPr lang="en-US" sz="1150" dirty="0">
                <a:solidFill>
                  <a:srgbClr val="1E8449"/>
                </a:solidFill>
                <a:latin typeface="Consolas" pitchFamily="34" charset="0"/>
                <a:ea typeface="Consolas" pitchFamily="34" charset="-122"/>
                <a:cs typeface="Consolas" pitchFamily="34" charset="-120"/>
              </a:rPr>
              <a:t>SELECT TOP 5 Name, Salary</a:t>
            </a:r>
            <a:endParaRPr lang="en-US" sz="1150" dirty="0"/>
          </a:p>
          <a:p>
            <a:pPr marL="0" indent="0">
              <a:buNone/>
            </a:pPr>
            <a:r>
              <a:rPr lang="en-US" sz="1150" dirty="0">
                <a:solidFill>
                  <a:srgbClr val="1E8449"/>
                </a:solidFill>
                <a:latin typeface="Consolas" pitchFamily="34" charset="0"/>
                <a:ea typeface="Consolas" pitchFamily="34" charset="-122"/>
                <a:cs typeface="Consolas" pitchFamily="34" charset="-120"/>
              </a:rPr>
              <a:t>FROM Employees</a:t>
            </a:r>
            <a:endParaRPr lang="en-US" sz="1150" dirty="0"/>
          </a:p>
          <a:p>
            <a:pPr marL="0" indent="0">
              <a:buNone/>
            </a:pPr>
            <a:r>
              <a:rPr lang="en-US" sz="1150" dirty="0">
                <a:solidFill>
                  <a:srgbClr val="1E8449"/>
                </a:solidFill>
                <a:latin typeface="Consolas" pitchFamily="34" charset="0"/>
                <a:ea typeface="Consolas" pitchFamily="34" charset="-122"/>
                <a:cs typeface="Consolas" pitchFamily="34" charset="-120"/>
              </a:rPr>
              <a:t>ORDER BY Salary DESC;</a:t>
            </a:r>
            <a:endParaRPr lang="en-US" sz="1150" dirty="0"/>
          </a:p>
        </p:txBody>
      </p:sp>
      <p:sp>
        <p:nvSpPr>
          <p:cNvPr id="17" name="Text 15"/>
          <p:cNvSpPr/>
          <p:nvPr/>
        </p:nvSpPr>
        <p:spPr>
          <a:xfrm>
            <a:off x="274320" y="2999232"/>
            <a:ext cx="5029200" cy="201168"/>
          </a:xfrm>
          <a:prstGeom prst="rect">
            <a:avLst/>
          </a:prstGeom>
          <a:noFill/>
          <a:ln/>
        </p:spPr>
        <p:txBody>
          <a:bodyPr wrap="square" lIns="0" tIns="0" rIns="0" bIns="0" rtlCol="0" anchor="ctr"/>
          <a:lstStyle/>
          <a:p>
            <a:pPr marL="0" indent="0">
              <a:buNone/>
            </a:pPr>
            <a:r>
              <a:rPr lang="en-US" sz="950" b="1" kern="0" spc="200" dirty="0">
                <a:solidFill>
                  <a:srgbClr val="1A3A5C"/>
                </a:solidFill>
                <a:latin typeface="Trebuchet MS" pitchFamily="34" charset="0"/>
                <a:ea typeface="Trebuchet MS" pitchFamily="34" charset="-122"/>
                <a:cs typeface="Trebuchet MS" pitchFamily="34" charset="-120"/>
              </a:rPr>
              <a:t>DB EQUIVALENTS</a:t>
            </a:r>
            <a:endParaRPr lang="en-US" sz="950" dirty="0"/>
          </a:p>
        </p:txBody>
      </p:sp>
      <p:sp>
        <p:nvSpPr>
          <p:cNvPr id="18" name="Shape 16"/>
          <p:cNvSpPr/>
          <p:nvPr/>
        </p:nvSpPr>
        <p:spPr>
          <a:xfrm>
            <a:off x="274320" y="3200400"/>
            <a:ext cx="4114800" cy="237744"/>
          </a:xfrm>
          <a:prstGeom prst="rect">
            <a:avLst/>
          </a:prstGeom>
          <a:solidFill>
            <a:srgbClr val="FFFFFF"/>
          </a:solidFill>
          <a:ln w="6350">
            <a:solidFill>
              <a:srgbClr val="BDC3C7"/>
            </a:solidFill>
            <a:prstDash val="solid"/>
          </a:ln>
        </p:spPr>
      </p:sp>
      <p:sp>
        <p:nvSpPr>
          <p:cNvPr id="19" name="Text 17"/>
          <p:cNvSpPr/>
          <p:nvPr/>
        </p:nvSpPr>
        <p:spPr>
          <a:xfrm>
            <a:off x="384048" y="3227832"/>
            <a:ext cx="1371600" cy="182880"/>
          </a:xfrm>
          <a:prstGeom prst="rect">
            <a:avLst/>
          </a:prstGeom>
          <a:noFill/>
          <a:ln/>
        </p:spPr>
        <p:txBody>
          <a:bodyPr wrap="square" lIns="0" tIns="0" rIns="0" bIns="0" rtlCol="0" anchor="ctr"/>
          <a:lstStyle/>
          <a:p>
            <a:pPr marL="0" indent="0">
              <a:buNone/>
            </a:pPr>
            <a:r>
              <a:rPr lang="en-US" sz="1050" b="1" dirty="0">
                <a:solidFill>
                  <a:srgbClr val="1A3A5C"/>
                </a:solidFill>
                <a:latin typeface="Trebuchet MS" pitchFamily="34" charset="0"/>
                <a:ea typeface="Trebuchet MS" pitchFamily="34" charset="-122"/>
                <a:cs typeface="Trebuchet MS" pitchFamily="34" charset="-120"/>
              </a:rPr>
              <a:t>SQL Server:</a:t>
            </a:r>
            <a:endParaRPr lang="en-US" sz="1050" dirty="0"/>
          </a:p>
        </p:txBody>
      </p:sp>
      <p:sp>
        <p:nvSpPr>
          <p:cNvPr id="20" name="Text 18"/>
          <p:cNvSpPr/>
          <p:nvPr/>
        </p:nvSpPr>
        <p:spPr>
          <a:xfrm>
            <a:off x="1828800" y="3227832"/>
            <a:ext cx="2468880" cy="182880"/>
          </a:xfrm>
          <a:prstGeom prst="rect">
            <a:avLst/>
          </a:prstGeom>
          <a:noFill/>
          <a:ln/>
        </p:spPr>
        <p:txBody>
          <a:bodyPr wrap="square" lIns="0" tIns="0" rIns="0" bIns="0" rtlCol="0" anchor="ctr"/>
          <a:lstStyle/>
          <a:p>
            <a:pPr marL="0" indent="0">
              <a:buNone/>
            </a:pPr>
            <a:r>
              <a:rPr lang="en-US" sz="1050" dirty="0">
                <a:solidFill>
                  <a:srgbClr val="1A5276"/>
                </a:solidFill>
                <a:latin typeface="Consolas" pitchFamily="34" charset="0"/>
                <a:ea typeface="Consolas" pitchFamily="34" charset="-122"/>
                <a:cs typeface="Consolas" pitchFamily="34" charset="-120"/>
              </a:rPr>
              <a:t>TOP n</a:t>
            </a:r>
            <a:endParaRPr lang="en-US" sz="1050" dirty="0"/>
          </a:p>
        </p:txBody>
      </p:sp>
      <p:sp>
        <p:nvSpPr>
          <p:cNvPr id="21" name="Shape 19"/>
          <p:cNvSpPr/>
          <p:nvPr/>
        </p:nvSpPr>
        <p:spPr>
          <a:xfrm>
            <a:off x="274320" y="3456432"/>
            <a:ext cx="4114800" cy="237744"/>
          </a:xfrm>
          <a:prstGeom prst="rect">
            <a:avLst/>
          </a:prstGeom>
          <a:solidFill>
            <a:srgbClr val="ECF0F1"/>
          </a:solidFill>
          <a:ln w="6350">
            <a:solidFill>
              <a:srgbClr val="BDC3C7"/>
            </a:solidFill>
            <a:prstDash val="solid"/>
          </a:ln>
        </p:spPr>
      </p:sp>
      <p:sp>
        <p:nvSpPr>
          <p:cNvPr id="22" name="Text 20"/>
          <p:cNvSpPr/>
          <p:nvPr/>
        </p:nvSpPr>
        <p:spPr>
          <a:xfrm>
            <a:off x="384048" y="3483864"/>
            <a:ext cx="1371600" cy="182880"/>
          </a:xfrm>
          <a:prstGeom prst="rect">
            <a:avLst/>
          </a:prstGeom>
          <a:noFill/>
          <a:ln/>
        </p:spPr>
        <p:txBody>
          <a:bodyPr wrap="square" lIns="0" tIns="0" rIns="0" bIns="0" rtlCol="0" anchor="ctr"/>
          <a:lstStyle/>
          <a:p>
            <a:pPr marL="0" indent="0">
              <a:buNone/>
            </a:pPr>
            <a:r>
              <a:rPr lang="en-US" sz="1050" b="1" dirty="0">
                <a:solidFill>
                  <a:srgbClr val="1A3A5C"/>
                </a:solidFill>
                <a:latin typeface="Trebuchet MS" pitchFamily="34" charset="0"/>
                <a:ea typeface="Trebuchet MS" pitchFamily="34" charset="-122"/>
                <a:cs typeface="Trebuchet MS" pitchFamily="34" charset="-120"/>
              </a:rPr>
              <a:t>MySQL:</a:t>
            </a:r>
            <a:endParaRPr lang="en-US" sz="1050" dirty="0"/>
          </a:p>
        </p:txBody>
      </p:sp>
      <p:sp>
        <p:nvSpPr>
          <p:cNvPr id="23" name="Text 21"/>
          <p:cNvSpPr/>
          <p:nvPr/>
        </p:nvSpPr>
        <p:spPr>
          <a:xfrm>
            <a:off x="1828800" y="3483864"/>
            <a:ext cx="2468880" cy="182880"/>
          </a:xfrm>
          <a:prstGeom prst="rect">
            <a:avLst/>
          </a:prstGeom>
          <a:noFill/>
          <a:ln/>
        </p:spPr>
        <p:txBody>
          <a:bodyPr wrap="square" lIns="0" tIns="0" rIns="0" bIns="0" rtlCol="0" anchor="ctr"/>
          <a:lstStyle/>
          <a:p>
            <a:pPr marL="0" indent="0">
              <a:buNone/>
            </a:pPr>
            <a:r>
              <a:rPr lang="en-US" sz="1050" dirty="0">
                <a:solidFill>
                  <a:srgbClr val="1A5276"/>
                </a:solidFill>
                <a:latin typeface="Consolas" pitchFamily="34" charset="0"/>
                <a:ea typeface="Consolas" pitchFamily="34" charset="-122"/>
                <a:cs typeface="Consolas" pitchFamily="34" charset="-120"/>
              </a:rPr>
              <a:t>LIMIT n</a:t>
            </a:r>
            <a:endParaRPr lang="en-US" sz="1050" dirty="0"/>
          </a:p>
        </p:txBody>
      </p:sp>
      <p:sp>
        <p:nvSpPr>
          <p:cNvPr id="24" name="Shape 22"/>
          <p:cNvSpPr/>
          <p:nvPr/>
        </p:nvSpPr>
        <p:spPr>
          <a:xfrm>
            <a:off x="274320" y="3712464"/>
            <a:ext cx="4114800" cy="237744"/>
          </a:xfrm>
          <a:prstGeom prst="rect">
            <a:avLst/>
          </a:prstGeom>
          <a:solidFill>
            <a:srgbClr val="FFFFFF"/>
          </a:solidFill>
          <a:ln w="6350">
            <a:solidFill>
              <a:srgbClr val="BDC3C7"/>
            </a:solidFill>
            <a:prstDash val="solid"/>
          </a:ln>
        </p:spPr>
      </p:sp>
      <p:sp>
        <p:nvSpPr>
          <p:cNvPr id="25" name="Text 23"/>
          <p:cNvSpPr/>
          <p:nvPr/>
        </p:nvSpPr>
        <p:spPr>
          <a:xfrm>
            <a:off x="384048" y="3739896"/>
            <a:ext cx="1371600" cy="182880"/>
          </a:xfrm>
          <a:prstGeom prst="rect">
            <a:avLst/>
          </a:prstGeom>
          <a:noFill/>
          <a:ln/>
        </p:spPr>
        <p:txBody>
          <a:bodyPr wrap="square" lIns="0" tIns="0" rIns="0" bIns="0" rtlCol="0" anchor="ctr"/>
          <a:lstStyle/>
          <a:p>
            <a:pPr marL="0" indent="0">
              <a:buNone/>
            </a:pPr>
            <a:r>
              <a:rPr lang="en-US" sz="1050" b="1" dirty="0">
                <a:solidFill>
                  <a:srgbClr val="1A3A5C"/>
                </a:solidFill>
                <a:latin typeface="Trebuchet MS" pitchFamily="34" charset="0"/>
                <a:ea typeface="Trebuchet MS" pitchFamily="34" charset="-122"/>
                <a:cs typeface="Trebuchet MS" pitchFamily="34" charset="-120"/>
              </a:rPr>
              <a:t>Oracle:</a:t>
            </a:r>
            <a:endParaRPr lang="en-US" sz="1050" dirty="0"/>
          </a:p>
        </p:txBody>
      </p:sp>
      <p:sp>
        <p:nvSpPr>
          <p:cNvPr id="26" name="Text 24"/>
          <p:cNvSpPr/>
          <p:nvPr/>
        </p:nvSpPr>
        <p:spPr>
          <a:xfrm>
            <a:off x="1828800" y="3739896"/>
            <a:ext cx="2468880" cy="182880"/>
          </a:xfrm>
          <a:prstGeom prst="rect">
            <a:avLst/>
          </a:prstGeom>
          <a:noFill/>
          <a:ln/>
        </p:spPr>
        <p:txBody>
          <a:bodyPr wrap="square" lIns="0" tIns="0" rIns="0" bIns="0" rtlCol="0" anchor="ctr"/>
          <a:lstStyle/>
          <a:p>
            <a:pPr marL="0" indent="0">
              <a:buNone/>
            </a:pPr>
            <a:r>
              <a:rPr lang="en-US" sz="1050" dirty="0">
                <a:solidFill>
                  <a:srgbClr val="1A5276"/>
                </a:solidFill>
                <a:latin typeface="Consolas" pitchFamily="34" charset="0"/>
                <a:ea typeface="Consolas" pitchFamily="34" charset="-122"/>
                <a:cs typeface="Consolas" pitchFamily="34" charset="-120"/>
              </a:rPr>
              <a:t>FETCH FIRST n ROWS</a:t>
            </a:r>
            <a:endParaRPr lang="en-US" sz="1050" dirty="0"/>
          </a:p>
        </p:txBody>
      </p:sp>
      <p:sp>
        <p:nvSpPr>
          <p:cNvPr id="27" name="Shape 25"/>
          <p:cNvSpPr/>
          <p:nvPr/>
        </p:nvSpPr>
        <p:spPr>
          <a:xfrm>
            <a:off x="274320" y="4005072"/>
            <a:ext cx="4114800" cy="822960"/>
          </a:xfrm>
          <a:prstGeom prst="rect">
            <a:avLst/>
          </a:prstGeom>
          <a:solidFill>
            <a:srgbClr val="F4F6F7"/>
          </a:solidFill>
          <a:ln w="12700">
            <a:solidFill>
              <a:srgbClr val="BDC3C7"/>
            </a:solidFill>
            <a:prstDash val="solid"/>
          </a:ln>
        </p:spPr>
      </p:sp>
      <p:sp>
        <p:nvSpPr>
          <p:cNvPr id="28" name="Shape 26"/>
          <p:cNvSpPr/>
          <p:nvPr/>
        </p:nvSpPr>
        <p:spPr>
          <a:xfrm>
            <a:off x="274320" y="4005072"/>
            <a:ext cx="4114800" cy="256032"/>
          </a:xfrm>
          <a:prstGeom prst="rect">
            <a:avLst/>
          </a:prstGeom>
          <a:solidFill>
            <a:srgbClr val="D35400"/>
          </a:solidFill>
          <a:ln w="12700">
            <a:solidFill>
              <a:srgbClr val="D35400"/>
            </a:solidFill>
            <a:prstDash val="solid"/>
          </a:ln>
        </p:spPr>
      </p:sp>
      <p:sp>
        <p:nvSpPr>
          <p:cNvPr id="29" name="Text 27"/>
          <p:cNvSpPr/>
          <p:nvPr/>
        </p:nvSpPr>
        <p:spPr>
          <a:xfrm>
            <a:off x="384048" y="4032504"/>
            <a:ext cx="3931920" cy="201168"/>
          </a:xfrm>
          <a:prstGeom prst="rect">
            <a:avLst/>
          </a:prstGeom>
          <a:noFill/>
          <a:ln/>
        </p:spPr>
        <p:txBody>
          <a:bodyPr wrap="square" lIns="0" tIns="0" rIns="0" bIns="0" rtlCol="0" anchor="ctr"/>
          <a:lstStyle/>
          <a:p>
            <a:pPr marL="0" indent="0">
              <a:buNone/>
            </a:pPr>
            <a:r>
              <a:rPr lang="en-US" sz="950" dirty="0">
                <a:solidFill>
                  <a:srgbClr val="FFFFFF"/>
                </a:solidFill>
                <a:latin typeface="Trebuchet MS" pitchFamily="34" charset="0"/>
                <a:ea typeface="Trebuchet MS" pitchFamily="34" charset="-122"/>
                <a:cs typeface="Trebuchet MS" pitchFamily="34" charset="-120"/>
              </a:rPr>
              <a:t>SQL — TOP with PERCENT</a:t>
            </a:r>
            <a:endParaRPr lang="en-US" sz="950" dirty="0"/>
          </a:p>
        </p:txBody>
      </p:sp>
      <p:sp>
        <p:nvSpPr>
          <p:cNvPr id="30" name="Text 28"/>
          <p:cNvSpPr/>
          <p:nvPr/>
        </p:nvSpPr>
        <p:spPr>
          <a:xfrm>
            <a:off x="384048" y="4306824"/>
            <a:ext cx="3931920" cy="438912"/>
          </a:xfrm>
          <a:prstGeom prst="rect">
            <a:avLst/>
          </a:prstGeom>
          <a:noFill/>
          <a:ln/>
        </p:spPr>
        <p:txBody>
          <a:bodyPr wrap="square" lIns="0" tIns="0" rIns="0" bIns="0" rtlCol="0" anchor="ctr"/>
          <a:lstStyle/>
          <a:p>
            <a:pPr marL="0" indent="0">
              <a:buNone/>
            </a:pPr>
            <a:r>
              <a:rPr lang="en-US" sz="1150" dirty="0">
                <a:solidFill>
                  <a:srgbClr val="1A5276"/>
                </a:solidFill>
                <a:latin typeface="Consolas" pitchFamily="34" charset="0"/>
                <a:ea typeface="Consolas" pitchFamily="34" charset="-122"/>
                <a:cs typeface="Consolas" pitchFamily="34" charset="-120"/>
              </a:rPr>
              <a:t>SELECT TOP 10 PERCENT Name</a:t>
            </a:r>
            <a:endParaRPr lang="en-US" sz="1150" dirty="0"/>
          </a:p>
          <a:p>
            <a:pPr marL="0" indent="0">
              <a:buNone/>
            </a:pPr>
            <a:r>
              <a:rPr lang="en-US" sz="1150" dirty="0">
                <a:solidFill>
                  <a:srgbClr val="1A5276"/>
                </a:solidFill>
                <a:latin typeface="Consolas" pitchFamily="34" charset="0"/>
                <a:ea typeface="Consolas" pitchFamily="34" charset="-122"/>
                <a:cs typeface="Consolas" pitchFamily="34" charset="-120"/>
              </a:rPr>
              <a:t>FROM Employees;</a:t>
            </a:r>
            <a:endParaRPr lang="en-US" sz="1150" dirty="0"/>
          </a:p>
        </p:txBody>
      </p:sp>
      <p:sp>
        <p:nvSpPr>
          <p:cNvPr id="31" name="Shape 29"/>
          <p:cNvSpPr/>
          <p:nvPr/>
        </p:nvSpPr>
        <p:spPr>
          <a:xfrm>
            <a:off x="4754880" y="987552"/>
            <a:ext cx="4114800" cy="310896"/>
          </a:xfrm>
          <a:prstGeom prst="rect">
            <a:avLst/>
          </a:prstGeom>
          <a:solidFill>
            <a:srgbClr val="1A3A5C"/>
          </a:solidFill>
          <a:ln w="12700">
            <a:solidFill>
              <a:srgbClr val="1A3A5C"/>
            </a:solidFill>
            <a:prstDash val="solid"/>
          </a:ln>
        </p:spPr>
      </p:sp>
      <p:sp>
        <p:nvSpPr>
          <p:cNvPr id="32" name="Text 30"/>
          <p:cNvSpPr/>
          <p:nvPr/>
        </p:nvSpPr>
        <p:spPr>
          <a:xfrm>
            <a:off x="4754880" y="987552"/>
            <a:ext cx="4114800"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DISTINCT</a:t>
            </a:r>
            <a:endParaRPr lang="en-US" sz="1300" dirty="0"/>
          </a:p>
        </p:txBody>
      </p:sp>
      <p:sp>
        <p:nvSpPr>
          <p:cNvPr id="33" name="Shape 31"/>
          <p:cNvSpPr/>
          <p:nvPr/>
        </p:nvSpPr>
        <p:spPr>
          <a:xfrm>
            <a:off x="4754880" y="1316736"/>
            <a:ext cx="4114800" cy="548640"/>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34" name="Shape 32"/>
          <p:cNvSpPr/>
          <p:nvPr/>
        </p:nvSpPr>
        <p:spPr>
          <a:xfrm>
            <a:off x="4754880" y="1316736"/>
            <a:ext cx="54864" cy="548640"/>
          </a:xfrm>
          <a:prstGeom prst="rect">
            <a:avLst/>
          </a:prstGeom>
          <a:solidFill>
            <a:srgbClr val="2E86C1"/>
          </a:solidFill>
          <a:ln w="12700">
            <a:solidFill>
              <a:srgbClr val="2E86C1"/>
            </a:solidFill>
            <a:prstDash val="solid"/>
          </a:ln>
        </p:spPr>
      </p:sp>
      <p:sp>
        <p:nvSpPr>
          <p:cNvPr id="35" name="Text 33"/>
          <p:cNvSpPr/>
          <p:nvPr/>
        </p:nvSpPr>
        <p:spPr>
          <a:xfrm>
            <a:off x="4937760" y="1353312"/>
            <a:ext cx="3794760" cy="475488"/>
          </a:xfrm>
          <a:prstGeom prst="rect">
            <a:avLst/>
          </a:prstGeom>
          <a:noFill/>
          <a:ln/>
        </p:spPr>
        <p:txBody>
          <a:bodyPr wrap="square" lIns="0" tIns="0" rIns="0" bIns="0" rtlCol="0" anchor="ctr"/>
          <a:lstStyle/>
          <a:p>
            <a:pPr marL="0" indent="0">
              <a:buNone/>
            </a:pPr>
            <a:r>
              <a:rPr lang="en-US" sz="1100" dirty="0">
                <a:solidFill>
                  <a:srgbClr val="2C3E50"/>
                </a:solidFill>
                <a:latin typeface="Trebuchet MS" pitchFamily="34" charset="0"/>
                <a:ea typeface="Trebuchet MS" pitchFamily="34" charset="-122"/>
                <a:cs typeface="Trebuchet MS" pitchFamily="34" charset="-120"/>
              </a:rPr>
              <a:t>Removes duplicate rows and returns only unique values. When multiple columns are selected, uniqueness applies to the combination.</a:t>
            </a:r>
            <a:endParaRPr lang="en-US" sz="1100" dirty="0"/>
          </a:p>
        </p:txBody>
      </p:sp>
      <p:sp>
        <p:nvSpPr>
          <p:cNvPr id="36" name="Shape 34"/>
          <p:cNvSpPr/>
          <p:nvPr/>
        </p:nvSpPr>
        <p:spPr>
          <a:xfrm>
            <a:off x="4754880" y="1938528"/>
            <a:ext cx="4114800" cy="969264"/>
          </a:xfrm>
          <a:prstGeom prst="rect">
            <a:avLst/>
          </a:prstGeom>
          <a:solidFill>
            <a:srgbClr val="F4F6F7"/>
          </a:solidFill>
          <a:ln w="12700">
            <a:solidFill>
              <a:srgbClr val="BDC3C7"/>
            </a:solidFill>
            <a:prstDash val="solid"/>
          </a:ln>
        </p:spPr>
      </p:sp>
      <p:sp>
        <p:nvSpPr>
          <p:cNvPr id="37" name="Shape 35"/>
          <p:cNvSpPr/>
          <p:nvPr/>
        </p:nvSpPr>
        <p:spPr>
          <a:xfrm>
            <a:off x="4754880" y="1938528"/>
            <a:ext cx="4114800" cy="256032"/>
          </a:xfrm>
          <a:prstGeom prst="rect">
            <a:avLst/>
          </a:prstGeom>
          <a:solidFill>
            <a:srgbClr val="1E8449"/>
          </a:solidFill>
          <a:ln w="12700">
            <a:solidFill>
              <a:srgbClr val="1E8449"/>
            </a:solidFill>
            <a:prstDash val="solid"/>
          </a:ln>
        </p:spPr>
      </p:sp>
      <p:sp>
        <p:nvSpPr>
          <p:cNvPr id="38" name="Text 36"/>
          <p:cNvSpPr/>
          <p:nvPr/>
        </p:nvSpPr>
        <p:spPr>
          <a:xfrm>
            <a:off x="4864608" y="1965960"/>
            <a:ext cx="3931920" cy="201168"/>
          </a:xfrm>
          <a:prstGeom prst="rect">
            <a:avLst/>
          </a:prstGeom>
          <a:noFill/>
          <a:ln/>
        </p:spPr>
        <p:txBody>
          <a:bodyPr wrap="square" lIns="0" tIns="0" rIns="0" bIns="0" rtlCol="0" anchor="ctr"/>
          <a:lstStyle/>
          <a:p>
            <a:pPr marL="0" indent="0">
              <a:buNone/>
            </a:pPr>
            <a:r>
              <a:rPr lang="en-US" sz="950" dirty="0">
                <a:solidFill>
                  <a:srgbClr val="FFFFFF"/>
                </a:solidFill>
                <a:latin typeface="Trebuchet MS" pitchFamily="34" charset="0"/>
                <a:ea typeface="Trebuchet MS" pitchFamily="34" charset="-122"/>
                <a:cs typeface="Trebuchet MS" pitchFamily="34" charset="-120"/>
              </a:rPr>
              <a:t>SQL — Unique departments</a:t>
            </a:r>
            <a:endParaRPr lang="en-US" sz="950" dirty="0"/>
          </a:p>
        </p:txBody>
      </p:sp>
      <p:sp>
        <p:nvSpPr>
          <p:cNvPr id="39" name="Text 37"/>
          <p:cNvSpPr/>
          <p:nvPr/>
        </p:nvSpPr>
        <p:spPr>
          <a:xfrm>
            <a:off x="4864608" y="2240280"/>
            <a:ext cx="3931920" cy="585216"/>
          </a:xfrm>
          <a:prstGeom prst="rect">
            <a:avLst/>
          </a:prstGeom>
          <a:noFill/>
          <a:ln/>
        </p:spPr>
        <p:txBody>
          <a:bodyPr wrap="square" lIns="0" tIns="0" rIns="0" bIns="0" rtlCol="0" anchor="ctr"/>
          <a:lstStyle/>
          <a:p>
            <a:pPr marL="0" indent="0">
              <a:buNone/>
            </a:pPr>
            <a:r>
              <a:rPr lang="en-US" sz="1150" dirty="0">
                <a:solidFill>
                  <a:srgbClr val="1E8449"/>
                </a:solidFill>
                <a:latin typeface="Consolas" pitchFamily="34" charset="0"/>
                <a:ea typeface="Consolas" pitchFamily="34" charset="-122"/>
                <a:cs typeface="Consolas" pitchFamily="34" charset="-120"/>
              </a:rPr>
              <a:t>SELECT DISTINCT Department</a:t>
            </a:r>
            <a:endParaRPr lang="en-US" sz="1150" dirty="0"/>
          </a:p>
          <a:p>
            <a:pPr marL="0" indent="0">
              <a:buNone/>
            </a:pPr>
            <a:r>
              <a:rPr lang="en-US" sz="1150" dirty="0">
                <a:solidFill>
                  <a:srgbClr val="1E8449"/>
                </a:solidFill>
                <a:latin typeface="Consolas" pitchFamily="34" charset="0"/>
                <a:ea typeface="Consolas" pitchFamily="34" charset="-122"/>
                <a:cs typeface="Consolas" pitchFamily="34" charset="-120"/>
              </a:rPr>
              <a:t>FROM Employees;</a:t>
            </a:r>
            <a:endParaRPr lang="en-US" sz="1150" dirty="0"/>
          </a:p>
        </p:txBody>
      </p:sp>
      <p:sp>
        <p:nvSpPr>
          <p:cNvPr id="40" name="Text 38"/>
          <p:cNvSpPr/>
          <p:nvPr/>
        </p:nvSpPr>
        <p:spPr>
          <a:xfrm>
            <a:off x="4754880" y="2999232"/>
            <a:ext cx="5029200" cy="201168"/>
          </a:xfrm>
          <a:prstGeom prst="rect">
            <a:avLst/>
          </a:prstGeom>
          <a:noFill/>
          <a:ln/>
        </p:spPr>
        <p:txBody>
          <a:bodyPr wrap="square" lIns="0" tIns="0" rIns="0" bIns="0" rtlCol="0" anchor="ctr"/>
          <a:lstStyle/>
          <a:p>
            <a:pPr marL="0" indent="0">
              <a:buNone/>
            </a:pPr>
            <a:r>
              <a:rPr lang="en-US" sz="950" b="1" kern="0" spc="200" dirty="0">
                <a:solidFill>
                  <a:srgbClr val="1A3A5C"/>
                </a:solidFill>
                <a:latin typeface="Trebuchet MS" pitchFamily="34" charset="0"/>
                <a:ea typeface="Trebuchet MS" pitchFamily="34" charset="-122"/>
                <a:cs typeface="Trebuchet MS" pitchFamily="34" charset="-120"/>
              </a:rPr>
              <a:t>COUNT(DISTINCT)</a:t>
            </a:r>
            <a:endParaRPr lang="en-US" sz="950" dirty="0"/>
          </a:p>
        </p:txBody>
      </p:sp>
      <p:sp>
        <p:nvSpPr>
          <p:cNvPr id="41" name="Shape 39"/>
          <p:cNvSpPr/>
          <p:nvPr/>
        </p:nvSpPr>
        <p:spPr>
          <a:xfrm>
            <a:off x="4754880" y="3200400"/>
            <a:ext cx="4114800" cy="868680"/>
          </a:xfrm>
          <a:prstGeom prst="rect">
            <a:avLst/>
          </a:prstGeom>
          <a:solidFill>
            <a:srgbClr val="F4F6F7"/>
          </a:solidFill>
          <a:ln w="12700">
            <a:solidFill>
              <a:srgbClr val="BDC3C7"/>
            </a:solidFill>
            <a:prstDash val="solid"/>
          </a:ln>
        </p:spPr>
      </p:sp>
      <p:sp>
        <p:nvSpPr>
          <p:cNvPr id="42" name="Shape 40"/>
          <p:cNvSpPr/>
          <p:nvPr/>
        </p:nvSpPr>
        <p:spPr>
          <a:xfrm>
            <a:off x="4754880" y="3200400"/>
            <a:ext cx="4114800" cy="256032"/>
          </a:xfrm>
          <a:prstGeom prst="rect">
            <a:avLst/>
          </a:prstGeom>
          <a:solidFill>
            <a:srgbClr val="1A3A5C"/>
          </a:solidFill>
          <a:ln w="12700">
            <a:solidFill>
              <a:srgbClr val="1A3A5C"/>
            </a:solidFill>
            <a:prstDash val="solid"/>
          </a:ln>
        </p:spPr>
      </p:sp>
      <p:sp>
        <p:nvSpPr>
          <p:cNvPr id="43" name="Text 41"/>
          <p:cNvSpPr/>
          <p:nvPr/>
        </p:nvSpPr>
        <p:spPr>
          <a:xfrm>
            <a:off x="4864608" y="3227832"/>
            <a:ext cx="3931920" cy="201168"/>
          </a:xfrm>
          <a:prstGeom prst="rect">
            <a:avLst/>
          </a:prstGeom>
          <a:noFill/>
          <a:ln/>
        </p:spPr>
        <p:txBody>
          <a:bodyPr wrap="square" lIns="0" tIns="0" rIns="0" bIns="0" rtlCol="0" anchor="ctr"/>
          <a:lstStyle/>
          <a:p>
            <a:pPr marL="0" indent="0">
              <a:buNone/>
            </a:pPr>
            <a:r>
              <a:rPr lang="en-US" sz="950" dirty="0">
                <a:solidFill>
                  <a:srgbClr val="FFFFFF"/>
                </a:solidFill>
                <a:latin typeface="Trebuchet MS" pitchFamily="34" charset="0"/>
                <a:ea typeface="Trebuchet MS" pitchFamily="34" charset="-122"/>
                <a:cs typeface="Trebuchet MS" pitchFamily="34" charset="-120"/>
              </a:rPr>
              <a:t>SQL — Count unique values</a:t>
            </a:r>
            <a:endParaRPr lang="en-US" sz="950" dirty="0"/>
          </a:p>
        </p:txBody>
      </p:sp>
      <p:sp>
        <p:nvSpPr>
          <p:cNvPr id="44" name="Text 42"/>
          <p:cNvSpPr/>
          <p:nvPr/>
        </p:nvSpPr>
        <p:spPr>
          <a:xfrm>
            <a:off x="4864608" y="3502152"/>
            <a:ext cx="3931920" cy="484632"/>
          </a:xfrm>
          <a:prstGeom prst="rect">
            <a:avLst/>
          </a:prstGeom>
          <a:noFill/>
          <a:ln/>
        </p:spPr>
        <p:txBody>
          <a:bodyPr wrap="square" lIns="0" tIns="0" rIns="0" bIns="0" rtlCol="0" anchor="ctr"/>
          <a:lstStyle/>
          <a:p>
            <a:pPr marL="0" indent="0">
              <a:buNone/>
            </a:pPr>
            <a:r>
              <a:rPr lang="en-US" sz="1150" dirty="0">
                <a:solidFill>
                  <a:srgbClr val="1A5276"/>
                </a:solidFill>
                <a:latin typeface="Consolas" pitchFamily="34" charset="0"/>
                <a:ea typeface="Consolas" pitchFamily="34" charset="-122"/>
                <a:cs typeface="Consolas" pitchFamily="34" charset="-120"/>
              </a:rPr>
              <a:t>SELECT COUNT(DISTINCT Department)</a:t>
            </a:r>
            <a:endParaRPr lang="en-US" sz="1150" dirty="0"/>
          </a:p>
          <a:p>
            <a:pPr marL="0" indent="0">
              <a:buNone/>
            </a:pPr>
            <a:r>
              <a:rPr lang="en-US" sz="1150" dirty="0">
                <a:solidFill>
                  <a:srgbClr val="1A5276"/>
                </a:solidFill>
                <a:latin typeface="Consolas" pitchFamily="34" charset="0"/>
                <a:ea typeface="Consolas" pitchFamily="34" charset="-122"/>
                <a:cs typeface="Consolas" pitchFamily="34" charset="-120"/>
              </a:rPr>
              <a:t>FROM Employees;</a:t>
            </a:r>
            <a:endParaRPr lang="en-US" sz="1150" dirty="0"/>
          </a:p>
        </p:txBody>
      </p:sp>
      <p:sp>
        <p:nvSpPr>
          <p:cNvPr id="45" name="Text 43"/>
          <p:cNvSpPr/>
          <p:nvPr/>
        </p:nvSpPr>
        <p:spPr>
          <a:xfrm>
            <a:off x="4754880" y="4169664"/>
            <a:ext cx="5029200" cy="201168"/>
          </a:xfrm>
          <a:prstGeom prst="rect">
            <a:avLst/>
          </a:prstGeom>
          <a:noFill/>
          <a:ln/>
        </p:spPr>
        <p:txBody>
          <a:bodyPr wrap="square" lIns="0" tIns="0" rIns="0" bIns="0" rtlCol="0" anchor="ctr"/>
          <a:lstStyle/>
          <a:p>
            <a:pPr marL="0" indent="0">
              <a:buNone/>
            </a:pPr>
            <a:r>
              <a:rPr lang="en-US" sz="950" b="1" kern="0" spc="200" dirty="0">
                <a:solidFill>
                  <a:srgbClr val="D35400"/>
                </a:solidFill>
                <a:latin typeface="Trebuchet MS" pitchFamily="34" charset="0"/>
                <a:ea typeface="Trebuchet MS" pitchFamily="34" charset="-122"/>
                <a:cs typeface="Trebuchet MS" pitchFamily="34" charset="-120"/>
              </a:rPr>
              <a:t>KEY NOTES</a:t>
            </a:r>
            <a:endParaRPr lang="en-US" sz="950" dirty="0"/>
          </a:p>
        </p:txBody>
      </p:sp>
      <p:sp>
        <p:nvSpPr>
          <p:cNvPr id="46" name="Shape 44"/>
          <p:cNvSpPr/>
          <p:nvPr/>
        </p:nvSpPr>
        <p:spPr>
          <a:xfrm>
            <a:off x="4754880" y="4334256"/>
            <a:ext cx="4114800" cy="493776"/>
          </a:xfrm>
          <a:prstGeom prst="rect">
            <a:avLst/>
          </a:prstGeom>
          <a:solidFill>
            <a:srgbClr val="FFFFFF"/>
          </a:solidFill>
          <a:ln w="12700">
            <a:solidFill>
              <a:srgbClr val="D35400"/>
            </a:solidFill>
            <a:prstDash val="solid"/>
          </a:ln>
          <a:effectLst>
            <a:outerShdw blurRad="50800" dist="25400" dir="8100000" algn="bl" rotWithShape="0">
              <a:srgbClr val="000000">
                <a:alpha val="7000"/>
              </a:srgbClr>
            </a:outerShdw>
          </a:effectLst>
        </p:spPr>
      </p:sp>
      <p:sp>
        <p:nvSpPr>
          <p:cNvPr id="47" name="Shape 45"/>
          <p:cNvSpPr/>
          <p:nvPr/>
        </p:nvSpPr>
        <p:spPr>
          <a:xfrm>
            <a:off x="4754880" y="4334256"/>
            <a:ext cx="54864" cy="493776"/>
          </a:xfrm>
          <a:prstGeom prst="rect">
            <a:avLst/>
          </a:prstGeom>
          <a:solidFill>
            <a:srgbClr val="D35400"/>
          </a:solidFill>
          <a:ln w="12700">
            <a:solidFill>
              <a:srgbClr val="D35400"/>
            </a:solidFill>
            <a:prstDash val="solid"/>
          </a:ln>
        </p:spPr>
      </p:sp>
      <p:sp>
        <p:nvSpPr>
          <p:cNvPr id="48" name="Text 46"/>
          <p:cNvSpPr/>
          <p:nvPr/>
        </p:nvSpPr>
        <p:spPr>
          <a:xfrm>
            <a:off x="4919472" y="4370832"/>
            <a:ext cx="3840480" cy="420624"/>
          </a:xfrm>
          <a:prstGeom prst="rect">
            <a:avLst/>
          </a:prstGeom>
          <a:noFill/>
          <a:ln/>
        </p:spPr>
        <p:txBody>
          <a:bodyPr wrap="square" lIns="0" tIns="0" rIns="0" bIns="0" rtlCol="0" anchor="ctr"/>
          <a:lstStyle/>
          <a:p>
            <a:pPr marL="0" indent="0">
              <a:buNone/>
            </a:pPr>
            <a:r>
              <a:rPr lang="en-US" sz="1050" dirty="0">
                <a:solidFill>
                  <a:srgbClr val="2C3E50"/>
                </a:solidFill>
                <a:latin typeface="Trebuchet MS" pitchFamily="34" charset="0"/>
                <a:ea typeface="Trebuchet MS" pitchFamily="34" charset="-122"/>
                <a:cs typeface="Trebuchet MS" pitchFamily="34" charset="-120"/>
              </a:rPr>
              <a:t>NULL values are treated as equal — only one NULL appears in results. DISTINCT is faster than GROUP BY for simple deduplication.</a:t>
            </a:r>
            <a:endParaRPr lang="en-US" sz="1050" dirty="0"/>
          </a:p>
        </p:txBody>
      </p:sp>
      <p:sp>
        <p:nvSpPr>
          <p:cNvPr id="49" name="Shape 47"/>
          <p:cNvSpPr/>
          <p:nvPr/>
        </p:nvSpPr>
        <p:spPr>
          <a:xfrm>
            <a:off x="4544568" y="987552"/>
            <a:ext cx="54864" cy="3840480"/>
          </a:xfrm>
          <a:prstGeom prst="rect">
            <a:avLst/>
          </a:prstGeom>
          <a:solidFill>
            <a:srgbClr val="BDC3C7"/>
          </a:solidFill>
          <a:ln w="12700">
            <a:solidFill>
              <a:srgbClr val="BDC3C7"/>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3A5C"/>
          </a:solidFill>
          <a:ln w="12700">
            <a:solidFill>
              <a:srgbClr val="1A3A5C"/>
            </a:solidFill>
            <a:prstDash val="solid"/>
          </a:ln>
        </p:spPr>
      </p:sp>
      <p:sp>
        <p:nvSpPr>
          <p:cNvPr id="3" name="Shape 1"/>
          <p:cNvSpPr/>
          <p:nvPr/>
        </p:nvSpPr>
        <p:spPr>
          <a:xfrm>
            <a:off x="0" y="73152"/>
            <a:ext cx="9144000" cy="749808"/>
          </a:xfrm>
          <a:prstGeom prst="rect">
            <a:avLst/>
          </a:prstGeom>
          <a:solidFill>
            <a:srgbClr val="1A3A5C"/>
          </a:solidFill>
          <a:ln w="12700">
            <a:solidFill>
              <a:srgbClr val="1A3A5C"/>
            </a:solidFill>
            <a:prstDash val="solid"/>
          </a:ln>
        </p:spPr>
      </p:sp>
      <p:sp>
        <p:nvSpPr>
          <p:cNvPr id="4" name="Text 2"/>
          <p:cNvSpPr/>
          <p:nvPr/>
        </p:nvSpPr>
        <p:spPr>
          <a:xfrm>
            <a:off x="457200" y="118872"/>
            <a:ext cx="7132320" cy="420624"/>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Summary</a:t>
            </a:r>
            <a:endParaRPr lang="en-US" sz="2800" dirty="0"/>
          </a:p>
        </p:txBody>
      </p:sp>
      <p:sp>
        <p:nvSpPr>
          <p:cNvPr id="5" name="Text 3"/>
          <p:cNvSpPr/>
          <p:nvPr/>
        </p:nvSpPr>
        <p:spPr>
          <a:xfrm>
            <a:off x="457200" y="557784"/>
            <a:ext cx="7132320" cy="201168"/>
          </a:xfrm>
          <a:prstGeom prst="rect">
            <a:avLst/>
          </a:prstGeom>
          <a:noFill/>
          <a:ln/>
        </p:spPr>
        <p:txBody>
          <a:bodyPr wrap="square" lIns="0" tIns="0" rIns="0" bIns="0" rtlCol="0" anchor="ctr"/>
          <a:lstStyle/>
          <a:p>
            <a:pPr marL="0" indent="0">
              <a:buNone/>
            </a:pPr>
            <a:r>
              <a:rPr lang="en-US" sz="1100" i="1" dirty="0">
                <a:solidFill>
                  <a:srgbClr val="D6E8F5"/>
                </a:solidFill>
                <a:latin typeface="Georgia" pitchFamily="34" charset="0"/>
                <a:ea typeface="Georgia" pitchFamily="34" charset="-122"/>
                <a:cs typeface="Georgia" pitchFamily="34" charset="-120"/>
              </a:rPr>
              <a:t>Quick Reference — All SQL Clauses at a Glance</a:t>
            </a:r>
            <a:endParaRPr lang="en-US" sz="1100" dirty="0"/>
          </a:p>
        </p:txBody>
      </p:sp>
      <p:sp>
        <p:nvSpPr>
          <p:cNvPr id="6" name="Shape 4"/>
          <p:cNvSpPr/>
          <p:nvPr/>
        </p:nvSpPr>
        <p:spPr>
          <a:xfrm>
            <a:off x="274320" y="969264"/>
            <a:ext cx="8595360" cy="539496"/>
          </a:xfrm>
          <a:prstGeom prst="rect">
            <a:avLst/>
          </a:prstGeom>
          <a:solidFill>
            <a:srgbClr val="1A3A5C"/>
          </a:solidFill>
          <a:ln w="6350">
            <a:solidFill>
              <a:srgbClr val="BDC3C7"/>
            </a:solidFill>
            <a:prstDash val="solid"/>
          </a:ln>
        </p:spPr>
      </p:sp>
      <p:sp>
        <p:nvSpPr>
          <p:cNvPr id="7" name="Text 5"/>
          <p:cNvSpPr/>
          <p:nvPr/>
        </p:nvSpPr>
        <p:spPr>
          <a:xfrm>
            <a:off x="402336" y="1078992"/>
            <a:ext cx="1298448" cy="320040"/>
          </a:xfrm>
          <a:prstGeom prst="rect">
            <a:avLst/>
          </a:prstGeom>
          <a:noFill/>
          <a:ln/>
        </p:spPr>
        <p:txBody>
          <a:bodyPr wrap="none" lIns="0" tIns="0" rIns="0" bIns="0" rtlCol="0" anchor="ctr"/>
          <a:lstStyle/>
          <a:p>
            <a:pPr marL="0" indent="0">
              <a:buNone/>
            </a:pPr>
            <a:r>
              <a:rPr lang="en-US" sz="1050" b="1" dirty="0">
                <a:solidFill>
                  <a:srgbClr val="FFFFFF"/>
                </a:solidFill>
                <a:latin typeface="Trebuchet MS" pitchFamily="34" charset="0"/>
                <a:ea typeface="Trebuchet MS" pitchFamily="34" charset="-122"/>
                <a:cs typeface="Trebuchet MS" pitchFamily="34" charset="-120"/>
              </a:rPr>
              <a:t>Clause</a:t>
            </a:r>
            <a:endParaRPr lang="en-US" sz="1050" dirty="0"/>
          </a:p>
        </p:txBody>
      </p:sp>
      <p:sp>
        <p:nvSpPr>
          <p:cNvPr id="8" name="Text 6"/>
          <p:cNvSpPr/>
          <p:nvPr/>
        </p:nvSpPr>
        <p:spPr>
          <a:xfrm>
            <a:off x="1828800" y="1078992"/>
            <a:ext cx="1828800" cy="320040"/>
          </a:xfrm>
          <a:prstGeom prst="rect">
            <a:avLst/>
          </a:prstGeom>
          <a:noFill/>
          <a:ln/>
        </p:spPr>
        <p:txBody>
          <a:bodyPr wrap="none" lIns="0" tIns="0" rIns="0" bIns="0" rtlCol="0" anchor="ctr"/>
          <a:lstStyle/>
          <a:p>
            <a:pPr marL="0" indent="0">
              <a:buNone/>
            </a:pPr>
            <a:r>
              <a:rPr lang="en-US" sz="1050" b="1" dirty="0">
                <a:solidFill>
                  <a:srgbClr val="FFFFFF"/>
                </a:solidFill>
                <a:latin typeface="Trebuchet MS" pitchFamily="34" charset="0"/>
                <a:ea typeface="Trebuchet MS" pitchFamily="34" charset="-122"/>
                <a:cs typeface="Trebuchet MS" pitchFamily="34" charset="-120"/>
              </a:rPr>
              <a:t>Purpose</a:t>
            </a:r>
            <a:endParaRPr lang="en-US" sz="1050" dirty="0"/>
          </a:p>
        </p:txBody>
      </p:sp>
      <p:sp>
        <p:nvSpPr>
          <p:cNvPr id="9" name="Text 7"/>
          <p:cNvSpPr/>
          <p:nvPr/>
        </p:nvSpPr>
        <p:spPr>
          <a:xfrm>
            <a:off x="3767328" y="1078992"/>
            <a:ext cx="3017520" cy="320040"/>
          </a:xfrm>
          <a:prstGeom prst="rect">
            <a:avLst/>
          </a:prstGeom>
          <a:noFill/>
          <a:ln/>
        </p:spPr>
        <p:txBody>
          <a:bodyPr wrap="none" lIns="0" tIns="0" rIns="0" bIns="0" rtlCol="0" anchor="ctr"/>
          <a:lstStyle/>
          <a:p>
            <a:pPr marL="0" indent="0">
              <a:buNone/>
            </a:pPr>
            <a:r>
              <a:rPr lang="en-US" sz="1050" b="1" dirty="0">
                <a:solidFill>
                  <a:srgbClr val="FFFFFF"/>
                </a:solidFill>
                <a:latin typeface="Trebuchet MS" pitchFamily="34" charset="0"/>
                <a:ea typeface="Trebuchet MS" pitchFamily="34" charset="-122"/>
                <a:cs typeface="Trebuchet MS" pitchFamily="34" charset="-120"/>
              </a:rPr>
              <a:t>Key Operators / Notes</a:t>
            </a:r>
            <a:endParaRPr lang="en-US" sz="1050" dirty="0"/>
          </a:p>
        </p:txBody>
      </p:sp>
      <p:sp>
        <p:nvSpPr>
          <p:cNvPr id="10" name="Text 8"/>
          <p:cNvSpPr/>
          <p:nvPr/>
        </p:nvSpPr>
        <p:spPr>
          <a:xfrm>
            <a:off x="6894576" y="1078992"/>
            <a:ext cx="1828800" cy="320040"/>
          </a:xfrm>
          <a:prstGeom prst="rect">
            <a:avLst/>
          </a:prstGeom>
          <a:noFill/>
          <a:ln/>
        </p:spPr>
        <p:txBody>
          <a:bodyPr wrap="none" lIns="0" tIns="0" rIns="0" bIns="0" rtlCol="0" anchor="ctr"/>
          <a:lstStyle/>
          <a:p>
            <a:pPr marL="0" indent="0">
              <a:buNone/>
            </a:pPr>
            <a:r>
              <a:rPr lang="en-US" sz="1050" b="1" dirty="0">
                <a:solidFill>
                  <a:srgbClr val="FFFFFF"/>
                </a:solidFill>
                <a:latin typeface="Trebuchet MS" pitchFamily="34" charset="0"/>
                <a:ea typeface="Trebuchet MS" pitchFamily="34" charset="-122"/>
                <a:cs typeface="Trebuchet MS" pitchFamily="34" charset="-120"/>
              </a:rPr>
              <a:t>DB Support</a:t>
            </a:r>
            <a:endParaRPr lang="en-US" sz="1050" dirty="0"/>
          </a:p>
        </p:txBody>
      </p:sp>
      <p:sp>
        <p:nvSpPr>
          <p:cNvPr id="11" name="Shape 9"/>
          <p:cNvSpPr/>
          <p:nvPr/>
        </p:nvSpPr>
        <p:spPr>
          <a:xfrm>
            <a:off x="274320" y="1527048"/>
            <a:ext cx="8595360" cy="539496"/>
          </a:xfrm>
          <a:prstGeom prst="rect">
            <a:avLst/>
          </a:prstGeom>
          <a:solidFill>
            <a:srgbClr val="ECF0F1"/>
          </a:solidFill>
          <a:ln w="6350">
            <a:solidFill>
              <a:srgbClr val="BDC3C7"/>
            </a:solidFill>
            <a:prstDash val="solid"/>
          </a:ln>
        </p:spPr>
      </p:sp>
      <p:sp>
        <p:nvSpPr>
          <p:cNvPr id="12" name="Shape 10"/>
          <p:cNvSpPr/>
          <p:nvPr/>
        </p:nvSpPr>
        <p:spPr>
          <a:xfrm>
            <a:off x="274320" y="1527048"/>
            <a:ext cx="54864" cy="539496"/>
          </a:xfrm>
          <a:prstGeom prst="rect">
            <a:avLst/>
          </a:prstGeom>
          <a:solidFill>
            <a:srgbClr val="2E86C1"/>
          </a:solidFill>
          <a:ln w="12700">
            <a:solidFill>
              <a:srgbClr val="2E86C1"/>
            </a:solidFill>
            <a:prstDash val="solid"/>
          </a:ln>
        </p:spPr>
      </p:sp>
      <p:sp>
        <p:nvSpPr>
          <p:cNvPr id="13" name="Text 11"/>
          <p:cNvSpPr/>
          <p:nvPr/>
        </p:nvSpPr>
        <p:spPr>
          <a:xfrm>
            <a:off x="402336" y="1636776"/>
            <a:ext cx="1298448" cy="320040"/>
          </a:xfrm>
          <a:prstGeom prst="rect">
            <a:avLst/>
          </a:prstGeom>
          <a:noFill/>
          <a:ln/>
        </p:spPr>
        <p:txBody>
          <a:bodyPr wrap="none" lIns="0" tIns="0" rIns="0" bIns="0" rtlCol="0" anchor="ctr"/>
          <a:lstStyle/>
          <a:p>
            <a:pPr marL="0" indent="0">
              <a:buNone/>
            </a:pPr>
            <a:r>
              <a:rPr lang="en-US" sz="1050" dirty="0">
                <a:solidFill>
                  <a:srgbClr val="1A3A5C"/>
                </a:solidFill>
                <a:latin typeface="Trebuchet MS" pitchFamily="34" charset="0"/>
                <a:ea typeface="Trebuchet MS" pitchFamily="34" charset="-122"/>
                <a:cs typeface="Trebuchet MS" pitchFamily="34" charset="-120"/>
              </a:rPr>
              <a:t>WHERE</a:t>
            </a:r>
            <a:endParaRPr lang="en-US" sz="1050" dirty="0"/>
          </a:p>
        </p:txBody>
      </p:sp>
      <p:sp>
        <p:nvSpPr>
          <p:cNvPr id="14" name="Text 12"/>
          <p:cNvSpPr/>
          <p:nvPr/>
        </p:nvSpPr>
        <p:spPr>
          <a:xfrm>
            <a:off x="1828800" y="1636776"/>
            <a:ext cx="1828800" cy="320040"/>
          </a:xfrm>
          <a:prstGeom prst="rect">
            <a:avLst/>
          </a:prstGeom>
          <a:noFill/>
          <a:ln/>
        </p:spPr>
        <p:txBody>
          <a:bodyPr wrap="none" lIns="0" tIns="0" rIns="0" bIns="0" rtlCol="0" anchor="ctr"/>
          <a:lstStyle/>
          <a:p>
            <a:pPr marL="0" indent="0">
              <a:buNone/>
            </a:pPr>
            <a:r>
              <a:rPr lang="en-US" sz="1050" dirty="0">
                <a:solidFill>
                  <a:srgbClr val="2C3E50"/>
                </a:solidFill>
                <a:latin typeface="Trebuchet MS" pitchFamily="34" charset="0"/>
                <a:ea typeface="Trebuchet MS" pitchFamily="34" charset="-122"/>
                <a:cs typeface="Trebuchet MS" pitchFamily="34" charset="-120"/>
              </a:rPr>
              <a:t>Filter individual rows</a:t>
            </a:r>
            <a:endParaRPr lang="en-US" sz="1050" dirty="0"/>
          </a:p>
        </p:txBody>
      </p:sp>
      <p:sp>
        <p:nvSpPr>
          <p:cNvPr id="15" name="Text 13"/>
          <p:cNvSpPr/>
          <p:nvPr/>
        </p:nvSpPr>
        <p:spPr>
          <a:xfrm>
            <a:off x="3767328" y="1636776"/>
            <a:ext cx="3017520" cy="320040"/>
          </a:xfrm>
          <a:prstGeom prst="rect">
            <a:avLst/>
          </a:prstGeom>
          <a:noFill/>
          <a:ln/>
        </p:spPr>
        <p:txBody>
          <a:bodyPr wrap="none" lIns="0" tIns="0" rIns="0" bIns="0" rtlCol="0" anchor="ctr"/>
          <a:lstStyle/>
          <a:p>
            <a:pPr marL="0" indent="0">
              <a:buNone/>
            </a:pPr>
            <a:r>
              <a:rPr lang="en-US" sz="1050" dirty="0">
                <a:solidFill>
                  <a:srgbClr val="2C3E50"/>
                </a:solidFill>
                <a:latin typeface="Trebuchet MS" pitchFamily="34" charset="0"/>
                <a:ea typeface="Trebuchet MS" pitchFamily="34" charset="-122"/>
                <a:cs typeface="Trebuchet MS" pitchFamily="34" charset="-120"/>
              </a:rPr>
              <a:t>=, &lt;&gt;, &gt;, &lt;, AND, OR, LIKE, IN, BETWEEN</a:t>
            </a:r>
            <a:endParaRPr lang="en-US" sz="1050" dirty="0"/>
          </a:p>
        </p:txBody>
      </p:sp>
      <p:sp>
        <p:nvSpPr>
          <p:cNvPr id="16" name="Text 14"/>
          <p:cNvSpPr/>
          <p:nvPr/>
        </p:nvSpPr>
        <p:spPr>
          <a:xfrm>
            <a:off x="6894576" y="1636776"/>
            <a:ext cx="1828800" cy="320040"/>
          </a:xfrm>
          <a:prstGeom prst="rect">
            <a:avLst/>
          </a:prstGeom>
          <a:noFill/>
          <a:ln/>
        </p:spPr>
        <p:txBody>
          <a:bodyPr wrap="none" lIns="0" tIns="0" rIns="0" bIns="0" rtlCol="0" anchor="ctr"/>
          <a:lstStyle/>
          <a:p>
            <a:pPr marL="0" indent="0">
              <a:buNone/>
            </a:pPr>
            <a:r>
              <a:rPr lang="en-US" sz="1050" dirty="0">
                <a:solidFill>
                  <a:srgbClr val="2C3E50"/>
                </a:solidFill>
                <a:latin typeface="Trebuchet MS" pitchFamily="34" charset="0"/>
                <a:ea typeface="Trebuchet MS" pitchFamily="34" charset="-122"/>
                <a:cs typeface="Trebuchet MS" pitchFamily="34" charset="-120"/>
              </a:rPr>
              <a:t>All databases</a:t>
            </a:r>
            <a:endParaRPr lang="en-US" sz="1050" dirty="0"/>
          </a:p>
        </p:txBody>
      </p:sp>
      <p:sp>
        <p:nvSpPr>
          <p:cNvPr id="17" name="Shape 15"/>
          <p:cNvSpPr/>
          <p:nvPr/>
        </p:nvSpPr>
        <p:spPr>
          <a:xfrm>
            <a:off x="274320" y="2084832"/>
            <a:ext cx="8595360" cy="539496"/>
          </a:xfrm>
          <a:prstGeom prst="rect">
            <a:avLst/>
          </a:prstGeom>
          <a:solidFill>
            <a:srgbClr val="FFFFFF"/>
          </a:solidFill>
          <a:ln w="6350">
            <a:solidFill>
              <a:srgbClr val="BDC3C7"/>
            </a:solidFill>
            <a:prstDash val="solid"/>
          </a:ln>
        </p:spPr>
      </p:sp>
      <p:sp>
        <p:nvSpPr>
          <p:cNvPr id="18" name="Shape 16"/>
          <p:cNvSpPr/>
          <p:nvPr/>
        </p:nvSpPr>
        <p:spPr>
          <a:xfrm>
            <a:off x="274320" y="2084832"/>
            <a:ext cx="54864" cy="539496"/>
          </a:xfrm>
          <a:prstGeom prst="rect">
            <a:avLst/>
          </a:prstGeom>
          <a:solidFill>
            <a:srgbClr val="2E86C1"/>
          </a:solidFill>
          <a:ln w="12700">
            <a:solidFill>
              <a:srgbClr val="2E86C1"/>
            </a:solidFill>
            <a:prstDash val="solid"/>
          </a:ln>
        </p:spPr>
      </p:sp>
      <p:sp>
        <p:nvSpPr>
          <p:cNvPr id="19" name="Text 17"/>
          <p:cNvSpPr/>
          <p:nvPr/>
        </p:nvSpPr>
        <p:spPr>
          <a:xfrm>
            <a:off x="402336" y="2194560"/>
            <a:ext cx="1298448" cy="320040"/>
          </a:xfrm>
          <a:prstGeom prst="rect">
            <a:avLst/>
          </a:prstGeom>
          <a:noFill/>
          <a:ln/>
        </p:spPr>
        <p:txBody>
          <a:bodyPr wrap="none" lIns="0" tIns="0" rIns="0" bIns="0" rtlCol="0" anchor="ctr"/>
          <a:lstStyle/>
          <a:p>
            <a:pPr marL="0" indent="0">
              <a:buNone/>
            </a:pPr>
            <a:r>
              <a:rPr lang="en-US" sz="1050" dirty="0">
                <a:solidFill>
                  <a:srgbClr val="1A3A5C"/>
                </a:solidFill>
                <a:latin typeface="Trebuchet MS" pitchFamily="34" charset="0"/>
                <a:ea typeface="Trebuchet MS" pitchFamily="34" charset="-122"/>
                <a:cs typeface="Trebuchet MS" pitchFamily="34" charset="-120"/>
              </a:rPr>
              <a:t>GROUP BY</a:t>
            </a:r>
            <a:endParaRPr lang="en-US" sz="1050" dirty="0"/>
          </a:p>
        </p:txBody>
      </p:sp>
      <p:sp>
        <p:nvSpPr>
          <p:cNvPr id="20" name="Text 18"/>
          <p:cNvSpPr/>
          <p:nvPr/>
        </p:nvSpPr>
        <p:spPr>
          <a:xfrm>
            <a:off x="1828800" y="2194560"/>
            <a:ext cx="1828800" cy="320040"/>
          </a:xfrm>
          <a:prstGeom prst="rect">
            <a:avLst/>
          </a:prstGeom>
          <a:noFill/>
          <a:ln/>
        </p:spPr>
        <p:txBody>
          <a:bodyPr wrap="none" lIns="0" tIns="0" rIns="0" bIns="0" rtlCol="0" anchor="ctr"/>
          <a:lstStyle/>
          <a:p>
            <a:pPr marL="0" indent="0">
              <a:buNone/>
            </a:pPr>
            <a:r>
              <a:rPr lang="en-US" sz="1050" dirty="0">
                <a:solidFill>
                  <a:srgbClr val="2C3E50"/>
                </a:solidFill>
                <a:latin typeface="Trebuchet MS" pitchFamily="34" charset="0"/>
                <a:ea typeface="Trebuchet MS" pitchFamily="34" charset="-122"/>
                <a:cs typeface="Trebuchet MS" pitchFamily="34" charset="-120"/>
              </a:rPr>
              <a:t>Group rows for aggregation</a:t>
            </a:r>
            <a:endParaRPr lang="en-US" sz="1050" dirty="0"/>
          </a:p>
        </p:txBody>
      </p:sp>
      <p:sp>
        <p:nvSpPr>
          <p:cNvPr id="21" name="Text 19"/>
          <p:cNvSpPr/>
          <p:nvPr/>
        </p:nvSpPr>
        <p:spPr>
          <a:xfrm>
            <a:off x="3767328" y="2194560"/>
            <a:ext cx="3017520" cy="320040"/>
          </a:xfrm>
          <a:prstGeom prst="rect">
            <a:avLst/>
          </a:prstGeom>
          <a:noFill/>
          <a:ln/>
        </p:spPr>
        <p:txBody>
          <a:bodyPr wrap="none" lIns="0" tIns="0" rIns="0" bIns="0" rtlCol="0" anchor="ctr"/>
          <a:lstStyle/>
          <a:p>
            <a:pPr marL="0" indent="0">
              <a:buNone/>
            </a:pPr>
            <a:r>
              <a:rPr lang="en-US" sz="1050" dirty="0">
                <a:solidFill>
                  <a:srgbClr val="2C3E50"/>
                </a:solidFill>
                <a:latin typeface="Trebuchet MS" pitchFamily="34" charset="0"/>
                <a:ea typeface="Trebuchet MS" pitchFamily="34" charset="-122"/>
                <a:cs typeface="Trebuchet MS" pitchFamily="34" charset="-120"/>
              </a:rPr>
              <a:t>COUNT(), SUM(), AVG(), MAX(), MIN()</a:t>
            </a:r>
            <a:endParaRPr lang="en-US" sz="1050" dirty="0"/>
          </a:p>
        </p:txBody>
      </p:sp>
      <p:sp>
        <p:nvSpPr>
          <p:cNvPr id="22" name="Text 20"/>
          <p:cNvSpPr/>
          <p:nvPr/>
        </p:nvSpPr>
        <p:spPr>
          <a:xfrm>
            <a:off x="6894576" y="2194560"/>
            <a:ext cx="1828800" cy="320040"/>
          </a:xfrm>
          <a:prstGeom prst="rect">
            <a:avLst/>
          </a:prstGeom>
          <a:noFill/>
          <a:ln/>
        </p:spPr>
        <p:txBody>
          <a:bodyPr wrap="none" lIns="0" tIns="0" rIns="0" bIns="0" rtlCol="0" anchor="ctr"/>
          <a:lstStyle/>
          <a:p>
            <a:pPr marL="0" indent="0">
              <a:buNone/>
            </a:pPr>
            <a:r>
              <a:rPr lang="en-US" sz="1050" dirty="0">
                <a:solidFill>
                  <a:srgbClr val="2C3E50"/>
                </a:solidFill>
                <a:latin typeface="Trebuchet MS" pitchFamily="34" charset="0"/>
                <a:ea typeface="Trebuchet MS" pitchFamily="34" charset="-122"/>
                <a:cs typeface="Trebuchet MS" pitchFamily="34" charset="-120"/>
              </a:rPr>
              <a:t>All databases</a:t>
            </a:r>
            <a:endParaRPr lang="en-US" sz="1050" dirty="0"/>
          </a:p>
        </p:txBody>
      </p:sp>
      <p:sp>
        <p:nvSpPr>
          <p:cNvPr id="23" name="Shape 21"/>
          <p:cNvSpPr/>
          <p:nvPr/>
        </p:nvSpPr>
        <p:spPr>
          <a:xfrm>
            <a:off x="274320" y="2642616"/>
            <a:ext cx="8595360" cy="539496"/>
          </a:xfrm>
          <a:prstGeom prst="rect">
            <a:avLst/>
          </a:prstGeom>
          <a:solidFill>
            <a:srgbClr val="ECF0F1"/>
          </a:solidFill>
          <a:ln w="6350">
            <a:solidFill>
              <a:srgbClr val="BDC3C7"/>
            </a:solidFill>
            <a:prstDash val="solid"/>
          </a:ln>
        </p:spPr>
      </p:sp>
      <p:sp>
        <p:nvSpPr>
          <p:cNvPr id="24" name="Shape 22"/>
          <p:cNvSpPr/>
          <p:nvPr/>
        </p:nvSpPr>
        <p:spPr>
          <a:xfrm>
            <a:off x="274320" y="2642616"/>
            <a:ext cx="54864" cy="539496"/>
          </a:xfrm>
          <a:prstGeom prst="rect">
            <a:avLst/>
          </a:prstGeom>
          <a:solidFill>
            <a:srgbClr val="2E86C1"/>
          </a:solidFill>
          <a:ln w="12700">
            <a:solidFill>
              <a:srgbClr val="2E86C1"/>
            </a:solidFill>
            <a:prstDash val="solid"/>
          </a:ln>
        </p:spPr>
      </p:sp>
      <p:sp>
        <p:nvSpPr>
          <p:cNvPr id="25" name="Text 23"/>
          <p:cNvSpPr/>
          <p:nvPr/>
        </p:nvSpPr>
        <p:spPr>
          <a:xfrm>
            <a:off x="402336" y="2752344"/>
            <a:ext cx="1298448" cy="320040"/>
          </a:xfrm>
          <a:prstGeom prst="rect">
            <a:avLst/>
          </a:prstGeom>
          <a:noFill/>
          <a:ln/>
        </p:spPr>
        <p:txBody>
          <a:bodyPr wrap="none" lIns="0" tIns="0" rIns="0" bIns="0" rtlCol="0" anchor="ctr"/>
          <a:lstStyle/>
          <a:p>
            <a:pPr marL="0" indent="0">
              <a:buNone/>
            </a:pPr>
            <a:r>
              <a:rPr lang="en-US" sz="1050" dirty="0">
                <a:solidFill>
                  <a:srgbClr val="1A3A5C"/>
                </a:solidFill>
                <a:latin typeface="Trebuchet MS" pitchFamily="34" charset="0"/>
                <a:ea typeface="Trebuchet MS" pitchFamily="34" charset="-122"/>
                <a:cs typeface="Trebuchet MS" pitchFamily="34" charset="-120"/>
              </a:rPr>
              <a:t>HAVING</a:t>
            </a:r>
            <a:endParaRPr lang="en-US" sz="1050" dirty="0"/>
          </a:p>
        </p:txBody>
      </p:sp>
      <p:sp>
        <p:nvSpPr>
          <p:cNvPr id="26" name="Text 24"/>
          <p:cNvSpPr/>
          <p:nvPr/>
        </p:nvSpPr>
        <p:spPr>
          <a:xfrm>
            <a:off x="1828800" y="2752344"/>
            <a:ext cx="1828800" cy="320040"/>
          </a:xfrm>
          <a:prstGeom prst="rect">
            <a:avLst/>
          </a:prstGeom>
          <a:noFill/>
          <a:ln/>
        </p:spPr>
        <p:txBody>
          <a:bodyPr wrap="none" lIns="0" tIns="0" rIns="0" bIns="0" rtlCol="0" anchor="ctr"/>
          <a:lstStyle/>
          <a:p>
            <a:pPr marL="0" indent="0">
              <a:buNone/>
            </a:pPr>
            <a:r>
              <a:rPr lang="en-US" sz="1050" dirty="0">
                <a:solidFill>
                  <a:srgbClr val="2C3E50"/>
                </a:solidFill>
                <a:latin typeface="Trebuchet MS" pitchFamily="34" charset="0"/>
                <a:ea typeface="Trebuchet MS" pitchFamily="34" charset="-122"/>
                <a:cs typeface="Trebuchet MS" pitchFamily="34" charset="-120"/>
              </a:rPr>
              <a:t>Filter grouped results</a:t>
            </a:r>
            <a:endParaRPr lang="en-US" sz="1050" dirty="0"/>
          </a:p>
        </p:txBody>
      </p:sp>
      <p:sp>
        <p:nvSpPr>
          <p:cNvPr id="27" name="Text 25"/>
          <p:cNvSpPr/>
          <p:nvPr/>
        </p:nvSpPr>
        <p:spPr>
          <a:xfrm>
            <a:off x="3767328" y="2752344"/>
            <a:ext cx="3017520" cy="320040"/>
          </a:xfrm>
          <a:prstGeom prst="rect">
            <a:avLst/>
          </a:prstGeom>
          <a:noFill/>
          <a:ln/>
        </p:spPr>
        <p:txBody>
          <a:bodyPr wrap="none" lIns="0" tIns="0" rIns="0" bIns="0" rtlCol="0" anchor="ctr"/>
          <a:lstStyle/>
          <a:p>
            <a:pPr marL="0" indent="0">
              <a:buNone/>
            </a:pPr>
            <a:r>
              <a:rPr lang="en-US" sz="1050" dirty="0">
                <a:solidFill>
                  <a:srgbClr val="2C3E50"/>
                </a:solidFill>
                <a:latin typeface="Trebuchet MS" pitchFamily="34" charset="0"/>
                <a:ea typeface="Trebuchet MS" pitchFamily="34" charset="-122"/>
                <a:cs typeface="Trebuchet MS" pitchFamily="34" charset="-120"/>
              </a:rPr>
              <a:t>Aggregate conditions after GROUP BY</a:t>
            </a:r>
            <a:endParaRPr lang="en-US" sz="1050" dirty="0"/>
          </a:p>
        </p:txBody>
      </p:sp>
      <p:sp>
        <p:nvSpPr>
          <p:cNvPr id="28" name="Text 26"/>
          <p:cNvSpPr/>
          <p:nvPr/>
        </p:nvSpPr>
        <p:spPr>
          <a:xfrm>
            <a:off x="6894576" y="2752344"/>
            <a:ext cx="1828800" cy="320040"/>
          </a:xfrm>
          <a:prstGeom prst="rect">
            <a:avLst/>
          </a:prstGeom>
          <a:noFill/>
          <a:ln/>
        </p:spPr>
        <p:txBody>
          <a:bodyPr wrap="none" lIns="0" tIns="0" rIns="0" bIns="0" rtlCol="0" anchor="ctr"/>
          <a:lstStyle/>
          <a:p>
            <a:pPr marL="0" indent="0">
              <a:buNone/>
            </a:pPr>
            <a:r>
              <a:rPr lang="en-US" sz="1050" dirty="0">
                <a:solidFill>
                  <a:srgbClr val="2C3E50"/>
                </a:solidFill>
                <a:latin typeface="Trebuchet MS" pitchFamily="34" charset="0"/>
                <a:ea typeface="Trebuchet MS" pitchFamily="34" charset="-122"/>
                <a:cs typeface="Trebuchet MS" pitchFamily="34" charset="-120"/>
              </a:rPr>
              <a:t>All databases</a:t>
            </a:r>
            <a:endParaRPr lang="en-US" sz="1050" dirty="0"/>
          </a:p>
        </p:txBody>
      </p:sp>
      <p:sp>
        <p:nvSpPr>
          <p:cNvPr id="29" name="Shape 27"/>
          <p:cNvSpPr/>
          <p:nvPr/>
        </p:nvSpPr>
        <p:spPr>
          <a:xfrm>
            <a:off x="274320" y="3200400"/>
            <a:ext cx="8595360" cy="539496"/>
          </a:xfrm>
          <a:prstGeom prst="rect">
            <a:avLst/>
          </a:prstGeom>
          <a:solidFill>
            <a:srgbClr val="FFFFFF"/>
          </a:solidFill>
          <a:ln w="6350">
            <a:solidFill>
              <a:srgbClr val="BDC3C7"/>
            </a:solidFill>
            <a:prstDash val="solid"/>
          </a:ln>
        </p:spPr>
      </p:sp>
      <p:sp>
        <p:nvSpPr>
          <p:cNvPr id="30" name="Shape 28"/>
          <p:cNvSpPr/>
          <p:nvPr/>
        </p:nvSpPr>
        <p:spPr>
          <a:xfrm>
            <a:off x="274320" y="3200400"/>
            <a:ext cx="54864" cy="539496"/>
          </a:xfrm>
          <a:prstGeom prst="rect">
            <a:avLst/>
          </a:prstGeom>
          <a:solidFill>
            <a:srgbClr val="2E86C1"/>
          </a:solidFill>
          <a:ln w="12700">
            <a:solidFill>
              <a:srgbClr val="2E86C1"/>
            </a:solidFill>
            <a:prstDash val="solid"/>
          </a:ln>
        </p:spPr>
      </p:sp>
      <p:sp>
        <p:nvSpPr>
          <p:cNvPr id="31" name="Text 29"/>
          <p:cNvSpPr/>
          <p:nvPr/>
        </p:nvSpPr>
        <p:spPr>
          <a:xfrm>
            <a:off x="402336" y="3310128"/>
            <a:ext cx="1298448" cy="320040"/>
          </a:xfrm>
          <a:prstGeom prst="rect">
            <a:avLst/>
          </a:prstGeom>
          <a:noFill/>
          <a:ln/>
        </p:spPr>
        <p:txBody>
          <a:bodyPr wrap="none" lIns="0" tIns="0" rIns="0" bIns="0" rtlCol="0" anchor="ctr"/>
          <a:lstStyle/>
          <a:p>
            <a:pPr marL="0" indent="0">
              <a:buNone/>
            </a:pPr>
            <a:r>
              <a:rPr lang="en-US" sz="1050" dirty="0">
                <a:solidFill>
                  <a:srgbClr val="1A3A5C"/>
                </a:solidFill>
                <a:latin typeface="Trebuchet MS" pitchFamily="34" charset="0"/>
                <a:ea typeface="Trebuchet MS" pitchFamily="34" charset="-122"/>
                <a:cs typeface="Trebuchet MS" pitchFamily="34" charset="-120"/>
              </a:rPr>
              <a:t>ORDER BY</a:t>
            </a:r>
            <a:endParaRPr lang="en-US" sz="1050" dirty="0"/>
          </a:p>
        </p:txBody>
      </p:sp>
      <p:sp>
        <p:nvSpPr>
          <p:cNvPr id="32" name="Text 30"/>
          <p:cNvSpPr/>
          <p:nvPr/>
        </p:nvSpPr>
        <p:spPr>
          <a:xfrm>
            <a:off x="1828800" y="3310128"/>
            <a:ext cx="1828800" cy="320040"/>
          </a:xfrm>
          <a:prstGeom prst="rect">
            <a:avLst/>
          </a:prstGeom>
          <a:noFill/>
          <a:ln/>
        </p:spPr>
        <p:txBody>
          <a:bodyPr wrap="none" lIns="0" tIns="0" rIns="0" bIns="0" rtlCol="0" anchor="ctr"/>
          <a:lstStyle/>
          <a:p>
            <a:pPr marL="0" indent="0">
              <a:buNone/>
            </a:pPr>
            <a:r>
              <a:rPr lang="en-US" sz="1050" dirty="0">
                <a:solidFill>
                  <a:srgbClr val="2C3E50"/>
                </a:solidFill>
                <a:latin typeface="Trebuchet MS" pitchFamily="34" charset="0"/>
                <a:ea typeface="Trebuchet MS" pitchFamily="34" charset="-122"/>
                <a:cs typeface="Trebuchet MS" pitchFamily="34" charset="-120"/>
              </a:rPr>
              <a:t>Sort the result set</a:t>
            </a:r>
            <a:endParaRPr lang="en-US" sz="1050" dirty="0"/>
          </a:p>
        </p:txBody>
      </p:sp>
      <p:sp>
        <p:nvSpPr>
          <p:cNvPr id="33" name="Text 31"/>
          <p:cNvSpPr/>
          <p:nvPr/>
        </p:nvSpPr>
        <p:spPr>
          <a:xfrm>
            <a:off x="3767328" y="3310128"/>
            <a:ext cx="3017520" cy="320040"/>
          </a:xfrm>
          <a:prstGeom prst="rect">
            <a:avLst/>
          </a:prstGeom>
          <a:noFill/>
          <a:ln/>
        </p:spPr>
        <p:txBody>
          <a:bodyPr wrap="none" lIns="0" tIns="0" rIns="0" bIns="0" rtlCol="0" anchor="ctr"/>
          <a:lstStyle/>
          <a:p>
            <a:pPr marL="0" indent="0">
              <a:buNone/>
            </a:pPr>
            <a:r>
              <a:rPr lang="en-US" sz="1050" dirty="0">
                <a:solidFill>
                  <a:srgbClr val="2C3E50"/>
                </a:solidFill>
                <a:latin typeface="Trebuchet MS" pitchFamily="34" charset="0"/>
                <a:ea typeface="Trebuchet MS" pitchFamily="34" charset="-122"/>
                <a:cs typeface="Trebuchet MS" pitchFamily="34" charset="-120"/>
              </a:rPr>
              <a:t>ASC (default) or DESC, multiple cols OK</a:t>
            </a:r>
            <a:endParaRPr lang="en-US" sz="1050" dirty="0"/>
          </a:p>
        </p:txBody>
      </p:sp>
      <p:sp>
        <p:nvSpPr>
          <p:cNvPr id="34" name="Text 32"/>
          <p:cNvSpPr/>
          <p:nvPr/>
        </p:nvSpPr>
        <p:spPr>
          <a:xfrm>
            <a:off x="6894576" y="3310128"/>
            <a:ext cx="1828800" cy="320040"/>
          </a:xfrm>
          <a:prstGeom prst="rect">
            <a:avLst/>
          </a:prstGeom>
          <a:noFill/>
          <a:ln/>
        </p:spPr>
        <p:txBody>
          <a:bodyPr wrap="none" lIns="0" tIns="0" rIns="0" bIns="0" rtlCol="0" anchor="ctr"/>
          <a:lstStyle/>
          <a:p>
            <a:pPr marL="0" indent="0">
              <a:buNone/>
            </a:pPr>
            <a:r>
              <a:rPr lang="en-US" sz="1050" dirty="0">
                <a:solidFill>
                  <a:srgbClr val="2C3E50"/>
                </a:solidFill>
                <a:latin typeface="Trebuchet MS" pitchFamily="34" charset="0"/>
                <a:ea typeface="Trebuchet MS" pitchFamily="34" charset="-122"/>
                <a:cs typeface="Trebuchet MS" pitchFamily="34" charset="-120"/>
              </a:rPr>
              <a:t>All databases</a:t>
            </a:r>
            <a:endParaRPr lang="en-US" sz="1050" dirty="0"/>
          </a:p>
        </p:txBody>
      </p:sp>
      <p:sp>
        <p:nvSpPr>
          <p:cNvPr id="35" name="Shape 33"/>
          <p:cNvSpPr/>
          <p:nvPr/>
        </p:nvSpPr>
        <p:spPr>
          <a:xfrm>
            <a:off x="274320" y="3758184"/>
            <a:ext cx="8595360" cy="539496"/>
          </a:xfrm>
          <a:prstGeom prst="rect">
            <a:avLst/>
          </a:prstGeom>
          <a:solidFill>
            <a:srgbClr val="ECF0F1"/>
          </a:solidFill>
          <a:ln w="6350">
            <a:solidFill>
              <a:srgbClr val="BDC3C7"/>
            </a:solidFill>
            <a:prstDash val="solid"/>
          </a:ln>
        </p:spPr>
      </p:sp>
      <p:sp>
        <p:nvSpPr>
          <p:cNvPr id="36" name="Shape 34"/>
          <p:cNvSpPr/>
          <p:nvPr/>
        </p:nvSpPr>
        <p:spPr>
          <a:xfrm>
            <a:off x="274320" y="3758184"/>
            <a:ext cx="54864" cy="539496"/>
          </a:xfrm>
          <a:prstGeom prst="rect">
            <a:avLst/>
          </a:prstGeom>
          <a:solidFill>
            <a:srgbClr val="2E86C1"/>
          </a:solidFill>
          <a:ln w="12700">
            <a:solidFill>
              <a:srgbClr val="2E86C1"/>
            </a:solidFill>
            <a:prstDash val="solid"/>
          </a:ln>
        </p:spPr>
      </p:sp>
      <p:sp>
        <p:nvSpPr>
          <p:cNvPr id="37" name="Text 35"/>
          <p:cNvSpPr/>
          <p:nvPr/>
        </p:nvSpPr>
        <p:spPr>
          <a:xfrm>
            <a:off x="402336" y="3867912"/>
            <a:ext cx="1298448" cy="320040"/>
          </a:xfrm>
          <a:prstGeom prst="rect">
            <a:avLst/>
          </a:prstGeom>
          <a:noFill/>
          <a:ln/>
        </p:spPr>
        <p:txBody>
          <a:bodyPr wrap="none" lIns="0" tIns="0" rIns="0" bIns="0" rtlCol="0" anchor="ctr"/>
          <a:lstStyle/>
          <a:p>
            <a:pPr marL="0" indent="0">
              <a:buNone/>
            </a:pPr>
            <a:r>
              <a:rPr lang="en-US" sz="1050" dirty="0">
                <a:solidFill>
                  <a:srgbClr val="1A3A5C"/>
                </a:solidFill>
                <a:latin typeface="Trebuchet MS" pitchFamily="34" charset="0"/>
                <a:ea typeface="Trebuchet MS" pitchFamily="34" charset="-122"/>
                <a:cs typeface="Trebuchet MS" pitchFamily="34" charset="-120"/>
              </a:rPr>
              <a:t>TOP</a:t>
            </a:r>
            <a:endParaRPr lang="en-US" sz="1050" dirty="0"/>
          </a:p>
        </p:txBody>
      </p:sp>
      <p:sp>
        <p:nvSpPr>
          <p:cNvPr id="38" name="Text 36"/>
          <p:cNvSpPr/>
          <p:nvPr/>
        </p:nvSpPr>
        <p:spPr>
          <a:xfrm>
            <a:off x="1828800" y="3867912"/>
            <a:ext cx="1828800" cy="320040"/>
          </a:xfrm>
          <a:prstGeom prst="rect">
            <a:avLst/>
          </a:prstGeom>
          <a:noFill/>
          <a:ln/>
        </p:spPr>
        <p:txBody>
          <a:bodyPr wrap="none" lIns="0" tIns="0" rIns="0" bIns="0" rtlCol="0" anchor="ctr"/>
          <a:lstStyle/>
          <a:p>
            <a:pPr marL="0" indent="0">
              <a:buNone/>
            </a:pPr>
            <a:r>
              <a:rPr lang="en-US" sz="1050" dirty="0">
                <a:solidFill>
                  <a:srgbClr val="2C3E50"/>
                </a:solidFill>
                <a:latin typeface="Trebuchet MS" pitchFamily="34" charset="0"/>
                <a:ea typeface="Trebuchet MS" pitchFamily="34" charset="-122"/>
                <a:cs typeface="Trebuchet MS" pitchFamily="34" charset="-120"/>
              </a:rPr>
              <a:t>Limit rows returned</a:t>
            </a:r>
            <a:endParaRPr lang="en-US" sz="1050" dirty="0"/>
          </a:p>
        </p:txBody>
      </p:sp>
      <p:sp>
        <p:nvSpPr>
          <p:cNvPr id="39" name="Text 37"/>
          <p:cNvSpPr/>
          <p:nvPr/>
        </p:nvSpPr>
        <p:spPr>
          <a:xfrm>
            <a:off x="3767328" y="3867912"/>
            <a:ext cx="3017520" cy="320040"/>
          </a:xfrm>
          <a:prstGeom prst="rect">
            <a:avLst/>
          </a:prstGeom>
          <a:noFill/>
          <a:ln/>
        </p:spPr>
        <p:txBody>
          <a:bodyPr wrap="none" lIns="0" tIns="0" rIns="0" bIns="0" rtlCol="0" anchor="ctr"/>
          <a:lstStyle/>
          <a:p>
            <a:pPr marL="0" indent="0">
              <a:buNone/>
            </a:pPr>
            <a:r>
              <a:rPr lang="en-US" sz="1050" dirty="0">
                <a:solidFill>
                  <a:srgbClr val="2C3E50"/>
                </a:solidFill>
                <a:latin typeface="Trebuchet MS" pitchFamily="34" charset="0"/>
                <a:ea typeface="Trebuchet MS" pitchFamily="34" charset="-122"/>
                <a:cs typeface="Trebuchet MS" pitchFamily="34" charset="-120"/>
              </a:rPr>
              <a:t>TOP n, TOP n PERCENT, WITH TIES</a:t>
            </a:r>
            <a:endParaRPr lang="en-US" sz="1050" dirty="0"/>
          </a:p>
        </p:txBody>
      </p:sp>
      <p:sp>
        <p:nvSpPr>
          <p:cNvPr id="40" name="Text 38"/>
          <p:cNvSpPr/>
          <p:nvPr/>
        </p:nvSpPr>
        <p:spPr>
          <a:xfrm>
            <a:off x="6894576" y="3867912"/>
            <a:ext cx="1828800" cy="320040"/>
          </a:xfrm>
          <a:prstGeom prst="rect">
            <a:avLst/>
          </a:prstGeom>
          <a:noFill/>
          <a:ln/>
        </p:spPr>
        <p:txBody>
          <a:bodyPr wrap="none" lIns="0" tIns="0" rIns="0" bIns="0" rtlCol="0" anchor="ctr"/>
          <a:lstStyle/>
          <a:p>
            <a:pPr marL="0" indent="0">
              <a:buNone/>
            </a:pPr>
            <a:r>
              <a:rPr lang="en-US" sz="1050" dirty="0">
                <a:solidFill>
                  <a:srgbClr val="2C3E50"/>
                </a:solidFill>
                <a:latin typeface="Trebuchet MS" pitchFamily="34" charset="0"/>
                <a:ea typeface="Trebuchet MS" pitchFamily="34" charset="-122"/>
                <a:cs typeface="Trebuchet MS" pitchFamily="34" charset="-120"/>
              </a:rPr>
              <a:t>SQL Server only</a:t>
            </a:r>
            <a:endParaRPr lang="en-US" sz="1050" dirty="0"/>
          </a:p>
        </p:txBody>
      </p:sp>
      <p:sp>
        <p:nvSpPr>
          <p:cNvPr id="41" name="Shape 39"/>
          <p:cNvSpPr/>
          <p:nvPr/>
        </p:nvSpPr>
        <p:spPr>
          <a:xfrm>
            <a:off x="274320" y="4315968"/>
            <a:ext cx="8595360" cy="539496"/>
          </a:xfrm>
          <a:prstGeom prst="rect">
            <a:avLst/>
          </a:prstGeom>
          <a:solidFill>
            <a:srgbClr val="FFFFFF"/>
          </a:solidFill>
          <a:ln w="6350">
            <a:solidFill>
              <a:srgbClr val="BDC3C7"/>
            </a:solidFill>
            <a:prstDash val="solid"/>
          </a:ln>
        </p:spPr>
      </p:sp>
      <p:sp>
        <p:nvSpPr>
          <p:cNvPr id="42" name="Shape 40"/>
          <p:cNvSpPr/>
          <p:nvPr/>
        </p:nvSpPr>
        <p:spPr>
          <a:xfrm>
            <a:off x="274320" y="4315968"/>
            <a:ext cx="54864" cy="539496"/>
          </a:xfrm>
          <a:prstGeom prst="rect">
            <a:avLst/>
          </a:prstGeom>
          <a:solidFill>
            <a:srgbClr val="2E86C1"/>
          </a:solidFill>
          <a:ln w="12700">
            <a:solidFill>
              <a:srgbClr val="2E86C1"/>
            </a:solidFill>
            <a:prstDash val="solid"/>
          </a:ln>
        </p:spPr>
      </p:sp>
      <p:sp>
        <p:nvSpPr>
          <p:cNvPr id="43" name="Text 41"/>
          <p:cNvSpPr/>
          <p:nvPr/>
        </p:nvSpPr>
        <p:spPr>
          <a:xfrm>
            <a:off x="402336" y="4425696"/>
            <a:ext cx="1298448" cy="320040"/>
          </a:xfrm>
          <a:prstGeom prst="rect">
            <a:avLst/>
          </a:prstGeom>
          <a:noFill/>
          <a:ln/>
        </p:spPr>
        <p:txBody>
          <a:bodyPr wrap="none" lIns="0" tIns="0" rIns="0" bIns="0" rtlCol="0" anchor="ctr"/>
          <a:lstStyle/>
          <a:p>
            <a:pPr marL="0" indent="0">
              <a:buNone/>
            </a:pPr>
            <a:r>
              <a:rPr lang="en-US" sz="1050" dirty="0">
                <a:solidFill>
                  <a:srgbClr val="1A3A5C"/>
                </a:solidFill>
                <a:latin typeface="Trebuchet MS" pitchFamily="34" charset="0"/>
                <a:ea typeface="Trebuchet MS" pitchFamily="34" charset="-122"/>
                <a:cs typeface="Trebuchet MS" pitchFamily="34" charset="-120"/>
              </a:rPr>
              <a:t>DISTINCT</a:t>
            </a:r>
            <a:endParaRPr lang="en-US" sz="1050" dirty="0"/>
          </a:p>
        </p:txBody>
      </p:sp>
      <p:sp>
        <p:nvSpPr>
          <p:cNvPr id="44" name="Text 42"/>
          <p:cNvSpPr/>
          <p:nvPr/>
        </p:nvSpPr>
        <p:spPr>
          <a:xfrm>
            <a:off x="1828800" y="4425696"/>
            <a:ext cx="1828800" cy="320040"/>
          </a:xfrm>
          <a:prstGeom prst="rect">
            <a:avLst/>
          </a:prstGeom>
          <a:noFill/>
          <a:ln/>
        </p:spPr>
        <p:txBody>
          <a:bodyPr wrap="none" lIns="0" tIns="0" rIns="0" bIns="0" rtlCol="0" anchor="ctr"/>
          <a:lstStyle/>
          <a:p>
            <a:pPr marL="0" indent="0">
              <a:buNone/>
            </a:pPr>
            <a:r>
              <a:rPr lang="en-US" sz="1050" dirty="0">
                <a:solidFill>
                  <a:srgbClr val="2C3E50"/>
                </a:solidFill>
                <a:latin typeface="Trebuchet MS" pitchFamily="34" charset="0"/>
                <a:ea typeface="Trebuchet MS" pitchFamily="34" charset="-122"/>
                <a:cs typeface="Trebuchet MS" pitchFamily="34" charset="-120"/>
              </a:rPr>
              <a:t>Return unique values only</a:t>
            </a:r>
            <a:endParaRPr lang="en-US" sz="1050" dirty="0"/>
          </a:p>
        </p:txBody>
      </p:sp>
      <p:sp>
        <p:nvSpPr>
          <p:cNvPr id="45" name="Text 43"/>
          <p:cNvSpPr/>
          <p:nvPr/>
        </p:nvSpPr>
        <p:spPr>
          <a:xfrm>
            <a:off x="3767328" y="4425696"/>
            <a:ext cx="3017520" cy="320040"/>
          </a:xfrm>
          <a:prstGeom prst="rect">
            <a:avLst/>
          </a:prstGeom>
          <a:noFill/>
          <a:ln/>
        </p:spPr>
        <p:txBody>
          <a:bodyPr wrap="none" lIns="0" tIns="0" rIns="0" bIns="0" rtlCol="0" anchor="ctr"/>
          <a:lstStyle/>
          <a:p>
            <a:pPr marL="0" indent="0">
              <a:buNone/>
            </a:pPr>
            <a:r>
              <a:rPr lang="en-US" sz="1050" dirty="0">
                <a:solidFill>
                  <a:srgbClr val="2C3E50"/>
                </a:solidFill>
                <a:latin typeface="Trebuchet MS" pitchFamily="34" charset="0"/>
                <a:ea typeface="Trebuchet MS" pitchFamily="34" charset="-122"/>
                <a:cs typeface="Trebuchet MS" pitchFamily="34" charset="-120"/>
              </a:rPr>
              <a:t>DISTINCT col, COUNT(DISTINCT col)</a:t>
            </a:r>
            <a:endParaRPr lang="en-US" sz="1050" dirty="0"/>
          </a:p>
        </p:txBody>
      </p:sp>
      <p:sp>
        <p:nvSpPr>
          <p:cNvPr id="46" name="Text 44"/>
          <p:cNvSpPr/>
          <p:nvPr/>
        </p:nvSpPr>
        <p:spPr>
          <a:xfrm>
            <a:off x="6894576" y="4425696"/>
            <a:ext cx="1828800" cy="320040"/>
          </a:xfrm>
          <a:prstGeom prst="rect">
            <a:avLst/>
          </a:prstGeom>
          <a:noFill/>
          <a:ln/>
        </p:spPr>
        <p:txBody>
          <a:bodyPr wrap="none" lIns="0" tIns="0" rIns="0" bIns="0" rtlCol="0" anchor="ctr"/>
          <a:lstStyle/>
          <a:p>
            <a:pPr marL="0" indent="0">
              <a:buNone/>
            </a:pPr>
            <a:r>
              <a:rPr lang="en-US" sz="1050" dirty="0">
                <a:solidFill>
                  <a:srgbClr val="2C3E50"/>
                </a:solidFill>
                <a:latin typeface="Trebuchet MS" pitchFamily="34" charset="0"/>
                <a:ea typeface="Trebuchet MS" pitchFamily="34" charset="-122"/>
                <a:cs typeface="Trebuchet MS" pitchFamily="34" charset="-120"/>
              </a:rPr>
              <a:t>All databases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B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3A5C"/>
          </a:solidFill>
          <a:ln w="12700">
            <a:solidFill>
              <a:srgbClr val="1A3A5C"/>
            </a:solidFill>
            <a:prstDash val="solid"/>
          </a:ln>
        </p:spPr>
      </p:sp>
      <p:sp>
        <p:nvSpPr>
          <p:cNvPr id="3" name="Shape 1"/>
          <p:cNvSpPr/>
          <p:nvPr/>
        </p:nvSpPr>
        <p:spPr>
          <a:xfrm>
            <a:off x="0" y="73152"/>
            <a:ext cx="9144000" cy="749808"/>
          </a:xfrm>
          <a:prstGeom prst="rect">
            <a:avLst/>
          </a:prstGeom>
          <a:solidFill>
            <a:srgbClr val="1A3A5C"/>
          </a:solidFill>
          <a:ln w="12700">
            <a:solidFill>
              <a:srgbClr val="1A3A5C"/>
            </a:solidFill>
            <a:prstDash val="solid"/>
          </a:ln>
        </p:spPr>
      </p:sp>
      <p:sp>
        <p:nvSpPr>
          <p:cNvPr id="4" name="Text 2"/>
          <p:cNvSpPr/>
          <p:nvPr/>
        </p:nvSpPr>
        <p:spPr>
          <a:xfrm>
            <a:off x="457200" y="118872"/>
            <a:ext cx="7132320" cy="420624"/>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SQL Query Execution Order</a:t>
            </a:r>
            <a:endParaRPr lang="en-US" sz="2800" dirty="0"/>
          </a:p>
        </p:txBody>
      </p:sp>
      <p:sp>
        <p:nvSpPr>
          <p:cNvPr id="5" name="Text 3"/>
          <p:cNvSpPr/>
          <p:nvPr/>
        </p:nvSpPr>
        <p:spPr>
          <a:xfrm>
            <a:off x="457200" y="557784"/>
            <a:ext cx="7132320" cy="201168"/>
          </a:xfrm>
          <a:prstGeom prst="rect">
            <a:avLst/>
          </a:prstGeom>
          <a:noFill/>
          <a:ln/>
        </p:spPr>
        <p:txBody>
          <a:bodyPr wrap="square" lIns="0" tIns="0" rIns="0" bIns="0" rtlCol="0" anchor="ctr"/>
          <a:lstStyle/>
          <a:p>
            <a:pPr marL="0" indent="0">
              <a:buNone/>
            </a:pPr>
            <a:r>
              <a:rPr lang="en-US" sz="1100" i="1" dirty="0">
                <a:solidFill>
                  <a:srgbClr val="D6E8F5"/>
                </a:solidFill>
                <a:latin typeface="Georgia" pitchFamily="34" charset="0"/>
                <a:ea typeface="Georgia" pitchFamily="34" charset="-122"/>
                <a:cs typeface="Georgia" pitchFamily="34" charset="-120"/>
              </a:rPr>
              <a:t>How SQL internally processes each clause — step by step</a:t>
            </a:r>
            <a:endParaRPr lang="en-US" sz="1100" dirty="0"/>
          </a:p>
        </p:txBody>
      </p:sp>
      <p:sp>
        <p:nvSpPr>
          <p:cNvPr id="6" name="Shape 4"/>
          <p:cNvSpPr/>
          <p:nvPr/>
        </p:nvSpPr>
        <p:spPr>
          <a:xfrm>
            <a:off x="320040" y="969264"/>
            <a:ext cx="4206240" cy="822960"/>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7" name="Shape 5"/>
          <p:cNvSpPr/>
          <p:nvPr/>
        </p:nvSpPr>
        <p:spPr>
          <a:xfrm>
            <a:off x="320040" y="969264"/>
            <a:ext cx="502920" cy="822960"/>
          </a:xfrm>
          <a:prstGeom prst="rect">
            <a:avLst/>
          </a:prstGeom>
          <a:solidFill>
            <a:srgbClr val="1A3A5C"/>
          </a:solidFill>
          <a:ln w="12700">
            <a:solidFill>
              <a:srgbClr val="1A3A5C"/>
            </a:solidFill>
            <a:prstDash val="solid"/>
          </a:ln>
        </p:spPr>
      </p:sp>
      <p:sp>
        <p:nvSpPr>
          <p:cNvPr id="8" name="Text 6"/>
          <p:cNvSpPr/>
          <p:nvPr/>
        </p:nvSpPr>
        <p:spPr>
          <a:xfrm>
            <a:off x="320040" y="969264"/>
            <a:ext cx="502920" cy="82296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1</a:t>
            </a:r>
            <a:endParaRPr lang="en-US" sz="1800" dirty="0"/>
          </a:p>
        </p:txBody>
      </p:sp>
      <p:sp>
        <p:nvSpPr>
          <p:cNvPr id="9" name="Text 7"/>
          <p:cNvSpPr/>
          <p:nvPr/>
        </p:nvSpPr>
        <p:spPr>
          <a:xfrm>
            <a:off x="960120" y="1042416"/>
            <a:ext cx="3383280" cy="329184"/>
          </a:xfrm>
          <a:prstGeom prst="rect">
            <a:avLst/>
          </a:prstGeom>
          <a:noFill/>
          <a:ln/>
        </p:spPr>
        <p:txBody>
          <a:bodyPr wrap="square" lIns="0" tIns="0" rIns="0" bIns="0" rtlCol="0" anchor="ctr"/>
          <a:lstStyle/>
          <a:p>
            <a:pPr marL="0" indent="0">
              <a:buNone/>
            </a:pPr>
            <a:r>
              <a:rPr lang="en-US" sz="1600" b="1" dirty="0">
                <a:solidFill>
                  <a:srgbClr val="1A3A5C"/>
                </a:solidFill>
                <a:latin typeface="Trebuchet MS" pitchFamily="34" charset="0"/>
                <a:ea typeface="Trebuchet MS" pitchFamily="34" charset="-122"/>
                <a:cs typeface="Trebuchet MS" pitchFamily="34" charset="-120"/>
              </a:rPr>
              <a:t>FROM</a:t>
            </a:r>
            <a:endParaRPr lang="en-US" sz="1600" dirty="0"/>
          </a:p>
        </p:txBody>
      </p:sp>
      <p:sp>
        <p:nvSpPr>
          <p:cNvPr id="10" name="Text 8"/>
          <p:cNvSpPr/>
          <p:nvPr/>
        </p:nvSpPr>
        <p:spPr>
          <a:xfrm>
            <a:off x="960120" y="1426464"/>
            <a:ext cx="3383280" cy="274320"/>
          </a:xfrm>
          <a:prstGeom prst="rect">
            <a:avLst/>
          </a:prstGeom>
          <a:noFill/>
          <a:ln/>
        </p:spPr>
        <p:txBody>
          <a:bodyPr wrap="square" lIns="0" tIns="0" rIns="0" bIns="0" rtlCol="0" anchor="ctr"/>
          <a:lstStyle/>
          <a:p>
            <a:pPr marL="0" indent="0">
              <a:buNone/>
            </a:pPr>
            <a:r>
              <a:rPr lang="en-US" sz="1150" dirty="0">
                <a:solidFill>
                  <a:srgbClr val="5D6D7E"/>
                </a:solidFill>
                <a:latin typeface="Trebuchet MS" pitchFamily="34" charset="0"/>
                <a:ea typeface="Trebuchet MS" pitchFamily="34" charset="-122"/>
                <a:cs typeface="Trebuchet MS" pitchFamily="34" charset="-120"/>
              </a:rPr>
              <a:t>Load source table(s)</a:t>
            </a:r>
            <a:endParaRPr lang="en-US" sz="1150" dirty="0"/>
          </a:p>
        </p:txBody>
      </p:sp>
      <p:sp>
        <p:nvSpPr>
          <p:cNvPr id="11" name="Shape 9"/>
          <p:cNvSpPr/>
          <p:nvPr/>
        </p:nvSpPr>
        <p:spPr>
          <a:xfrm>
            <a:off x="320040" y="1956816"/>
            <a:ext cx="4206240" cy="822960"/>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12" name="Shape 10"/>
          <p:cNvSpPr/>
          <p:nvPr/>
        </p:nvSpPr>
        <p:spPr>
          <a:xfrm>
            <a:off x="320040" y="1956816"/>
            <a:ext cx="502920" cy="822960"/>
          </a:xfrm>
          <a:prstGeom prst="rect">
            <a:avLst/>
          </a:prstGeom>
          <a:solidFill>
            <a:srgbClr val="1A3A5C"/>
          </a:solidFill>
          <a:ln w="12700">
            <a:solidFill>
              <a:srgbClr val="1A3A5C"/>
            </a:solidFill>
            <a:prstDash val="solid"/>
          </a:ln>
        </p:spPr>
      </p:sp>
      <p:sp>
        <p:nvSpPr>
          <p:cNvPr id="13" name="Text 11"/>
          <p:cNvSpPr/>
          <p:nvPr/>
        </p:nvSpPr>
        <p:spPr>
          <a:xfrm>
            <a:off x="320040" y="1956816"/>
            <a:ext cx="502920" cy="82296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2</a:t>
            </a:r>
            <a:endParaRPr lang="en-US" sz="1800" dirty="0"/>
          </a:p>
        </p:txBody>
      </p:sp>
      <p:sp>
        <p:nvSpPr>
          <p:cNvPr id="14" name="Text 12"/>
          <p:cNvSpPr/>
          <p:nvPr/>
        </p:nvSpPr>
        <p:spPr>
          <a:xfrm>
            <a:off x="960120" y="2029968"/>
            <a:ext cx="3383280" cy="329184"/>
          </a:xfrm>
          <a:prstGeom prst="rect">
            <a:avLst/>
          </a:prstGeom>
          <a:noFill/>
          <a:ln/>
        </p:spPr>
        <p:txBody>
          <a:bodyPr wrap="square" lIns="0" tIns="0" rIns="0" bIns="0" rtlCol="0" anchor="ctr"/>
          <a:lstStyle/>
          <a:p>
            <a:pPr marL="0" indent="0">
              <a:buNone/>
            </a:pPr>
            <a:r>
              <a:rPr lang="en-US" sz="1600" b="1" dirty="0">
                <a:solidFill>
                  <a:srgbClr val="1A3A5C"/>
                </a:solidFill>
                <a:latin typeface="Trebuchet MS" pitchFamily="34" charset="0"/>
                <a:ea typeface="Trebuchet MS" pitchFamily="34" charset="-122"/>
                <a:cs typeface="Trebuchet MS" pitchFamily="34" charset="-120"/>
              </a:rPr>
              <a:t>WHERE</a:t>
            </a:r>
            <a:endParaRPr lang="en-US" sz="1600" dirty="0"/>
          </a:p>
        </p:txBody>
      </p:sp>
      <p:sp>
        <p:nvSpPr>
          <p:cNvPr id="15" name="Text 13"/>
          <p:cNvSpPr/>
          <p:nvPr/>
        </p:nvSpPr>
        <p:spPr>
          <a:xfrm>
            <a:off x="960120" y="2414016"/>
            <a:ext cx="3383280" cy="274320"/>
          </a:xfrm>
          <a:prstGeom prst="rect">
            <a:avLst/>
          </a:prstGeom>
          <a:noFill/>
          <a:ln/>
        </p:spPr>
        <p:txBody>
          <a:bodyPr wrap="square" lIns="0" tIns="0" rIns="0" bIns="0" rtlCol="0" anchor="ctr"/>
          <a:lstStyle/>
          <a:p>
            <a:pPr marL="0" indent="0">
              <a:buNone/>
            </a:pPr>
            <a:r>
              <a:rPr lang="en-US" sz="1150" dirty="0">
                <a:solidFill>
                  <a:srgbClr val="5D6D7E"/>
                </a:solidFill>
                <a:latin typeface="Trebuchet MS" pitchFamily="34" charset="0"/>
                <a:ea typeface="Trebuchet MS" pitchFamily="34" charset="-122"/>
                <a:cs typeface="Trebuchet MS" pitchFamily="34" charset="-120"/>
              </a:rPr>
              <a:t>Filter individual rows</a:t>
            </a:r>
            <a:endParaRPr lang="en-US" sz="1150" dirty="0"/>
          </a:p>
        </p:txBody>
      </p:sp>
      <p:sp>
        <p:nvSpPr>
          <p:cNvPr id="16" name="Shape 14"/>
          <p:cNvSpPr/>
          <p:nvPr/>
        </p:nvSpPr>
        <p:spPr>
          <a:xfrm>
            <a:off x="320040" y="2944368"/>
            <a:ext cx="4206240" cy="822960"/>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17" name="Shape 15"/>
          <p:cNvSpPr/>
          <p:nvPr/>
        </p:nvSpPr>
        <p:spPr>
          <a:xfrm>
            <a:off x="320040" y="2944368"/>
            <a:ext cx="502920" cy="822960"/>
          </a:xfrm>
          <a:prstGeom prst="rect">
            <a:avLst/>
          </a:prstGeom>
          <a:solidFill>
            <a:srgbClr val="1A3A5C"/>
          </a:solidFill>
          <a:ln w="12700">
            <a:solidFill>
              <a:srgbClr val="1A3A5C"/>
            </a:solidFill>
            <a:prstDash val="solid"/>
          </a:ln>
        </p:spPr>
      </p:sp>
      <p:sp>
        <p:nvSpPr>
          <p:cNvPr id="18" name="Text 16"/>
          <p:cNvSpPr/>
          <p:nvPr/>
        </p:nvSpPr>
        <p:spPr>
          <a:xfrm>
            <a:off x="320040" y="2944368"/>
            <a:ext cx="502920" cy="82296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3</a:t>
            </a:r>
            <a:endParaRPr lang="en-US" sz="1800" dirty="0"/>
          </a:p>
        </p:txBody>
      </p:sp>
      <p:sp>
        <p:nvSpPr>
          <p:cNvPr id="19" name="Text 17"/>
          <p:cNvSpPr/>
          <p:nvPr/>
        </p:nvSpPr>
        <p:spPr>
          <a:xfrm>
            <a:off x="960120" y="3017520"/>
            <a:ext cx="3383280" cy="329184"/>
          </a:xfrm>
          <a:prstGeom prst="rect">
            <a:avLst/>
          </a:prstGeom>
          <a:noFill/>
          <a:ln/>
        </p:spPr>
        <p:txBody>
          <a:bodyPr wrap="square" lIns="0" tIns="0" rIns="0" bIns="0" rtlCol="0" anchor="ctr"/>
          <a:lstStyle/>
          <a:p>
            <a:pPr marL="0" indent="0">
              <a:buNone/>
            </a:pPr>
            <a:r>
              <a:rPr lang="en-US" sz="1600" b="1" dirty="0">
                <a:solidFill>
                  <a:srgbClr val="1A3A5C"/>
                </a:solidFill>
                <a:latin typeface="Trebuchet MS" pitchFamily="34" charset="0"/>
                <a:ea typeface="Trebuchet MS" pitchFamily="34" charset="-122"/>
                <a:cs typeface="Trebuchet MS" pitchFamily="34" charset="-120"/>
              </a:rPr>
              <a:t>GROUP BY</a:t>
            </a:r>
            <a:endParaRPr lang="en-US" sz="1600" dirty="0"/>
          </a:p>
        </p:txBody>
      </p:sp>
      <p:sp>
        <p:nvSpPr>
          <p:cNvPr id="20" name="Text 18"/>
          <p:cNvSpPr/>
          <p:nvPr/>
        </p:nvSpPr>
        <p:spPr>
          <a:xfrm>
            <a:off x="960120" y="3401568"/>
            <a:ext cx="3383280" cy="274320"/>
          </a:xfrm>
          <a:prstGeom prst="rect">
            <a:avLst/>
          </a:prstGeom>
          <a:noFill/>
          <a:ln/>
        </p:spPr>
        <p:txBody>
          <a:bodyPr wrap="square" lIns="0" tIns="0" rIns="0" bIns="0" rtlCol="0" anchor="ctr"/>
          <a:lstStyle/>
          <a:p>
            <a:pPr marL="0" indent="0">
              <a:buNone/>
            </a:pPr>
            <a:r>
              <a:rPr lang="en-US" sz="1150" dirty="0">
                <a:solidFill>
                  <a:srgbClr val="5D6D7E"/>
                </a:solidFill>
                <a:latin typeface="Trebuchet MS" pitchFamily="34" charset="0"/>
                <a:ea typeface="Trebuchet MS" pitchFamily="34" charset="-122"/>
                <a:cs typeface="Trebuchet MS" pitchFamily="34" charset="-120"/>
              </a:rPr>
              <a:t>Group filtered rows</a:t>
            </a:r>
            <a:endParaRPr lang="en-US" sz="1150" dirty="0"/>
          </a:p>
        </p:txBody>
      </p:sp>
      <p:sp>
        <p:nvSpPr>
          <p:cNvPr id="21" name="Shape 19"/>
          <p:cNvSpPr/>
          <p:nvPr/>
        </p:nvSpPr>
        <p:spPr>
          <a:xfrm>
            <a:off x="320040" y="3931920"/>
            <a:ext cx="4206240" cy="822960"/>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22" name="Shape 20"/>
          <p:cNvSpPr/>
          <p:nvPr/>
        </p:nvSpPr>
        <p:spPr>
          <a:xfrm>
            <a:off x="320040" y="3931920"/>
            <a:ext cx="502920" cy="822960"/>
          </a:xfrm>
          <a:prstGeom prst="rect">
            <a:avLst/>
          </a:prstGeom>
          <a:solidFill>
            <a:srgbClr val="1A3A5C"/>
          </a:solidFill>
          <a:ln w="12700">
            <a:solidFill>
              <a:srgbClr val="1A3A5C"/>
            </a:solidFill>
            <a:prstDash val="solid"/>
          </a:ln>
        </p:spPr>
      </p:sp>
      <p:sp>
        <p:nvSpPr>
          <p:cNvPr id="23" name="Text 21"/>
          <p:cNvSpPr/>
          <p:nvPr/>
        </p:nvSpPr>
        <p:spPr>
          <a:xfrm>
            <a:off x="320040" y="3931920"/>
            <a:ext cx="502920" cy="82296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4</a:t>
            </a:r>
            <a:endParaRPr lang="en-US" sz="1800" dirty="0"/>
          </a:p>
        </p:txBody>
      </p:sp>
      <p:sp>
        <p:nvSpPr>
          <p:cNvPr id="24" name="Text 22"/>
          <p:cNvSpPr/>
          <p:nvPr/>
        </p:nvSpPr>
        <p:spPr>
          <a:xfrm>
            <a:off x="960120" y="4005072"/>
            <a:ext cx="3383280" cy="329184"/>
          </a:xfrm>
          <a:prstGeom prst="rect">
            <a:avLst/>
          </a:prstGeom>
          <a:noFill/>
          <a:ln/>
        </p:spPr>
        <p:txBody>
          <a:bodyPr wrap="square" lIns="0" tIns="0" rIns="0" bIns="0" rtlCol="0" anchor="ctr"/>
          <a:lstStyle/>
          <a:p>
            <a:pPr marL="0" indent="0">
              <a:buNone/>
            </a:pPr>
            <a:r>
              <a:rPr lang="en-US" sz="1600" b="1" dirty="0">
                <a:solidFill>
                  <a:srgbClr val="1A3A5C"/>
                </a:solidFill>
                <a:latin typeface="Trebuchet MS" pitchFamily="34" charset="0"/>
                <a:ea typeface="Trebuchet MS" pitchFamily="34" charset="-122"/>
                <a:cs typeface="Trebuchet MS" pitchFamily="34" charset="-120"/>
              </a:rPr>
              <a:t>HAVING</a:t>
            </a:r>
            <a:endParaRPr lang="en-US" sz="1600" dirty="0"/>
          </a:p>
        </p:txBody>
      </p:sp>
      <p:sp>
        <p:nvSpPr>
          <p:cNvPr id="25" name="Text 23"/>
          <p:cNvSpPr/>
          <p:nvPr/>
        </p:nvSpPr>
        <p:spPr>
          <a:xfrm>
            <a:off x="960120" y="4389120"/>
            <a:ext cx="3383280" cy="274320"/>
          </a:xfrm>
          <a:prstGeom prst="rect">
            <a:avLst/>
          </a:prstGeom>
          <a:noFill/>
          <a:ln/>
        </p:spPr>
        <p:txBody>
          <a:bodyPr wrap="square" lIns="0" tIns="0" rIns="0" bIns="0" rtlCol="0" anchor="ctr"/>
          <a:lstStyle/>
          <a:p>
            <a:pPr marL="0" indent="0">
              <a:buNone/>
            </a:pPr>
            <a:r>
              <a:rPr lang="en-US" sz="1150" dirty="0">
                <a:solidFill>
                  <a:srgbClr val="5D6D7E"/>
                </a:solidFill>
                <a:latin typeface="Trebuchet MS" pitchFamily="34" charset="0"/>
                <a:ea typeface="Trebuchet MS" pitchFamily="34" charset="-122"/>
                <a:cs typeface="Trebuchet MS" pitchFamily="34" charset="-120"/>
              </a:rPr>
              <a:t>Filter the groups</a:t>
            </a:r>
            <a:endParaRPr lang="en-US" sz="1150" dirty="0"/>
          </a:p>
        </p:txBody>
      </p:sp>
      <p:sp>
        <p:nvSpPr>
          <p:cNvPr id="26" name="Shape 24"/>
          <p:cNvSpPr/>
          <p:nvPr/>
        </p:nvSpPr>
        <p:spPr>
          <a:xfrm>
            <a:off x="4800600" y="969264"/>
            <a:ext cx="4206240" cy="822960"/>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27" name="Shape 25"/>
          <p:cNvSpPr/>
          <p:nvPr/>
        </p:nvSpPr>
        <p:spPr>
          <a:xfrm>
            <a:off x="4800600" y="969264"/>
            <a:ext cx="502920" cy="822960"/>
          </a:xfrm>
          <a:prstGeom prst="rect">
            <a:avLst/>
          </a:prstGeom>
          <a:solidFill>
            <a:srgbClr val="1A3A5C"/>
          </a:solidFill>
          <a:ln w="12700">
            <a:solidFill>
              <a:srgbClr val="1A3A5C"/>
            </a:solidFill>
            <a:prstDash val="solid"/>
          </a:ln>
        </p:spPr>
      </p:sp>
      <p:sp>
        <p:nvSpPr>
          <p:cNvPr id="28" name="Text 26"/>
          <p:cNvSpPr/>
          <p:nvPr/>
        </p:nvSpPr>
        <p:spPr>
          <a:xfrm>
            <a:off x="4800600" y="969264"/>
            <a:ext cx="502920" cy="82296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5</a:t>
            </a:r>
            <a:endParaRPr lang="en-US" sz="1800" dirty="0"/>
          </a:p>
        </p:txBody>
      </p:sp>
      <p:sp>
        <p:nvSpPr>
          <p:cNvPr id="29" name="Text 27"/>
          <p:cNvSpPr/>
          <p:nvPr/>
        </p:nvSpPr>
        <p:spPr>
          <a:xfrm>
            <a:off x="5440680" y="1042416"/>
            <a:ext cx="3383280" cy="329184"/>
          </a:xfrm>
          <a:prstGeom prst="rect">
            <a:avLst/>
          </a:prstGeom>
          <a:noFill/>
          <a:ln/>
        </p:spPr>
        <p:txBody>
          <a:bodyPr wrap="square" lIns="0" tIns="0" rIns="0" bIns="0" rtlCol="0" anchor="ctr"/>
          <a:lstStyle/>
          <a:p>
            <a:pPr marL="0" indent="0">
              <a:buNone/>
            </a:pPr>
            <a:r>
              <a:rPr lang="en-US" sz="1600" b="1" dirty="0">
                <a:solidFill>
                  <a:srgbClr val="1A3A5C"/>
                </a:solidFill>
                <a:latin typeface="Trebuchet MS" pitchFamily="34" charset="0"/>
                <a:ea typeface="Trebuchet MS" pitchFamily="34" charset="-122"/>
                <a:cs typeface="Trebuchet MS" pitchFamily="34" charset="-120"/>
              </a:rPr>
              <a:t>SELECT</a:t>
            </a:r>
            <a:endParaRPr lang="en-US" sz="1600" dirty="0"/>
          </a:p>
        </p:txBody>
      </p:sp>
      <p:sp>
        <p:nvSpPr>
          <p:cNvPr id="30" name="Text 28"/>
          <p:cNvSpPr/>
          <p:nvPr/>
        </p:nvSpPr>
        <p:spPr>
          <a:xfrm>
            <a:off x="5440680" y="1426464"/>
            <a:ext cx="3383280" cy="274320"/>
          </a:xfrm>
          <a:prstGeom prst="rect">
            <a:avLst/>
          </a:prstGeom>
          <a:noFill/>
          <a:ln/>
        </p:spPr>
        <p:txBody>
          <a:bodyPr wrap="square" lIns="0" tIns="0" rIns="0" bIns="0" rtlCol="0" anchor="ctr"/>
          <a:lstStyle/>
          <a:p>
            <a:pPr marL="0" indent="0">
              <a:buNone/>
            </a:pPr>
            <a:r>
              <a:rPr lang="en-US" sz="1150" dirty="0">
                <a:solidFill>
                  <a:srgbClr val="5D6D7E"/>
                </a:solidFill>
                <a:latin typeface="Trebuchet MS" pitchFamily="34" charset="0"/>
                <a:ea typeface="Trebuchet MS" pitchFamily="34" charset="-122"/>
                <a:cs typeface="Trebuchet MS" pitchFamily="34" charset="-120"/>
              </a:rPr>
              <a:t>Choose output columns</a:t>
            </a:r>
            <a:endParaRPr lang="en-US" sz="1150" dirty="0"/>
          </a:p>
        </p:txBody>
      </p:sp>
      <p:sp>
        <p:nvSpPr>
          <p:cNvPr id="31" name="Shape 29"/>
          <p:cNvSpPr/>
          <p:nvPr/>
        </p:nvSpPr>
        <p:spPr>
          <a:xfrm>
            <a:off x="4800600" y="1956816"/>
            <a:ext cx="4206240" cy="822960"/>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32" name="Shape 30"/>
          <p:cNvSpPr/>
          <p:nvPr/>
        </p:nvSpPr>
        <p:spPr>
          <a:xfrm>
            <a:off x="4800600" y="1956816"/>
            <a:ext cx="502920" cy="822960"/>
          </a:xfrm>
          <a:prstGeom prst="rect">
            <a:avLst/>
          </a:prstGeom>
          <a:solidFill>
            <a:srgbClr val="1A3A5C"/>
          </a:solidFill>
          <a:ln w="12700">
            <a:solidFill>
              <a:srgbClr val="1A3A5C"/>
            </a:solidFill>
            <a:prstDash val="solid"/>
          </a:ln>
        </p:spPr>
      </p:sp>
      <p:sp>
        <p:nvSpPr>
          <p:cNvPr id="33" name="Text 31"/>
          <p:cNvSpPr/>
          <p:nvPr/>
        </p:nvSpPr>
        <p:spPr>
          <a:xfrm>
            <a:off x="4800600" y="1956816"/>
            <a:ext cx="502920" cy="82296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6</a:t>
            </a:r>
            <a:endParaRPr lang="en-US" sz="1800" dirty="0"/>
          </a:p>
        </p:txBody>
      </p:sp>
      <p:sp>
        <p:nvSpPr>
          <p:cNvPr id="34" name="Text 32"/>
          <p:cNvSpPr/>
          <p:nvPr/>
        </p:nvSpPr>
        <p:spPr>
          <a:xfrm>
            <a:off x="5440680" y="2029968"/>
            <a:ext cx="3383280" cy="329184"/>
          </a:xfrm>
          <a:prstGeom prst="rect">
            <a:avLst/>
          </a:prstGeom>
          <a:noFill/>
          <a:ln/>
        </p:spPr>
        <p:txBody>
          <a:bodyPr wrap="square" lIns="0" tIns="0" rIns="0" bIns="0" rtlCol="0" anchor="ctr"/>
          <a:lstStyle/>
          <a:p>
            <a:pPr marL="0" indent="0">
              <a:buNone/>
            </a:pPr>
            <a:r>
              <a:rPr lang="en-US" sz="1600" b="1" dirty="0">
                <a:solidFill>
                  <a:srgbClr val="1A3A5C"/>
                </a:solidFill>
                <a:latin typeface="Trebuchet MS" pitchFamily="34" charset="0"/>
                <a:ea typeface="Trebuchet MS" pitchFamily="34" charset="-122"/>
                <a:cs typeface="Trebuchet MS" pitchFamily="34" charset="-120"/>
              </a:rPr>
              <a:t>DISTINCT</a:t>
            </a:r>
            <a:endParaRPr lang="en-US" sz="1600" dirty="0"/>
          </a:p>
        </p:txBody>
      </p:sp>
      <p:sp>
        <p:nvSpPr>
          <p:cNvPr id="35" name="Text 33"/>
          <p:cNvSpPr/>
          <p:nvPr/>
        </p:nvSpPr>
        <p:spPr>
          <a:xfrm>
            <a:off x="5440680" y="2414016"/>
            <a:ext cx="3383280" cy="274320"/>
          </a:xfrm>
          <a:prstGeom prst="rect">
            <a:avLst/>
          </a:prstGeom>
          <a:noFill/>
          <a:ln/>
        </p:spPr>
        <p:txBody>
          <a:bodyPr wrap="square" lIns="0" tIns="0" rIns="0" bIns="0" rtlCol="0" anchor="ctr"/>
          <a:lstStyle/>
          <a:p>
            <a:pPr marL="0" indent="0">
              <a:buNone/>
            </a:pPr>
            <a:r>
              <a:rPr lang="en-US" sz="1150" dirty="0">
                <a:solidFill>
                  <a:srgbClr val="5D6D7E"/>
                </a:solidFill>
                <a:latin typeface="Trebuchet MS" pitchFamily="34" charset="0"/>
                <a:ea typeface="Trebuchet MS" pitchFamily="34" charset="-122"/>
                <a:cs typeface="Trebuchet MS" pitchFamily="34" charset="-120"/>
              </a:rPr>
              <a:t>Remove duplicates</a:t>
            </a:r>
            <a:endParaRPr lang="en-US" sz="1150" dirty="0"/>
          </a:p>
        </p:txBody>
      </p:sp>
      <p:sp>
        <p:nvSpPr>
          <p:cNvPr id="36" name="Shape 34"/>
          <p:cNvSpPr/>
          <p:nvPr/>
        </p:nvSpPr>
        <p:spPr>
          <a:xfrm>
            <a:off x="4800600" y="2944368"/>
            <a:ext cx="4206240" cy="822960"/>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37" name="Shape 35"/>
          <p:cNvSpPr/>
          <p:nvPr/>
        </p:nvSpPr>
        <p:spPr>
          <a:xfrm>
            <a:off x="4800600" y="2944368"/>
            <a:ext cx="502920" cy="822960"/>
          </a:xfrm>
          <a:prstGeom prst="rect">
            <a:avLst/>
          </a:prstGeom>
          <a:solidFill>
            <a:srgbClr val="1A3A5C"/>
          </a:solidFill>
          <a:ln w="12700">
            <a:solidFill>
              <a:srgbClr val="1A3A5C"/>
            </a:solidFill>
            <a:prstDash val="solid"/>
          </a:ln>
        </p:spPr>
      </p:sp>
      <p:sp>
        <p:nvSpPr>
          <p:cNvPr id="38" name="Text 36"/>
          <p:cNvSpPr/>
          <p:nvPr/>
        </p:nvSpPr>
        <p:spPr>
          <a:xfrm>
            <a:off x="4800600" y="2944368"/>
            <a:ext cx="502920" cy="82296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7</a:t>
            </a:r>
            <a:endParaRPr lang="en-US" sz="1800" dirty="0"/>
          </a:p>
        </p:txBody>
      </p:sp>
      <p:sp>
        <p:nvSpPr>
          <p:cNvPr id="39" name="Text 37"/>
          <p:cNvSpPr/>
          <p:nvPr/>
        </p:nvSpPr>
        <p:spPr>
          <a:xfrm>
            <a:off x="5440680" y="3017520"/>
            <a:ext cx="3383280" cy="329184"/>
          </a:xfrm>
          <a:prstGeom prst="rect">
            <a:avLst/>
          </a:prstGeom>
          <a:noFill/>
          <a:ln/>
        </p:spPr>
        <p:txBody>
          <a:bodyPr wrap="square" lIns="0" tIns="0" rIns="0" bIns="0" rtlCol="0" anchor="ctr"/>
          <a:lstStyle/>
          <a:p>
            <a:pPr marL="0" indent="0">
              <a:buNone/>
            </a:pPr>
            <a:r>
              <a:rPr lang="en-US" sz="1600" b="1" dirty="0">
                <a:solidFill>
                  <a:srgbClr val="1A3A5C"/>
                </a:solidFill>
                <a:latin typeface="Trebuchet MS" pitchFamily="34" charset="0"/>
                <a:ea typeface="Trebuchet MS" pitchFamily="34" charset="-122"/>
                <a:cs typeface="Trebuchet MS" pitchFamily="34" charset="-120"/>
              </a:rPr>
              <a:t>ORDER BY</a:t>
            </a:r>
            <a:endParaRPr lang="en-US" sz="1600" dirty="0"/>
          </a:p>
        </p:txBody>
      </p:sp>
      <p:sp>
        <p:nvSpPr>
          <p:cNvPr id="40" name="Text 38"/>
          <p:cNvSpPr/>
          <p:nvPr/>
        </p:nvSpPr>
        <p:spPr>
          <a:xfrm>
            <a:off x="5440680" y="3401568"/>
            <a:ext cx="3383280" cy="274320"/>
          </a:xfrm>
          <a:prstGeom prst="rect">
            <a:avLst/>
          </a:prstGeom>
          <a:noFill/>
          <a:ln/>
        </p:spPr>
        <p:txBody>
          <a:bodyPr wrap="square" lIns="0" tIns="0" rIns="0" bIns="0" rtlCol="0" anchor="ctr"/>
          <a:lstStyle/>
          <a:p>
            <a:pPr marL="0" indent="0">
              <a:buNone/>
            </a:pPr>
            <a:r>
              <a:rPr lang="en-US" sz="1150" dirty="0">
                <a:solidFill>
                  <a:srgbClr val="5D6D7E"/>
                </a:solidFill>
                <a:latin typeface="Trebuchet MS" pitchFamily="34" charset="0"/>
                <a:ea typeface="Trebuchet MS" pitchFamily="34" charset="-122"/>
                <a:cs typeface="Trebuchet MS" pitchFamily="34" charset="-120"/>
              </a:rPr>
              <a:t>Sort final results</a:t>
            </a:r>
            <a:endParaRPr lang="en-US" sz="1150" dirty="0"/>
          </a:p>
        </p:txBody>
      </p:sp>
      <p:sp>
        <p:nvSpPr>
          <p:cNvPr id="41" name="Shape 39"/>
          <p:cNvSpPr/>
          <p:nvPr/>
        </p:nvSpPr>
        <p:spPr>
          <a:xfrm>
            <a:off x="4800600" y="3931920"/>
            <a:ext cx="4206240" cy="822960"/>
          </a:xfrm>
          <a:prstGeom prst="rect">
            <a:avLst/>
          </a:prstGeom>
          <a:solidFill>
            <a:srgbClr val="FFFFFF"/>
          </a:solidFill>
          <a:ln w="12700">
            <a:solidFill>
              <a:srgbClr val="BDC3C7"/>
            </a:solidFill>
            <a:prstDash val="solid"/>
          </a:ln>
          <a:effectLst>
            <a:outerShdw blurRad="50800" dist="25400" dir="8100000" algn="bl" rotWithShape="0">
              <a:srgbClr val="000000">
                <a:alpha val="7000"/>
              </a:srgbClr>
            </a:outerShdw>
          </a:effectLst>
        </p:spPr>
      </p:sp>
      <p:sp>
        <p:nvSpPr>
          <p:cNvPr id="42" name="Shape 40"/>
          <p:cNvSpPr/>
          <p:nvPr/>
        </p:nvSpPr>
        <p:spPr>
          <a:xfrm>
            <a:off x="4800600" y="3931920"/>
            <a:ext cx="502920" cy="822960"/>
          </a:xfrm>
          <a:prstGeom prst="rect">
            <a:avLst/>
          </a:prstGeom>
          <a:solidFill>
            <a:srgbClr val="1A3A5C"/>
          </a:solidFill>
          <a:ln w="12700">
            <a:solidFill>
              <a:srgbClr val="1A3A5C"/>
            </a:solidFill>
            <a:prstDash val="solid"/>
          </a:ln>
        </p:spPr>
      </p:sp>
      <p:sp>
        <p:nvSpPr>
          <p:cNvPr id="43" name="Text 41"/>
          <p:cNvSpPr/>
          <p:nvPr/>
        </p:nvSpPr>
        <p:spPr>
          <a:xfrm>
            <a:off x="4800600" y="3931920"/>
            <a:ext cx="502920" cy="82296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8</a:t>
            </a:r>
            <a:endParaRPr lang="en-US" sz="1800" dirty="0"/>
          </a:p>
        </p:txBody>
      </p:sp>
      <p:sp>
        <p:nvSpPr>
          <p:cNvPr id="44" name="Text 42"/>
          <p:cNvSpPr/>
          <p:nvPr/>
        </p:nvSpPr>
        <p:spPr>
          <a:xfrm>
            <a:off x="5440680" y="4005072"/>
            <a:ext cx="3383280" cy="329184"/>
          </a:xfrm>
          <a:prstGeom prst="rect">
            <a:avLst/>
          </a:prstGeom>
          <a:noFill/>
          <a:ln/>
        </p:spPr>
        <p:txBody>
          <a:bodyPr wrap="square" lIns="0" tIns="0" rIns="0" bIns="0" rtlCol="0" anchor="ctr"/>
          <a:lstStyle/>
          <a:p>
            <a:pPr marL="0" indent="0">
              <a:buNone/>
            </a:pPr>
            <a:r>
              <a:rPr lang="en-US" sz="1600" b="1" dirty="0">
                <a:solidFill>
                  <a:srgbClr val="1A3A5C"/>
                </a:solidFill>
                <a:latin typeface="Trebuchet MS" pitchFamily="34" charset="0"/>
                <a:ea typeface="Trebuchet MS" pitchFamily="34" charset="-122"/>
                <a:cs typeface="Trebuchet MS" pitchFamily="34" charset="-120"/>
              </a:rPr>
              <a:t>TOP</a:t>
            </a:r>
            <a:endParaRPr lang="en-US" sz="1600" dirty="0"/>
          </a:p>
        </p:txBody>
      </p:sp>
      <p:sp>
        <p:nvSpPr>
          <p:cNvPr id="45" name="Text 43"/>
          <p:cNvSpPr/>
          <p:nvPr/>
        </p:nvSpPr>
        <p:spPr>
          <a:xfrm>
            <a:off x="5440680" y="4389120"/>
            <a:ext cx="3383280" cy="274320"/>
          </a:xfrm>
          <a:prstGeom prst="rect">
            <a:avLst/>
          </a:prstGeom>
          <a:noFill/>
          <a:ln/>
        </p:spPr>
        <p:txBody>
          <a:bodyPr wrap="square" lIns="0" tIns="0" rIns="0" bIns="0" rtlCol="0" anchor="ctr"/>
          <a:lstStyle/>
          <a:p>
            <a:pPr marL="0" indent="0">
              <a:buNone/>
            </a:pPr>
            <a:r>
              <a:rPr lang="en-US" sz="1150" dirty="0">
                <a:solidFill>
                  <a:srgbClr val="5D6D7E"/>
                </a:solidFill>
                <a:latin typeface="Trebuchet MS" pitchFamily="34" charset="0"/>
                <a:ea typeface="Trebuchet MS" pitchFamily="34" charset="-122"/>
                <a:cs typeface="Trebuchet MS" pitchFamily="34" charset="-120"/>
              </a:rPr>
              <a:t>Limit row count</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3A5C"/>
          </a:solidFill>
          <a:ln w="12700">
            <a:solidFill>
              <a:srgbClr val="1A3A5C"/>
            </a:solidFill>
            <a:prstDash val="solid"/>
          </a:ln>
        </p:spPr>
      </p:sp>
      <p:sp>
        <p:nvSpPr>
          <p:cNvPr id="3" name="Shape 1"/>
          <p:cNvSpPr/>
          <p:nvPr/>
        </p:nvSpPr>
        <p:spPr>
          <a:xfrm>
            <a:off x="0" y="73152"/>
            <a:ext cx="3200400" cy="4997196"/>
          </a:xfrm>
          <a:prstGeom prst="rect">
            <a:avLst/>
          </a:prstGeom>
          <a:solidFill>
            <a:srgbClr val="1A3A5C"/>
          </a:solidFill>
          <a:ln w="12700">
            <a:solidFill>
              <a:srgbClr val="1A3A5C"/>
            </a:solidFill>
            <a:prstDash val="solid"/>
          </a:ln>
        </p:spPr>
      </p:sp>
      <p:sp>
        <p:nvSpPr>
          <p:cNvPr id="4" name="Shape 2"/>
          <p:cNvSpPr/>
          <p:nvPr/>
        </p:nvSpPr>
        <p:spPr>
          <a:xfrm>
            <a:off x="3200400" y="73152"/>
            <a:ext cx="64008" cy="4997196"/>
          </a:xfrm>
          <a:prstGeom prst="rect">
            <a:avLst/>
          </a:prstGeom>
          <a:solidFill>
            <a:srgbClr val="2E86C1"/>
          </a:solidFill>
          <a:ln w="12700">
            <a:solidFill>
              <a:srgbClr val="2E86C1"/>
            </a:solidFill>
            <a:prstDash val="solid"/>
          </a:ln>
        </p:spPr>
      </p:sp>
      <p:sp>
        <p:nvSpPr>
          <p:cNvPr id="5" name="Text 3"/>
          <p:cNvSpPr/>
          <p:nvPr/>
        </p:nvSpPr>
        <p:spPr>
          <a:xfrm>
            <a:off x="182880" y="1371600"/>
            <a:ext cx="2834640" cy="1737360"/>
          </a:xfrm>
          <a:prstGeom prst="rect">
            <a:avLst/>
          </a:prstGeom>
          <a:noFill/>
          <a:ln/>
        </p:spPr>
        <p:txBody>
          <a:bodyPr wrap="square" lIns="0" tIns="0" rIns="0" bIns="0" rtlCol="0" anchor="ctr"/>
          <a:lstStyle/>
          <a:p>
            <a:pPr marL="0" indent="0" algn="ctr">
              <a:buNone/>
            </a:pPr>
            <a:r>
              <a:rPr lang="en-US" sz="3600" b="1" dirty="0">
                <a:solidFill>
                  <a:srgbClr val="FFFFFF"/>
                </a:solidFill>
                <a:latin typeface="Trebuchet MS" pitchFamily="34" charset="0"/>
                <a:ea typeface="Trebuchet MS" pitchFamily="34" charset="-122"/>
                <a:cs typeface="Trebuchet MS" pitchFamily="34" charset="-120"/>
              </a:rPr>
              <a:t>SQL</a:t>
            </a:r>
            <a:endParaRPr lang="en-US" sz="3600" dirty="0"/>
          </a:p>
          <a:p>
            <a:pPr marL="0" indent="0" algn="ctr">
              <a:buNone/>
            </a:pPr>
            <a:r>
              <a:rPr lang="en-US" sz="3600" b="1" dirty="0">
                <a:solidFill>
                  <a:srgbClr val="FFFFFF"/>
                </a:solidFill>
                <a:latin typeface="Trebuchet MS" pitchFamily="34" charset="0"/>
                <a:ea typeface="Trebuchet MS" pitchFamily="34" charset="-122"/>
                <a:cs typeface="Trebuchet MS" pitchFamily="34" charset="-120"/>
              </a:rPr>
              <a:t>CLAUSES</a:t>
            </a:r>
            <a:endParaRPr lang="en-US" sz="3600" dirty="0"/>
          </a:p>
        </p:txBody>
      </p:sp>
      <p:sp>
        <p:nvSpPr>
          <p:cNvPr id="6" name="Text 4"/>
          <p:cNvSpPr/>
          <p:nvPr/>
        </p:nvSpPr>
        <p:spPr>
          <a:xfrm>
            <a:off x="182880" y="3218688"/>
            <a:ext cx="2834640" cy="274320"/>
          </a:xfrm>
          <a:prstGeom prst="rect">
            <a:avLst/>
          </a:prstGeom>
          <a:noFill/>
          <a:ln/>
        </p:spPr>
        <p:txBody>
          <a:bodyPr wrap="square" lIns="0" tIns="0" rIns="0" bIns="0" rtlCol="0" anchor="ctr"/>
          <a:lstStyle/>
          <a:p>
            <a:pPr marL="0" indent="0" algn="ctr">
              <a:buNone/>
            </a:pPr>
            <a:endParaRPr lang="en-US" sz="1100" dirty="0"/>
          </a:p>
        </p:txBody>
      </p:sp>
      <p:sp>
        <p:nvSpPr>
          <p:cNvPr id="7" name="Text 5"/>
          <p:cNvSpPr/>
          <p:nvPr/>
        </p:nvSpPr>
        <p:spPr>
          <a:xfrm>
            <a:off x="3657600" y="1417320"/>
            <a:ext cx="5120640" cy="804672"/>
          </a:xfrm>
          <a:prstGeom prst="rect">
            <a:avLst/>
          </a:prstGeom>
          <a:noFill/>
          <a:ln/>
        </p:spPr>
        <p:txBody>
          <a:bodyPr wrap="square" lIns="0" tIns="0" rIns="0" bIns="0" rtlCol="0" anchor="ctr"/>
          <a:lstStyle/>
          <a:p>
            <a:pPr marL="0" indent="0">
              <a:buNone/>
            </a:pPr>
            <a:r>
              <a:rPr lang="en-US" sz="4400" b="1" dirty="0">
                <a:solidFill>
                  <a:srgbClr val="1A3A5C"/>
                </a:solidFill>
                <a:latin typeface="Trebuchet MS" pitchFamily="34" charset="0"/>
                <a:ea typeface="Trebuchet MS" pitchFamily="34" charset="-122"/>
                <a:cs typeface="Trebuchet MS" pitchFamily="34" charset="-120"/>
              </a:rPr>
              <a:t>Thank You</a:t>
            </a:r>
            <a:endParaRPr lang="en-US" sz="4400" dirty="0"/>
          </a:p>
        </p:txBody>
      </p:sp>
      <p:sp>
        <p:nvSpPr>
          <p:cNvPr id="8" name="Shape 6"/>
          <p:cNvSpPr/>
          <p:nvPr/>
        </p:nvSpPr>
        <p:spPr>
          <a:xfrm>
            <a:off x="3657600" y="2340864"/>
            <a:ext cx="1097280" cy="45720"/>
          </a:xfrm>
          <a:prstGeom prst="rect">
            <a:avLst/>
          </a:prstGeom>
          <a:solidFill>
            <a:srgbClr val="2E86C1"/>
          </a:solidFill>
          <a:ln w="12700">
            <a:solidFill>
              <a:srgbClr val="2E86C1"/>
            </a:solidFill>
            <a:prstDash val="solid"/>
          </a:ln>
        </p:spPr>
      </p:sp>
      <p:sp>
        <p:nvSpPr>
          <p:cNvPr id="9" name="Text 7"/>
          <p:cNvSpPr/>
          <p:nvPr/>
        </p:nvSpPr>
        <p:spPr>
          <a:xfrm>
            <a:off x="3657600" y="2487168"/>
            <a:ext cx="5029200" cy="420624"/>
          </a:xfrm>
          <a:prstGeom prst="rect">
            <a:avLst/>
          </a:prstGeom>
          <a:noFill/>
          <a:ln/>
        </p:spPr>
        <p:txBody>
          <a:bodyPr wrap="square" lIns="0" tIns="0" rIns="0" bIns="0" rtlCol="0" anchor="ctr"/>
          <a:lstStyle/>
          <a:p>
            <a:pPr marL="0" indent="0">
              <a:buNone/>
            </a:pPr>
            <a:r>
              <a:rPr lang="en-US" sz="1800" i="1" dirty="0">
                <a:solidFill>
                  <a:srgbClr val="5D6D7E"/>
                </a:solidFill>
                <a:latin typeface="Georgia" pitchFamily="34" charset="0"/>
                <a:ea typeface="Georgia" pitchFamily="34" charset="-122"/>
                <a:cs typeface="Georgia" pitchFamily="34" charset="-120"/>
              </a:rPr>
              <a:t>Any Questions?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A3A5C"/>
        </a:solidFill>
        <a:ln w="12700">
          <a:solidFill>
            <a:srgbClr val="1A3A5C"/>
          </a:solidFill>
          <a:prstDash val="solid"/>
        </a:ln>
      </a:spPr>
      <a:body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1389</Words>
  <Application>Microsoft Office PowerPoint</Application>
  <PresentationFormat>On-screen Show (16:9)</PresentationFormat>
  <Paragraphs>319</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Consolas</vt:lpstr>
      <vt:lpstr>Georgia</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Clauses – In Depth</dc:title>
  <dc:subject>PptxGenJS Presentation</dc:subject>
  <dc:creator>PptxGenJS</dc:creator>
  <cp:lastModifiedBy>Mihir Kalani</cp:lastModifiedBy>
  <cp:revision>6</cp:revision>
  <dcterms:created xsi:type="dcterms:W3CDTF">2026-03-11T09:57:01Z</dcterms:created>
  <dcterms:modified xsi:type="dcterms:W3CDTF">2026-03-11T13:50:02Z</dcterms:modified>
</cp:coreProperties>
</file>